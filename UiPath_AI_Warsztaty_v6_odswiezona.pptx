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91" r:id="rId4"/>
    <p:sldId id="296" r:id="rId5"/>
    <p:sldId id="297" r:id="rId6"/>
    <p:sldId id="298" r:id="rId7"/>
    <p:sldId id="299" r:id="rId8"/>
    <p:sldId id="258" r:id="rId9"/>
    <p:sldId id="259" r:id="rId10"/>
    <p:sldId id="260" r:id="rId11"/>
    <p:sldId id="261" r:id="rId12"/>
    <p:sldId id="300" r:id="rId52"/>
    <p:sldId id="301" r:id="rId53"/>
    <p:sldId id="302" r:id="rId54"/>
    <p:sldId id="303" r:id="rId55"/>
    <p:sldId id="304" r:id="rId56"/>
    <p:sldId id="262" r:id="rId13"/>
    <p:sldId id="263" r:id="rId14"/>
    <p:sldId id="264" r:id="rId15"/>
    <p:sldId id="265" r:id="rId16"/>
    <p:sldId id="266" r:id="rId17"/>
    <p:sldId id="267" r:id="rId18"/>
    <p:sldId id="268" r:id="rId19"/>
    <p:sldId id="269" r:id="rId20"/>
    <p:sldId id="270" r:id="rId21"/>
    <p:sldId id="271" r:id="rId22"/>
    <p:sldId id="272" r:id="rId23"/>
    <p:sldId id="292" r:id="rId24"/>
    <p:sldId id="305" r:id="rId57"/>
    <p:sldId id="273" r:id="rId25"/>
    <p:sldId id="274" r:id="rId26"/>
    <p:sldId id="275" r:id="rId27"/>
    <p:sldId id="276" r:id="rId28"/>
    <p:sldId id="277" r:id="rId29"/>
    <p:sldId id="278" r:id="rId30"/>
    <p:sldId id="279" r:id="rId31"/>
    <p:sldId id="280" r:id="rId32"/>
    <p:sldId id="293" r:id="rId33"/>
    <p:sldId id="281" r:id="rId34"/>
    <p:sldId id="282" r:id="rId35"/>
    <p:sldId id="283" r:id="rId36"/>
    <p:sldId id="284" r:id="rId37"/>
    <p:sldId id="294" r:id="rId38"/>
    <p:sldId id="285" r:id="rId39"/>
    <p:sldId id="286" r:id="rId40"/>
    <p:sldId id="287" r:id="rId41"/>
    <p:sldId id="306" r:id="rId58"/>
    <p:sldId id="307" r:id="rId59"/>
    <p:sldId id="308" r:id="rId60"/>
    <p:sldId id="295" r:id="rId42"/>
    <p:sldId id="288" r:id="rId43"/>
    <p:sldId id="289" r:id="rId44"/>
    <p:sldId id="29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slide" Target="slides/slide28.xml"/><Relationship Id="rId25" Type="http://schemas.openxmlformats.org/officeDocument/2006/relationships/slide" Target="slides/slide30.xml"/><Relationship Id="rId26" Type="http://schemas.openxmlformats.org/officeDocument/2006/relationships/slide" Target="slides/slide31.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slide" Target="slides/slide37.xml"/><Relationship Id="rId33" Type="http://schemas.openxmlformats.org/officeDocument/2006/relationships/slide" Target="slides/slide38.xml"/><Relationship Id="rId34" Type="http://schemas.openxmlformats.org/officeDocument/2006/relationships/slide" Target="slides/slide39.xml"/><Relationship Id="rId35" Type="http://schemas.openxmlformats.org/officeDocument/2006/relationships/slide" Target="slides/slide40.xml"/><Relationship Id="rId36" Type="http://schemas.openxmlformats.org/officeDocument/2006/relationships/slide" Target="slides/slide41.xml"/><Relationship Id="rId37" Type="http://schemas.openxmlformats.org/officeDocument/2006/relationships/slide" Target="slides/slide42.xml"/><Relationship Id="rId38" Type="http://schemas.openxmlformats.org/officeDocument/2006/relationships/slide" Target="slides/slide43.xml"/><Relationship Id="rId39" Type="http://schemas.openxmlformats.org/officeDocument/2006/relationships/slide" Target="slides/slide44.xml"/><Relationship Id="rId40" Type="http://schemas.openxmlformats.org/officeDocument/2006/relationships/slide" Target="slides/slide45.xml"/><Relationship Id="rId41" Type="http://schemas.openxmlformats.org/officeDocument/2006/relationships/slide" Target="slides/slide46.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6/11/relationships/changesInfo" Target="changesInfos/changesInfo1.xml"/><Relationship Id="rId52" Type="http://schemas.openxmlformats.org/officeDocument/2006/relationships/slide" Target="slides/slide12.xml"/><Relationship Id="rId53" Type="http://schemas.openxmlformats.org/officeDocument/2006/relationships/slide" Target="slides/slide13.xml"/><Relationship Id="rId54" Type="http://schemas.openxmlformats.org/officeDocument/2006/relationships/slide" Target="slides/slide14.xml"/><Relationship Id="rId55" Type="http://schemas.openxmlformats.org/officeDocument/2006/relationships/slide" Target="slides/slide15.xml"/><Relationship Id="rId56" Type="http://schemas.openxmlformats.org/officeDocument/2006/relationships/slide" Target="slides/slide16.xml"/><Relationship Id="rId57" Type="http://schemas.openxmlformats.org/officeDocument/2006/relationships/slide" Target="slides/slide29.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il Miśko" userId="74555ad5-3ee6-4bfd-81f5-93ebc2337aa8" providerId="ADAL" clId="{EF41CB5F-0FBE-4526-A575-C4FFB9A98D6C}"/>
    <pc:docChg chg="mod">
      <pc:chgData name="Kamil Miśko" userId="74555ad5-3ee6-4bfd-81f5-93ebc2337aa8" providerId="ADAL" clId="{EF41CB5F-0FBE-4526-A575-C4FFB9A98D6C}" dt="2026-10-08T13:00:00.132"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Otwarcie, około 2 min. Zapowiedz cel: do istniejących automatyzacji dokładamy interpretację tekstu i kontrolowaną decyzyjność. Będziemy pracować na jednym procesie, dzięki czemu pokażemy różnicę między pojedynczym wywołaniem AI a agentem. Nie obiecujemy pełnego wdrożenia produkcyjnego. Powiedz, że wyniki pozostają szkicami. Zapytaj, kto buduje automatyzacje w UiPath i kto korzystał już z aktywności GenAI. Odpowiedzi wykorzystaj do regulowania tempa.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2 min. Teoria jest rozłożona między ćwiczeniami. Dzień pierwszy kończymy agentem, który dobiera narzędzia. Dzień drugi dodaje wiedzę, ocenę i kontrolę procesu. Slajdy laboratoryjne pozostają na ekranie podczas pracy, szczegółowe kroki są w instrukcji. Dopytaj o jeden przykład z organizacji, do którego uczestnicy chcieliby wrócić na końcu. Integracja poczty i Excela jest rozszerzeniem, aby konfiguracja konektorów nie zdominowała warsztatu.</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po planie dwóch dni. Każdy uczestnik ma własną organizację Community; prowadzący nie widzi ich zasobów, dlatego preflight był obowiązkowy. Zapytaj, kto miał problem w preflight, i połącz te osoby w pary. Pula consumables została przetestowana na tym scenariuszu i wystarcza na dwa dni, pod warunkiem że trzymamy się jednego scenariusza i nie generujemy agentów wielokrotnie Autopilotem. Zasada danych obowiązuje także w zadaniu końcowym. Pary: analityk odpowiada za reguły, kategorie i ocenę wyników, deweloper za argumenty, mapowania i trace; zamiana ról po obiedzie.</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5 min. Grupa zna Studio Desktop z poprzedniego kursu, więc Studio Web tłumaczymy przez analogie. Solution to nowe pojęcie: kontener na kilka projektów i ich zasoby, wdrażany razem. Tylko Sequence: projekt z Flowchartem nie otworzy się w Web, a projekt z wieloma entry pointami otworzy się tylko do podglądu. Najważniejszy jest ostatni wiersz: agenta, proces Maestro, API workflow i App zbudujemy wyłącznie w Studio Web, dlatego warsztat odbywa się tutaj. Projekt cross-platform (Process, VB) otworzysz w Desktop przez See more, Open in Studio Desktop; po konwersji na Windows w Web jest już tylko do podglądu. RPA workflow w Web debugujemy przez lokalnego UiPath Assistant (2026.0.190+, zalogowany do organizacji Community).</a:t>
            </a:r>
          </a:p>
          <a:p>
            <a:r>
              <a:t>Powiązanie: autorski pakiet UiPath AI / Northstar, wersja 1.2, instrukcja warsztatowa (Start | Studio Web dla dewelopera Desktop).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4 min. To nie jest wybór albo-albo. Desktop zostaje narzędziem do robotów z trudnym UI, Excelem i bibliotekami. Web to miejsce składania rozwiązania z agentami i procesem. Zapytaj grupę: który z ich robotów z kursu Desktop pasuje do lewej kolumny, a który da się przenieść do Web jako cross-platform. Konwersja na Windows to decyzja architektoniczna, bo zamyka edycję w Studio Web.</a:t>
            </a:r>
          </a:p>
          <a:p>
            <a:r>
              <a:t>Powiązanie: autorski pakiet UiPath AI / Northstar, wersja 1.2, instrukcja warsztatowa (Start | Studio Web dla dewelopera Desktop).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5 min. Cel: uczestnicy nie mogą wyjść z przekonaniem, że AI i agenci współpracują tylko z RPA zbudowanym w Web. GenAI Activities są w pakiecie UiPath.IntegrationService.Activities; zależą od zgodności projektu, wersji pakietów i cross-platform (nie Windows - Legacy), wymagają Studio zalogowanego do organizacji i połączenia GenAI w Integration Service, zużywają tę samą pulę. Dlatego ćwiczenia 1A i 1B robimy w Desktop. Narzędzie agenta to dowolny opublikowany i wdrożony proces w folderze dostępnym dla agenta; argumenty In/Out prostych typów stają się schematem narzędzia. Rozdziel trzy etapy: projekt (Desktop albo Web), wdrożenie (Publish, proces w folderze Orchestratora), wykonanie (job na robocie). Agent nie wywołuje pliku XAML, tylko opublikowaną automatyzację; platforma decyduje, gdzie ją wykonać. Projekt cross-platform z Desktop uruchamia się na robocie serverless tak samo jak projekt z Web; według dokumentacji Community ma roboty serverless z puli i jedną licencję Unattended. Projekt Windows z UI desktop wymaga robota unattended na maszynie Windows: to pokazuje prowadzący w ćwiczeniu 3B. Kierunek odwrotny: aktywność Run Job w Desktop uruchamia opublikowanego agenta (Run Agent w starszych projektach).</a:t>
            </a:r>
          </a:p>
          <a:p>
            <a:r>
              <a:t>Powiązanie: autorski pakiet UiPath AI / Northstar, wersja 1.2, instrukcja warsztatowa (Start | Studio Web dla dewelopera Desktop; ćwiczenia 1A, 3A, 3B).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4 min, przed ćwiczeniem 3A i ponownie po 3B przy trace. GetTicketStatus budujemy w Studio Desktop jako projekt cross-platform i publikujemy do folderu; GetServiceStatus w Studio Web w tym samym rozwiązaniu co agent. Oba mają ten sam kształt kontraktu: wejścia String/Boolean i out_resultJson. Pytanie do grupy: które narzędzie jest bardziej agentowe? Żadne, oba są deterministyczne; agentem jest SupportAgent, który wybiera narzędzie na podstawie opisu. W 3B przy REQ-003 pokaż w Orchestratorze, w Jobs, job GetTicketStatus uruchomiony przez agenta. Pokaz prowadzącego: GetTicketStatus_Windows (projekt Windows, np. z UI aplikacji desktopowej) na własnej maszynie z robotem unattended; agent wywołuje go tak samo. Uczestnicy tego nie konfigurują: wymaga robota w trybie usługi, praw administratora i poświadczeń Windows w Orchestratorze.</a:t>
            </a:r>
          </a:p>
          <a:p>
            <a:r>
              <a:t>Powiązanie: autorski pakiet UiPath AI / Northstar, wersja 1.2, instrukcja warsztatowa (Start | Studio Web dla dewelopera Desktop; ćwiczenia 1A, 3A, 3B).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To REQ-001. Poproś grupę o propozycję obsługi bez AI. Prawdopodobnie pojawią się słowa kluczowe i reguły. Następnie sparafrazuj treść: raport za dwa miesiące nie chce się pobrać. Zapytaj, ile wariantów tekstu trzeba uwzględnić. Pokaż krótko rezultat przygotowanej demonstracji, jeśli działa: rozpoznanie znanego problemu KI-001 i szkic obejścia. Nie przechodź jeszcze przez konfigurację. Zachowujemy kod błędu i zakres dat, ponieważ decydują o trafności dopasowania.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Pokaż, że te podejścia współpracują. W pierwszym ćwiczeniu proces zawsze wywołuje podsumowanie i kategoryzację, więc kolejność pozostaje ustalona. Agent później wybierze narzędzie zależnie od treści. Autonomia nie oznacza nieograniczonych uprawnień. Prosty, dobrze opisany workflow może być lepszy od agenta, gdy wszystkie ścieżki są znane. Zapytaj: czy do rozpoznania kategorii wiadomości konieczny jest agent? Oczekiwana odpowiedź: pojedynczy krok AI może wystarczyć.</a:t>
            </a:r>
          </a:p>
          <a:p>
            <a:endParaRPr/>
          </a:p>
          <a:p>
            <a:r>
              <a:t>Źródło: https://docs.uipath.com/agents/automation-cloud/latest/user-guide/building-an-agent-in-studio-web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Rozróżniamy dominujący sposób interakcji, a nie dostęp do narzędzi ani stopień bezpieczeństwa. Autonomous Agent otrzymuje cel i dane, realizuje zadanie i zwraca wynik. Może zatrzymać się na eskalacji. Conversational Agent pracuje w kolejnych turach rozmowy, wykorzystuje jej kontekst i zbiera brakujące informacje. Również może wykonywać działania przez narzędzia. Nie nazywaj go wyłącznie chatbotem FAQ, a autonomicznego agenta systemem bez nadzoru. Przykład Northstar: ta sama sprawa może wpłynąć z poczty do procesu lub powstać w rozmowie. Po prawej dwie strzałki przedstawiają kolejne tury, nie trwałą pamięć między wszystkimi sesjami. Pytanie: który wariant lepiej obsłuży wiadomość „Nie działa raport”, jeśli użytkownik jest obecny?</a:t>
            </a:r>
          </a:p>
          <a:p>
            <a:r>
              <a:t>Źródła, sprawdzone 6.10.2026:</a:t>
            </a:r>
          </a:p>
          <a:p>
            <a:r>
              <a:t>https://docs.uipath.com/agents/automation-cloud/latest/user-guide/about-uipath-agents</a:t>
            </a:r>
          </a:p>
          <a:p>
            <a:r>
              <a:t>https://docs.uipath.com/agents/automation-cloud/latest/user-guide/conversational-agents</a:t>
            </a:r>
          </a:p>
          <a:p>
            <a:r>
              <a:t>https://docs.uipath.com/agents/automation-cloud/latest/user-guide/conversational-agents-agent-builder-design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Wyjaśnij intuicyjnie generowanie kolejnych tokenów bez wykładu o architekturze sieci. Zwróć uwagę, że płynna wypowiedź nie dowodzi prawdziwości. Model nie zna bieżącego statusu firmowej sprawy bez dostarczonych danych lub narzędzia. Wynik może różnić się między uruchomieniami. Niska temperatura może ograniczać różnorodność, ale nie gwarantuje poprawności ani pełnej deterministyczności. Zapytaj, co stanie się z robotem, jeśli zamiast wartości kategorii otrzyma zdanie. To wprowadzenie do kontraktu danych.</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Są to propozycje scenariuszy, nie opis gotowych wdrożeń ani obietnica oszczędności. Zapytaj, gdzie dziś pracownik musi czytać swobodny tekst przed wykonaniem standardowej czynności. To często dobre miejsce do rozpoczęcia pilotażu. Dobry przypadek ma dostępne dane, znany oczekiwany wynik oraz możliwość kontroli błędów. Jeśli rozwiązanie wymaga jednej reguły lub danych już dostępnych w strukturze, model może nie wnosić wystarczającej wartości. Wybierz jeden przykład uczestników i zanotuj go do końcowej dyskusji.</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Pokaż plik 01_podsumowanie.txt i zestaw go z poleceniem „Podsumuj”. Nie chodzi o długość promptu, lecz o jednoznaczność. Oddziel instrukcję od treści wiadomości. Znaczniki {{subject}} w pliku są miejscami na argumenty, a nie obietnicą konkretnej składni UiPath. W edytorze wstaw rzeczywiste argumenty. Zapytaj, dlaczego zachowanie „60 dni” jest ważne: znany problem dotyczy okresu ponad 31 dni. Zbyt agresywne streszczenie może zniszczyć istotną informację.</a:t>
            </a:r>
          </a:p>
          <a:p>
            <a:endParaRPr/>
          </a:p>
          <a:p>
            <a:r>
              <a:t>Źródło: https://docs.uipath.com/activities/other/latest/integration-service/working-with-genai-activities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Rozróżnij tekst „true” i wartość Boolean. Model nie powinien wymyślać nazw kategorii. Schemat ogranicza strukturę, ale nie dowodzi prawdziwości treści. Pokaż w pakiecie agent_output.schema.json jako docelowy kontrakt, bez konfigurowania jeszcze całego agenta. W pierwszym ćwiczeniu wybieramy tekstową właściwość wyniku aktywności. Zwróć uwagę na różnicę pomiędzy całym generowanym obiektem odpowiedzi a jego polem Text. Przy błędzie walidacji proces nie zapisuje wyniku jako sukces.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laboratorium według instrukcji 1A i 1B. Materiały: prompty 01 i 02, categories.json oraz zgłoszenia do wklejenia. Zostaw slajd na ekranie. Najpierw jedno uruchomienie, potem kolejne przypadki. Nie zaczynaj od integracji poczty. Dla pustej treści AI można pominąć. Przy odbiorze zapytaj: który krok interpretuje dane, a który podejmuje deterministyczną decyzję o zespole? Na zakończenie pokaż, że błąd wywołania jest AI_ERROR, a nie kategoria OTHER. Intake_AI budujemy w Studio Desktop jako projekt cross-platform: GenAI Activities działają tam tak samo jak w Web, a grupa zna to narzędzie. Na końcu 1B otwieramy ten sam projekt w Studio 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Użyj REQ-001, parafrazy SIM-02 i DEMO-02 (CSV bez nagłówków). REQ-011–018 zostawiamy na ewaluację końcową. Podobieństwo semantyczne pomaga porównywać różne sformułowania, ale nie potwierdza wspólnej przyczyny. Dokumentacja aktywności opisuje wynik 0-1 dla trybu string-to-string lub best match, z większą wartością dla większego podobieństwa. Nie przenoś bez sprawdzenia progu 0,2 z przykładu Academy. W ćwiczeniu porównujemy wyniki rzeczywiste, a nie udajemy z góry znanej jakości modelu.</a:t>
            </a:r>
          </a:p>
          <a:p>
            <a:endParaRPr/>
          </a:p>
          <a:p>
            <a:r>
              <a:t>Źródło: https://docs.uipath.com/activities/other/latest/integration-service/uipath-uipath-airdk-semantic-similarity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To zależność dla reguły score &gt;= T przy niezmienionym zbiorze wyników. Poproś grupę o wskazanie kosztu obu rodzajów pomyłki. W obsłudze incydentów błędne połączenie różnych problemów może być droższe niż dodatkowy przegląd. Najpierw obliczamy wyniki całej listy i zachowujemy najlepszy, dopiero potem podejmujemy decyzję. Jeżeli wyniki dla tych samych i różnych problemów nakładają się, sam próg nie rozwiąże zadania. Dodaj weryfikację szczegółów lub człowieka.</a:t>
            </a:r>
          </a:p>
          <a:p>
            <a:endParaRPr/>
          </a:p>
          <a:p>
            <a:r>
              <a:t>Źródło: https://docs.uipath.com/activities/other/latest/integration-service/uipath-uipath-airdk-semantic-similarity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ćwiczenie 2. Materiały: known_issues.json oraz pary_podobienstwa.json. Sprawdź inicjalizację bestScore i brak dopisywania rekordu wewnątrz pętli. Rozróżnij nowe zgłoszenie użytkownika od nowej przyczyny w rejestrze znanych problemów. Nową wiadomość rejestrujemy niezależnie od duplikatu problemu. Zapytaj przy odbiorze, dlaczego REQ-013 wymaga szczególnej uwagi. Nie pozwól, aby grupa uznała jeden liczbowy próg za uniwersalny parametr wdrożeniowy.</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Odnieś każdy element do SupportAgent. Cel to przygotowanie rekomendacji i szkicu odpowiedzi, nie dowolne rozwiązanie problemu. Narzędzia odczytują informacje, a zapis finalny wykonuje proces. Wspomnij wejścia i wyjścia oraz ślad wykonania jako element obserwacji. Pokaż krótko sekcje agenta w Studio Web, bez długiego omawiania wszystkich ustawień modelu. Brakujące informacje mogą być prawidłowym powodem zakończenia z ASK_DETAILS. Nie trzeba wymuszać odpowiedzi na każde pytanie.</a:t>
            </a:r>
          </a:p>
          <a:p>
            <a:endParaRPr/>
          </a:p>
          <a:p>
            <a:r>
              <a:t>Źródło: https://docs.uipath.com/agents/automation-cloud/latest/user-guide/building-an-agent-in-studio-web</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3–5 min. Pokaz tylko jeśli przygotowany i przetestowany (opcjonalne 5–10 min). UiPath pozwala używać firmowego dostępu do LLM. BYOS oznacza zastąpienie subskrypcji UiPath własną dla obsługiwanej rodziny i wersji modelu. BYOM pozwala dodać model spełniający wymagania produktu. Dostępność zależy od planu, uprawnień, produktu i modelu. Przykładowi dostawcy to OpenAI, Azure OpenAI, Google Vertex AI i AWS. Własny klucz API oznacza własny dostęp do usługi, nie własny wytrenowany model ani automatycznie przetwarzanie lokalne.</a:t>
            </a:r>
          </a:p>
          <a:p>
            <a:r>
              <a:t>Demo Northstar: przygotuj połączenie OpenAI przed warsztatem. W Connections dodaj konektor OpenAI i uwierzytelnij go kluczem API. Nie pokazuj wartości klucza na ekranie i nie zapisuj jej w promptach ani logach. Upewnij się, że projekt API ma aktywne rozliczenie i dostęp do wybranego modelu. W workflow przekaż syntetyczne zgłoszenie do aktywności OpenAI, poproś o kategorię, uzasadnienie i szkic odpowiedzi. Odbierz wynik i pokaż kontrolowany wybór dalszego kroku. To demonstracja wywołania modelu z robota.</a:t>
            </a:r>
          </a:p>
          <a:p>
            <a:r>
              <a:t>Aby zmienić model agenta, pokaż oddzielnie konfigurację LLM w Admin / AI Trust Layer, wybierz właściwy produkt i funkcję, połączenie oraz identyfikator obsługiwanego modelu, a następnie przetestuj konfigurację. Samo utworzenie konektora nie zmienia modelu agenta. Przed pokazem sprawdź dostępność tej konfiguracji w swoim tenantcie. Nie obiecuj obsługi każdego modelu przez każdy produkt. Zużycie API OpenAI ma osobne rozliczenie od abonamentu ChatGPT. Własna subskrypcja dostawcy nie usuwa automatycznie opłat za wykonanie w UiPath.</a:t>
            </a:r>
          </a:p>
          <a:p>
            <a:r>
              <a:t>Źródła:</a:t>
            </a:r>
          </a:p>
          <a:p>
            <a:r>
              <a:t>https://docs.uipath.com/automation-cloud/automation-cloud/latest/admin-guide/configuring-llms</a:t>
            </a:r>
          </a:p>
          <a:p>
            <a:r>
              <a:t>https://docs.uipath.com/integration-service/automation-cloud/latest/user-guide/uipath-openai-openai-authentication</a:t>
            </a:r>
          </a:p>
          <a:p>
            <a:r>
              <a:t>https://docs.uipath.com/integration-service/automation-cloud/latest/user-guide/uipath-openai-openai</a:t>
            </a:r>
          </a:p>
          <a:p>
            <a:r>
              <a:t>https://help.openai.com/pl-pl/articles/9039756-managing-billing-for-chatgpt-and-the-api-platform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Nazwa i opis narzędzia pomagają agentowi dobrać je do zadania. Narzędzie musi mieć czytelny wynik także w przypadku błędu. Nie wolno przedstawiać awarii jako braku sprawy. requesterEmail nie uwierzytelnia użytkownika tylko dlatego, że model go podał. W produkcji narzędzie wiąże żądanie z zaufaną tożsamością poza modelem. Dane demo pozwalają ćwiczyć logikę, lecz nie zastępują tego mechanizmu. Najpierw testujemy narzędzie osobno, potem przez agenta.</a:t>
            </a:r>
          </a:p>
          <a:p>
            <a:endParaRPr/>
          </a:p>
          <a:p>
            <a:r>
              <a:t>Źródło: https://docs.uipath.com/agents/automation-cloud/latest/user-guide/tools-processes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Poproś uczestników o wskazanie narzędzia przed odsłonięciem przykładów w Studio Web. Użytkownik z tekstem „Nie działa” nie podał wystarczających informacji do wyboru usługi. Prawidłowe zachowanie to ASK_DETAILS. Agent może użyć więcej niż jednego narzędzia, jeżeli treść to uzasadnia. Nie wymuszamy wywołania wszystkich narzędzi przy każdej sprawie. W trace sprawdzamy faktyczne wywołania i argumenty, a nie tylko deklarację modelu „sprawdziłem”.</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przed ćwiczeniem 3. Uczestnicy budują trzy narzędzia, żeby zrozumieć kontrakt: wejście, statusy wyniku i simulateFailure. GetTicketStatus powstaje w Studio Desktop (projekt cross-platform, Publish do folderu), GetServiceStatus w Studio Web. FinalizeCase importujemy wspólnie z pakietu prowadzącego, około 10 minut; wywoła go proces Maestro, nie agent. Pakiet importu zawiera też wersje _Zapas wszystkich trzech narzędzi. Każde narzędzie uruchamiamy osobno, zanim podłączymy je do agenta.</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ćwiczenia 3A i 3B. Wykorzystaj kontrakty/narzedzia.md, prompty 03 i 04 oraz schemat odpowiedzi. W razie ograniczonego czasu uczestnicy budują jedno narzędzie, pozostałe dostają w przygotowanym przez prowadzącego projekcie. Pakiet materiałów zawiera kontrakty i mocki, ale nie gotowe publikacje UiPath. Zakończ dzień uruchomieniem co najmniej dwóch odmiennych spraw. Zapytaj, co się zmieniło wobec klasyfikacji + Switch i czy w tym przypadku elastyczność jest potrzebna. GetTicketStatus budujemy w Studio Desktop i publikujemy do folderu, GetServiceStatus w Studio Web. Przy REQ-003 pokaż w Orchestratorze job narzędzia z Desktop uruchomiony przez agenta, a potem pokaz GetTicketStatus_Windows na robocie unattended prowadzącego (ok. 10 min).</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Otwarcie drugiego dnia, około 3 min. Poproś jednego uczestnika o przypomnienie różnicy między procesem a agentem. Uruchom REQ-003, aby potwierdzić stan środowiska. Zadaj pytanie: czy kilka udanych demonstracji wystarczy do wdrożenia? Zbierz obawy o brak wiedzy, błędy narzędzi i odpowiedzialność. Zapowiedz, że będziemy pracować nad nimi na konkretnych przypadkach, a nie tylko rozmawiać o ryzykach. Kontynuujemy te same nazwy i kontrakty z dnia pierwszego.</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Wyjaśnij, że grounding jest szerszym pojęciem niż RAG. Wklejony dokument też stanowi kontekst, ale nie pokazuje wyszukiwania w indeksie. W naszym ćwiczeniu używamy bazy Northstar z sześcioma procedurami KB. Indeks służy odnalezieniu potrzebnego fragmentu, a model formułuje odpowiedź. Samo dodanie dokumentów nie gwarantuje znalezienia właściwego fragmentu ani poprawnej odpowiedzi. Najpierw sprawdzamy, co wyszukiwanie zwróciło, dopiero potem oceniamy generację.</a:t>
            </a:r>
          </a:p>
          <a:p>
            <a:endParaRPr/>
          </a:p>
          <a:p>
            <a:r>
              <a:t>Źródło: https://docs.uipath.com/agents/automation-cloud/latest/user-guide/agent-contexts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Procedura opisuje sposób działania, a narzędzie dostarcza aktualny stan demonstracyjnego systemu. Nie wolno zastępować pustego ETA obietnicą wynikającą z życzenia użytkownika. To przypadek REQ-012. Dla pytania o zmianę rachunku bankowego baza przewiduje przekazanie sprawy do człowieka, a nie procedurę zmiany. Sprawdź, czy grupa rozumie różnicę między brakującą wiedzą a awarią wyszukiwania. W obu przypadkach agent nie powinien uzupełniać braków wymyśloną odpowiedzią.</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ćwiczenie 4. Przypadki REQ-005, REQ-008, REQ-002 i REQ-009. Indeksuj wyłącznie plik wiedzy, bez testów i oczekiwanych odpowiedzi. Plik najpierw trafia do Storage Bucket; po utworzeniu indeksu uruchom synchronizację i poczekaj na status zakończony powodzeniem. Sprawdź, czy KB-001 rzeczywiście pojawia się w zwróconym fragmencie. Sam tekst „KB-001” w odpowiedzi nie jest dowodem groundingu. W awaryjnym wariancie można wkleić kontekst do promptu, ale nazwij ten wariant jawnie i wyjaśnij, że nie demonstruje wyszukiwania RAG.</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Opcjonalny pokaz 10–15 min; pełny przebieg ćwiczenia 7 znajduje się w instrukcji HTML. Pokaz 20-25 min po ćwiczeniu 4, około 2 min na wprowadzenie. Przygotuj Conversational Agenta przed warsztatem z bazą Northstar oraz sprawdzonym narzędziem FindKnownIssue. W czacie testowym podaj najpierw niepełną wiadomość. Agent powinien zapytać o raport, okres i błąd, zamiast zgadywać parametry. Następnie podaj „Sprzedaż za 60 dni. Błąd 500”. Sprawdź trace i odpowiedź opartą na KI-001. Schemat prezentuje planowaną rozmowę demonstracyjną, nie zapis rzeczywistego uruchomienia. Potem pokaż pytanie o faktury i prośbę o uprawnienia. Nie uruchamiaj długiej eskalacji w trakcie krótkiego pokazu. W wariancie Agent Builder taka eskalacja może zatrzymać rozmowę do decyzji człowieka. Ogranicz pokaz do przygotowanego czatu, bez wdrażania kanałów. Aby zachować dwa dni, potraktuj ten pokaz jako część bloku wiedzy i ogranicz opcjonalną konfigurację konektorów.</a:t>
            </a:r>
          </a:p>
          <a:p>
            <a:r>
              <a:t>Źródła, sprawdzone 6.10.2026:</a:t>
            </a:r>
          </a:p>
          <a:p>
            <a:r>
              <a:t>https://docs.uipath.com/agents/automation-cloud/latest/user-guide/conversational-agents</a:t>
            </a:r>
          </a:p>
          <a:p>
            <a:r>
              <a:t>https://docs.uipath.com/agents/automation-cloud/latest/user-guide/conversational-agents-agent-builder-design</a:t>
            </a:r>
          </a:p>
          <a:p>
            <a:r>
              <a:t>Dane: autorski scenariusz Northstar.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Wynik końcowy może przypadkiem być poprawny mimo niewłaściwego przebiegu. Dlatego sprawdzamy trace oraz źródła. Czas i zużycie trzeba mierzyć, a nie zgadywać na podstawie liczby kroków w slajdzie. Rozróżnij test funkcjonalny automatyzacji i ocenę jakości generowanej treści. Krytyczne błędy, takie jak ujawnienie cudzych danych czy wymyślony termin, raportujemy osobno. Średnia ocena nie powinna ich ukrywać. Pokaż kartę oceny z pakietu.</a:t>
            </a:r>
          </a:p>
          <a:p>
            <a:endParaRPr/>
          </a:p>
          <a:p>
            <a:r>
              <a:t>Źródło: https://docs.uipath.com/agents/automation-cloud/latest/user-guide/agent-evaluations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Dla kategorii porównujemy dokładną wartość. Dla odpowiedzi tekstowej różne sformułowania mogą być równie dobre, dlatego przydaje się rubryka. Judge powinien otrzymać źródła, wynik agenta i kryterium, inaczej trudno mu ocenić oparcie na danych. Użyj rubryki 0-2 z pakietu jako przykładu, nie jako skalibrowanej metryki produkcyjnej. Przy zmianie modelu lub promptu powtarzamy tę samą ocenę. Skontroluj kilka werdyktów judge ręcznie.</a:t>
            </a:r>
          </a:p>
          <a:p>
            <a:endParaRPr/>
          </a:p>
          <a:p>
            <a:r>
              <a:t>Źródło: https://docs.uipath.com/agents/automation-cloud/latest/user-guide/agent-evaluations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po slajdzie o ocenie regułą i modelem. Nazwy evaluatorów według dokumentacji Agents; pokaż je w Agent Builder, bo interfejs może się różnić. Zaczynamy od Exact Match, bo jest tani i jednoznaczny. LLM-as-a-judge uruchamiamy po poprawce, nie po każdej zmianie słowa. Symulacje narzędzi i wejść są funkcją preview, której Community nie udostępnia; awarie wymuszamy parametrem simulateFailure. Kontekst produkcyjny: dokumentacja traktuje około 30 i więcej przypadków jako punkt odniesienia dla prostego agenta; nasze 18 uczy metody.</a:t>
            </a:r>
          </a:p>
          <a:p>
            <a:r>
              <a:t>Źródło: https://docs.uipath.com/agents/automation-cloud/latest/user-guide/agent-evaluations</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W pakiecie REQ-001 do REQ-010 służą rozwojowi, a REQ-011 do REQ-018 ocenie końcowej. To mały zestaw edukacyjny. Po wykorzystaniu zestawu końcowego do kolejnych poprawek przestaje on być niezależnym testem i potrzeba nowych przypadków. Cel 90% kategorii i działań oraz zero błędów krytycznych to cel warsztatowy, nie dowód gotowości produkcyjnej. Nie dodawaj klucza odpowiedzi do wiedzy agenta. Zapytaj grupę o jeden trudny przypadek z jej procesów. Evaluation set to w Studio Web lista przypadków z evaluatorami uruchamiana przyciskiem Run. Northstar DEVELOPMENT (REQ-001…010) służy do poprawek, Northstar HOLDOUT (REQ-011…018) to jednorazowy egzamin. Przypadki do wklejenia: testy/ewaluacja_do_wklejenia.txt i ewaluacja_koncowa_do_wklejenia.txt.</a:t>
            </a:r>
          </a:p>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potem ćwiczenie 5. Użyj oczekiwane_wyniki.json i karty oceny. Format JSON jest formatem pomocniczym, a nie gwarantowanym importem do UI. Sprawdź przypadek awarii narzędzia. Wynik technicznego błędu nie powinien liczyć się jako udana odpowiedź. Zachęć do zmiany tylko jednej rzeczy, aby dało się wyjaśnić jej wpływ. Jeśli nie ma czasu na automatyczny evaluator, przeprowadź jawną ocenę ręczną na tych samych kryteriach.</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Odwołaj się do REQ-004 z prośbą o administratora. Deklaracja „kierownik się zgodził” w tekście nie jest potwierdzonym zatwierdzeniem. humanReview jest rekomendacją modelu. Proces ma własną regułę przeglądu dla próśb o dostęp. W naszym rozwiązaniu nie ma narzędzia nadającego uprawnienia. Człowiek zatwierdza szkic odpowiedzi. Dwa warianty współpracy: agent eskaluje w trakcie analizy albo proces kieruje ukończoną rekomendację do przeglądu. Podstawowe laboratorium używa drugiego wariantu.</a:t>
            </a:r>
          </a:p>
          <a:p>
            <a:endParaRPr/>
          </a:p>
          <a:p>
            <a:r>
              <a:t>Źródło: https://docs.uipath.com/agents/automation-cloud/latest/user-guide/agent-escalations</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Słowo guardrails oznacza tu warstwy kontroli w projekcie, a nie wyłącznie jedną funkcję produktu. Instrukcja w promptcie jest potrzebna, ale sama nie egzekwuje uprawnień. Treść zgłoszenia może zawierać próbę zmiany zasad, jak REQ-011. W narzędziu ograniczamy zakres odczytu, a w procesie pilnujemy stanu zatwierdzenia. Reguła wyszukująca słowo admin w demonstracji jest uproszczeniem, nie kompletnym filtrem bezpieczeństwa. Zapytaj, co powinno się stać przy awarii narzędzia.</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Pokaz prowadzącego 10–15 min. Najpierw DEMO-03 bez guardrail: agent kieruje sprawę do HUMAN_REVIEW, ale ochrona wynika wyłącznie z promptu (nie używaj REQ-011, należy do HOLDOUT). Potem Agent → Guardrails → Add guardrails: pokaż 6 typów i pola kreatora PII (Entities, próg, Scopes, Action: Log/Block/Escalate). Na Community zapis blokuje komunikat „You are not entitled to use guardrails”, także dla guardrails narzędzia. Omów przykłady: PII z Block blokuje każde zgłoszenie (requesterEmail), Prompt injection z Block wymaga obsługi błędu w Flow. Bez uprawnień zapisane guardrails są pomijane po cichu. Do PII tylko dane syntetyczne, np. anna@example.com. Przekaz: zaprojektowanie bezpiecznego agenta to nie to samo co praca w środowisku z nadzorem korporacyjnym.</a:t>
            </a:r>
          </a:p>
          <a:p>
            <a:r>
              <a:t>Źródło: https://docs.uipath.com/agents/automation-cloud/latest/user-guide/guardrails</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4 min. Schemat pokazuje podstawową ścieżkę przygotowania szkicu. Dane niekompletne mają dodatkową ścieżkę NEEDS_DETAILS, a błędny kontrakt VALIDATION_FAILED, zgodnie z instrukcją. Warunek przeglądu egzekwuje proces, niezależnie od samej rekomendacji modelu. Gałąź TAK tworzy zadanie człowieka z formularzem QuickForm (bez wdrażania aplikacji) i czeka na wynik; bramka czyta rezultat Approve/Reject ze zmiennej outcome, brak decyzji pozostawia proces w oczekiwaniu. Approve zatwierdza szkic, nie nadaje uprawnień. Reject odrzuca szkic. W każdej gałęzi końcowej wywołujemy kontrolowany zapis FinalizeCase. Pokaż mapowania danych oraz przebieg z REQ-004.</a:t>
            </a:r>
          </a:p>
          <a:p>
            <a:r>
              <a:t>Źródło: https://docs.uipath.com/maestro/automation-cloud/latest/user-guide/tasks</a:t>
            </a:r>
          </a:p>
          <a:p>
            <a:r>
              <a:t>Statusy READY_DRAFT, REVIEWED_DRAFT i REJECTED są autorskim kontraktem Northstar.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Około 3 min. Statusy są autorskim kontraktem Northstar, a nie zestawem wbudowanych statusów Maestro. Szkic gotowy nie oznacza, że awaria została usunięta. Odrzucony szkic nie powinien trafić do wysyłki. Niepoprawny wynik kierujemy osobno do VALIDATION_FAILED i diagnostyki. Proces bez decyzji człowieka pozostaje w oczekiwaniu. Przy zapisie zachowujemy requestId, oryginalny szkic, wersję poprawioną i decyzję. Powtórny przebieg nie może bez kontroli dodawać kolejnych finalnych rekordów.</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Wprowadzenie około 2 min, następnie ćwiczenia 6A i 6B. Użyj REQ-001, REQ-004 i REQ-007. Po zatwierdzeniu zachowaj poprawiony szkic. Nie wykonujemy realnego nadawania uprawnień ani wysyłki. Jeśli realizowany jest tylko Log Message, nie uznawaj testu trwałego zapisu i idempotencji za wykonany. Pokaż również brak odpowiedzi reviewera: proces nie zatwierdza się automatycznie. Szkielet procesu do pokazu lub ratunku: narzedzia_pakietu/szkielet_Northstar_Case. Własna Action App jest rozszerzeniem. Na końcu zapytaj, gdzie dokładnie działa model, gdzie reguła procesu, a gdzie człowiek.</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Około 3 min, przed rozmową o pilotażu. Community pozwala nauczyć się projektowania agenta, ale nie odwzorowuje środowiska firmowego. Zapytaj grupę, która z tych pozycji byłaby największą przeszkodą w ich organizacji. To punkt wyjścia do karty agenta: każdy pilotaż musi wskazać właściciela danych, uprawnienia narzędzi i sposób monitorowania.</a:t>
            </a:r>
          </a:p>
          <a:p>
            <a:r>
              <a:t>Powiązanie: autorski pakiet UiPath AI / Northstar, wersja 1.2, instrukcja warsztatowa. Dane i reguły Northstar są fikcyjne.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Dyskusja około 8-10 min. Wróć do przykładu zgłoszonego na początku. Poproś małe grupy o wybór jednego procesu. Zdefiniuj mały zakres, właściciela biznesowego, reprezentatywne dane oraz warunek przerwania pilotażu. Korzyści mierz względem procesu wyjściowego, uwzględniając czas review, korekt i utrzymania. Nie obiecuj konkretnego zwrotu bez danych. Ustal, czy wystarczy pojedyncze wywołanie AI, czy potrzebny jest dobór narzędzi przez agenta. Rezultatem dyskusji jest konkretny kandydat do pilotażu. Pary wypełniają kartę agenta z instrukcji (zadanie podsumowujące) i prezentują ją w 5 minut; ocena według testy/rubryka_zadania_koncowego.md.</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Zakończenie około 2 min. Poproś uczestników, by wskazali jedną rzecz, którą zastosują we własnym workflow. Podkreśl, że pokazaliśmy dwa sposoby integracji: robot wywołuje AI oraz agent korzysta z automatyzacji. Maestro pozwala połączyć je z zatwierdzeniem. Przypomnij lokalizację instrukcji, promptów i danych. Zostaw czas na pytania dotyczące konkretnego procesu. Jeśli któryś element szkolenia działał jako demonstracyjny mock lub wklejony kontekst, nazwij to ponownie przed zakończeniem.</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Slajd referencyjny, opcjonalny na ekranie. Oficjalne źródła użyte w decku, sprawdzone w ramach przygotowania warsztatu 5 października 2026:</a:t>
            </a:r>
          </a:p>
          <a:p>
            <a:r>
              <a:t>https://docs.uipath.com/activities/other/latest/integration-service/working-with-genai-activities</a:t>
            </a:r>
          </a:p>
          <a:p>
            <a:r>
              <a:t>https://docs.uipath.com/activities/other/latest/integration-service/uipath-uipath-airdk-semantic-similarity</a:t>
            </a:r>
          </a:p>
          <a:p>
            <a:r>
              <a:t>https://docs.uipath.com/agents/automation-cloud/latest/user-guide/building-an-agent-in-studio-web</a:t>
            </a:r>
          </a:p>
          <a:p>
            <a:r>
              <a:t>https://docs.uipath.com/agents/automation-cloud/latest/user-guide/agent-contexts</a:t>
            </a:r>
          </a:p>
          <a:p>
            <a:r>
              <a:t>https://docs.uipath.com/agents/automation-cloud/latest/user-guide/tools-processes</a:t>
            </a:r>
          </a:p>
          <a:p>
            <a:r>
              <a:t>https://docs.uipath.com/agents/automation-cloud/latest/user-guide/agent-evaluations</a:t>
            </a:r>
          </a:p>
          <a:p>
            <a:r>
              <a:t>https://docs.uipath.com/agents/automation-cloud/latest/user-guide/agent-escalations</a:t>
            </a:r>
          </a:p>
          <a:p>
            <a:r>
              <a:t>https://docs.uipath.com/maestro/automation-cloud/latest/user-guide/tasks</a:t>
            </a:r>
          </a:p>
          <a:p>
            <a:r>
              <a:t>Pakiet jest autorskim materiałem edukacyjnym, a nazwy plików odpowiadają UiPath_AI_Pakiet_warsztatowy.zip. Dostępność funkcji zależy od środowiska i uprawnień. Szczegółowe źródła są również w notatkach odpowiednich slajdów.</a:t>
            </a:r>
          </a:p>
          <a:p>
            <a:endParaRPr/>
          </a:p>
          <a:p>
            <a:r>
              <a:t>Powiązanie: autorski pakiet UiPath AI / Northstar, wersja 1.2, instrukcja warsztatowa. Dane i reguły Northstar są fikcyjne.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Intuicja, bez architektury sieci. Wektory tokenów są reprezentacjami numerycznymi; model uwzględnia kontekst. Embeddingi do wyszukiwania semantycznego są pokrewną, ale odrębną koncepcją. Ta sama idea stoi za Semantic Similarity w ćwiczeniu 2 i za indeksem wiedzy w ćwiczeniu 4. Płynna odpowiedź nie dowodzi prawdziwości: model nie zna statusu sprawy INC-104, dopóki narzędzie go nie poda. Tokeny to też jednostka kosztu i limitu długości (Max tokens).</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Wybór modelu to kompromis między jakością, kosztem i kontrolą. Dokumentacja UiPath zaleca start od modelu ogólnego lub tańszego i weryfikację na zestawie ewaluacyjnym: w Evaluation settings można uruchomić ten sam zestaw dla kilku kombinacji modelu i temperatury (ćwiczenie 5). Na Community dostępny jest jeden darmowy model, więc porównanie modeli to temat na środowisko Enterprise.</a:t>
            </a:r>
          </a:p>
          <a:p>
            <a:r>
              <a:t>Źródło: https://docs.uipath.com/agents/automation-cloud/latest/user-guide/choosing-the-best-model-for-your-agent</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4 min. Zero-shot chain of thought to dopisanie „przeanalizuj krok po kroku” bez przykładów. W agencie nie prosimy o pełny tok rozumowania w wyniku: wystarczy krótkie rationale oparte na faktach. Opisy kategorii nie są przykładami few-shot; prawdziwe pary wejście–wynik są w osobnym HTML. Przykłady w prompcie muszą być spoza zestawu testowego (EX-01), inaczej ewaluacja mierzy pamięć, a nie jakość. Prompt chaining to dokładnie to, co robi Intake_AI: kilka małych, sprawdzalnych kroków zamiast jednego dużego polecenia.</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Content Generation: lokalizacja i dostępność Temperature, Maximum tokens count i Top-p zależą od wersji pakietu/modelu; w testowanym UI mogły być w Properties → Options albo niewidoczne. Pokaż tylko potwierdzone opcje. Agent: Model, Temperature, Max. tokens per response, Max. iterations. Zalecenie UiPath dla agentów produkcyjnych: temperatura 0; przy problemach jakości najpierw zmień prompt lub model, dopiero potem temperaturę. Niska temperatura zmniejsza zmienność, ale nie gwarantuje poprawności. Sprawdzimy to w 1A, krok 7.</a:t>
            </a:r>
          </a:p>
          <a:p>
            <a:r>
              <a:t>Źródła: https://docs.uipath.com/activities/other/latest/integration-service/uipath-uipath-airdk-content-generation ; https://docs.uipath.com/agents/automation-cloud/latest/user-guide/choosing-the-best-model-for-your-agent</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2 min. To podsumowanie przed ćwiczeniem 1A. Unikanie stronniczości: neutralny język i różnorodne przykłady, żeby model nie uczył się z przykładu np. jednego typu nadawcy. Iteracja to rdzeń ćwiczenia 5: zmieniamy jedną rzecz naraz i porównujemy na tych samych danych.</a:t>
            </a:r>
          </a:p>
          <a:p>
            <a:r>
              <a:t>Źródło: UiPath Academy, Prompt engineering fundamentals.</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4 min. Prompt agenta różni się od promptu pojedynczego wywołania: agent planuje kilka kroków, wybiera narzędzia i reaguje na ich wyniki, więc prompt musi opisać decyzje, nie tylko zadanie. Prompt systemowy (03_agent_system.txt) to stałe zasady agenta. Prompt użytkownika (04_agent_user.txt) to dane konkretnej sprawy: argumenty {{input.x}}, które muszą istnieć jako wejścia agenta i mieć identyczne nazwy. Treść zgłoszenia jest w znacznikach &lt;zgloszenie&gt;, żeby oddzielić dane od instrukcji. Kontekst biznesowy i ton też należą do promptu: zasada 11 (bez wymyślonych terminów) to element stylu odpowiedzi. W Academy są dłuższe przykłady (refund, Salesforce, onboarding); budowa jest ta sama.</a:t>
            </a:r>
          </a:p>
          <a:p>
            <a:r>
              <a:t>Źródło: UiPath Academy, AI agent prompt engineering; https://docs.uipath.com/agents/automation-cloud/latest/user-guide/building-an-agent-in-studio-web</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Około 3 min. Ten sam SupportAgent, którego w 6B wywołuje Maestro, wywołuje zwykły proces RPA z Studio Desktop. Agent jest dla robota kolejnym procesem w Orchestratorze: Run Job pokazuje RPA, agentów i Maestro. Wejście: Use Schema i Data Mapper (Studio 2025.0.161+), wynik w Output arguments. Wariant zawieszenia działa tylko jako job w Orchestratorze; to ten sam mechanizm co czekanie Maestro na Quick Form. W procesie RPA decyzję człowieka obsługują Create Form Task i Wait for Form Task and Resume. Domyślny timeout wariantu czekania to 10 minut.</a:t>
            </a:r>
          </a:p>
          <a:p>
            <a:r>
              <a:t>Źródło: https://docs.uipath.com/activities/other/latest/workflow/run-job</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Opcjonalne demo/rozszerzenie, jeśli środowisko przeszło preflight; około 30 min pracy. Agent musi być opublikowany (6B, krok 0). Najczęstszy problem: zły folder w Orchestrator folder path, bo agent jest w folderze rozwiązania. Wariant B uruchamiamy jako job (Publish i Start w Orchestratorze), nie w Studio. Zapytaj grupę, które z ich procesów RPA czekają dziś na człowieka lub inny system i mogłyby się zawieszać zamiast blokować robota.</a:t>
            </a:r>
          </a:p>
          <a:p/>
          <a:p>
            <a:r>
              <a:t>Powiązanie: autorski pakiet UiPath AI / Northstar, wersja 1.2, instrukcja warsztatowa. Dane i reguły Northstar są fikcyjne.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Ćwiczenie 7 – zgodnie z instrukcją HTML. Uczestnicy używają przygotowanych danych Northstar. W razie limitów Community lub braku konwersacyjnej funkcji: pokaz prowadzącego z preflight albo dyskusja porównawcza. Nie wymagać publikacji bez potwierdzonego entitlement.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6EA0618-5C9F-4EF2-AD26-2FDDB156367E}"/>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D76783F-5E5D-4CDA-BB15-C93FB380021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D9B8CD36-D1C9-4082-BB9B-7268C7DDEF4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22A4C786-0028-4F17-B9C9-C8FE158AE955}"/>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FB409CC8-BD5A-4F6D-8AD5-B0E78082E6D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3C6F16-BE02-4AB9-B19E-DED032AF81B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29A77BC0-FD7F-4762-82AE-08653B2A5C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60C09F4A-F032-4167-9834-F046CE75CED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96A3E3B9-B721-4CD7-8F9D-90E8014B21A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25FA344-13BC-449D-A607-23F9DC4A484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839F4DDB-E177-4B41-A176-FDD3EFF5269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1272703F-9C12-403E-8833-786CEC5BC1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2117BD7-0B2E-4CCA-B887-940125759968}"/>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7B138C2-B365-4B56-A044-B6777918681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998E63C9-A408-458C-B722-59857BB9ECE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688BA3-2E56-4691-873A-4A48E8427C09}"/>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14E8676B-E1CB-4A9C-8D66-214C1439CBA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01</a:t>
            </a:r>
          </a:p>
        </p:txBody>
      </p:sp>
      <p:sp>
        <p:nvSpPr>
          <p:cNvPr id="3" name="Rectangle 2">
            <a:extLst>
              <a:ext uri="{FF2B5EF4-FFF2-40B4-BE49-F238E27FC236}">
                <a16:creationId xmlns:a16="http://schemas.microsoft.com/office/drawing/2014/main" id="{EFABC71B-4999-474B-85CD-9B340B8FFC23}"/>
              </a:ext>
            </a:extLst>
          </p:cNvPr>
          <p:cNvSpPr>
            <a:spLocks noGrp="1"/>
          </p:cNvSpPr>
          <p:nvPr/>
        </p:nvSpPr>
        <p:spPr>
          <a:xfrm>
            <a:off x="685800" y="1714500"/>
            <a:ext cx="10477500" cy="1619250"/>
          </a:xfrm>
          <a:prstGeom prst="rect">
            <a:avLst/>
          </a:prstGeom>
          <a:noFill/>
          <a:ln w="0">
            <a:noFill/>
          </a:ln>
        </p:spPr>
        <p:txBody>
          <a:bodyPr>
            <a:noAutofit/>
          </a:bodyPr>
          <a:lstStyle/>
          <a:p>
            <a:pPr>
              <a:buNone/>
              <a:defRPr sz="5250" b="1">
                <a:solidFill>
                  <a:srgbClr val="FFFFFF"/>
                </a:solidFill>
                <a:latin typeface="DejaVu Sans"/>
                <a:ea typeface="DejaVu Sans"/>
                <a:cs typeface="DejaVu Sans"/>
              </a:defRPr>
            </a:pPr>
            <a:r>
              <a:rPr sz="5250" b="1">
                <a:solidFill>
                  <a:srgbClr val="FFFFFF"/>
                </a:solidFill>
                <a:latin typeface="DejaVu Sans"/>
                <a:ea typeface="DejaVu Sans"/>
                <a:cs typeface="DejaVu Sans"/>
              </a:rPr>
              <a:t>AI w procesach UiPath</a:t>
            </a:r>
          </a:p>
        </p:txBody>
      </p:sp>
      <p:sp>
        <p:nvSpPr>
          <p:cNvPr id="4" name="Rectangle 3">
            <a:extLst>
              <a:ext uri="{FF2B5EF4-FFF2-40B4-BE49-F238E27FC236}">
                <a16:creationId xmlns:a16="http://schemas.microsoft.com/office/drawing/2014/main" id="{96652B2A-A253-442B-A7CE-EF86D82AC19F}"/>
              </a:ext>
            </a:extLst>
          </p:cNvPr>
          <p:cNvSpPr>
            <a:spLocks noGrp="1"/>
          </p:cNvSpPr>
          <p:nvPr/>
        </p:nvSpPr>
        <p:spPr>
          <a:xfrm>
            <a:off x="723900" y="3810000"/>
            <a:ext cx="10096500" cy="666750"/>
          </a:xfrm>
          <a:prstGeom prst="rect">
            <a:avLst/>
          </a:prstGeom>
          <a:noFill/>
          <a:ln w="0">
            <a:noFill/>
          </a:ln>
        </p:spPr>
        <p:txBody>
          <a:bodyPr>
            <a:noAutofit/>
          </a:bodyPr>
          <a:lstStyle/>
          <a:p>
            <a:pPr>
              <a:buNone/>
              <a:defRPr sz="2400" b="0">
                <a:solidFill>
                  <a:srgbClr val="D8E4EB"/>
                </a:solidFill>
                <a:latin typeface="DejaVu Sans"/>
                <a:ea typeface="DejaVu Sans"/>
                <a:cs typeface="DejaVu Sans"/>
              </a:defRPr>
            </a:pPr>
            <a:r>
              <a:rPr sz="2400" b="0">
                <a:solidFill>
                  <a:srgbClr val="D8E4EB"/>
                </a:solidFill>
                <a:latin typeface="DejaVu Sans"/>
                <a:ea typeface="DejaVu Sans"/>
                <a:cs typeface="DejaVu Sans"/>
              </a:rPr>
              <a:t>Warsztat praktyczny z Agentic Automation</a:t>
            </a:r>
          </a:p>
        </p:txBody>
      </p:sp>
      <p:sp>
        <p:nvSpPr>
          <p:cNvPr id="5" name="Rectangle 4">
            <a:extLst>
              <a:ext uri="{FF2B5EF4-FFF2-40B4-BE49-F238E27FC236}">
                <a16:creationId xmlns:a16="http://schemas.microsoft.com/office/drawing/2014/main" id="{A335B511-C42F-42EE-A430-5ACFC33A1D33}"/>
              </a:ext>
            </a:extLst>
          </p:cNvPr>
          <p:cNvSpPr>
            <a:spLocks noGrp="1"/>
          </p:cNvSpPr>
          <p:nvPr/>
        </p:nvSpPr>
        <p:spPr>
          <a:xfrm>
            <a:off x="723900" y="5429250"/>
            <a:ext cx="9525000" cy="428625"/>
          </a:xfrm>
          <a:prstGeom prst="rect">
            <a:avLst/>
          </a:prstGeom>
          <a:noFill/>
          <a:ln w="0">
            <a:noFill/>
          </a:ln>
        </p:spPr>
        <p:txBody>
          <a:bodyPr>
            <a:noAutofit/>
          </a:bodyPr>
          <a:lstStyle/>
          <a:p>
            <a:pPr>
              <a:buNone/>
              <a:defRPr sz="1875" b="0">
                <a:solidFill>
                  <a:srgbClr val="6AD1CE"/>
                </a:solidFill>
                <a:latin typeface="DejaVu Sans"/>
                <a:ea typeface="DejaVu Sans"/>
                <a:cs typeface="DejaVu Sans"/>
              </a:defRPr>
            </a:pPr>
            <a:r>
              <a:rPr sz="1875" b="0">
                <a:solidFill>
                  <a:srgbClr val="6AD1CE"/>
                </a:solidFill>
                <a:latin typeface="DejaVu Sans"/>
                <a:ea typeface="DejaVu Sans"/>
                <a:cs typeface="DejaVu Sans"/>
              </a:rPr>
              <a:t>Kamil Miśko</a:t>
            </a:r>
          </a:p>
        </p:txBody>
      </p:sp>
      <p:sp>
        <p:nvSpPr>
          <p:cNvPr id="7" name="Rounded Rectangle 6"/>
          <p:cNvSpPr/>
          <p:nvPr/>
        </p:nvSpPr>
        <p:spPr>
          <a:xfrm>
            <a:off x="9875520" y="3657600"/>
            <a:ext cx="1508760" cy="73152"/>
          </a:xfrm>
          <a:prstGeom prst="roundRect">
            <a:avLst/>
          </a:prstGeom>
          <a:solidFill>
            <a:srgbClr val="6A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22297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C121E9-B20B-49EF-9634-F54BC7ECC5C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2C59476-F55E-49C9-B4D0-D617069EB0CC}"/>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02</a:t>
            </a:r>
          </a:p>
        </p:txBody>
      </p:sp>
      <p:sp>
        <p:nvSpPr>
          <p:cNvPr id="3" name="Rectangle 2">
            <a:extLst>
              <a:ext uri="{FF2B5EF4-FFF2-40B4-BE49-F238E27FC236}">
                <a16:creationId xmlns:a16="http://schemas.microsoft.com/office/drawing/2014/main" id="{C941A6AC-E47F-432B-866D-EBD660581C1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Plan dwóch dni</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Dzień 1</a:t>
                      </a:r>
                    </a:p>
                  </a:txBody>
                  <a:tcPr>
                    <a:solidFill>
                      <a:srgbClr val="142F47"/>
                    </a:solidFill>
                  </a:tcPr>
                </a:tc>
                <a:tc>
                  <a:txBody>
                    <a:bodyPr/>
                    <a:lstStyle/>
                    <a:p>
                      <a:r>
                        <a:rPr sz="1875" b="1">
                          <a:solidFill>
                            <a:srgbClr val="FFFFFF"/>
                          </a:solidFill>
                          <a:latin typeface="DejaVu Sans"/>
                          <a:ea typeface="DejaVu Sans"/>
                          <a:cs typeface="DejaVu Sans"/>
                        </a:rPr>
                        <a:t>Dzień 2</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Model, prompt i AI w workflow</a:t>
                      </a:r>
                    </a:p>
                  </a:txBody>
                  <a:tcPr>
                    <a:solidFill>
                      <a:srgbClr val="FFFFFF"/>
                    </a:solidFill>
                  </a:tcPr>
                </a:tc>
                <a:tc>
                  <a:txBody>
                    <a:bodyPr/>
                    <a:lstStyle/>
                    <a:p>
                      <a:r>
                        <a:rPr sz="1800" b="0">
                          <a:solidFill>
                            <a:srgbClr val="142F47"/>
                          </a:solidFill>
                          <a:latin typeface="DejaVu Sans"/>
                          <a:ea typeface="DejaVu Sans"/>
                          <a:cs typeface="DejaVu Sans"/>
                        </a:rPr>
                        <a:t>Wiedza i rozmowa z agentem</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Podobieństwo zgłoszeń</a:t>
                      </a:r>
                    </a:p>
                  </a:txBody>
                  <a:tcPr>
                    <a:solidFill>
                      <a:srgbClr val="EEF1F1"/>
                    </a:solidFill>
                  </a:tcPr>
                </a:tc>
                <a:tc>
                  <a:txBody>
                    <a:bodyPr/>
                    <a:lstStyle/>
                    <a:p>
                      <a:r>
                        <a:rPr sz="1800" b="0">
                          <a:solidFill>
                            <a:srgbClr val="142F47"/>
                          </a:solidFill>
                          <a:latin typeface="DejaVu Sans"/>
                          <a:ea typeface="DejaVu Sans"/>
                          <a:cs typeface="DejaVu Sans"/>
                        </a:rPr>
                        <a:t>Ewaluacje i przypadki trudne</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Agent i jego narzędzia</a:t>
                      </a:r>
                    </a:p>
                  </a:txBody>
                  <a:tcPr>
                    <a:solidFill>
                      <a:srgbClr val="FFFFFF"/>
                    </a:solidFill>
                  </a:tcPr>
                </a:tc>
                <a:tc>
                  <a:txBody>
                    <a:bodyPr/>
                    <a:lstStyle/>
                    <a:p>
                      <a:r>
                        <a:rPr sz="1800" b="0">
                          <a:solidFill>
                            <a:srgbClr val="142F47"/>
                          </a:solidFill>
                          <a:latin typeface="DejaVu Sans"/>
                          <a:ea typeface="DejaVu Sans"/>
                          <a:cs typeface="DejaVu Sans"/>
                        </a:rPr>
                        <a:t>Człowiek i proces Maestro</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24924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03</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Środowisko warsztatu</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Każdy pracuje we własnej organizacji UiPath Community.</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Dostępność modeli i limity Community potwierdzamy w preflight.</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Tylko dane z pakietu: bez firmowych dokumentów i danych osobowych.</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Pracujemy w parach: reguły i ocena oraz budowa i trace.</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04</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Studio Web oczami dewelopera Desktop</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3977639" cy="610819"/>
          </a:xfrm>
          <a:prstGeom prst="rect">
            <a:avLst/>
          </a:prstGeom>
          <a:noFill/>
        </p:spPr>
        <p:txBody>
          <a:bodyPr wrap="square" lIns="45720" tIns="32004" rIns="45720" bIns="0">
            <a:spAutoFit/>
          </a:bodyPr>
          <a:lstStyle/>
          <a:p>
            <a:pPr>
              <a:spcAft>
                <a:spcPts val="0"/>
              </a:spcAft>
              <a:defRPr sz="1300" b="1">
                <a:solidFill>
                  <a:srgbClr val="142F47"/>
                </a:solidFill>
                <a:latin typeface="Aptos"/>
              </a:defRPr>
            </a:pPr>
            <a:r>
              <a:t>Projekt Process / Library</a:t>
            </a:r>
          </a:p>
        </p:txBody>
      </p:sp>
      <p:sp>
        <p:nvSpPr>
          <p:cNvPr id="18" name="TextBox 17"/>
          <p:cNvSpPr txBox="1"/>
          <p:nvPr/>
        </p:nvSpPr>
        <p:spPr>
          <a:xfrm>
            <a:off x="5138927" y="2450591"/>
            <a:ext cx="3730752" cy="619963"/>
          </a:xfrm>
          <a:prstGeom prst="rect">
            <a:avLst/>
          </a:prstGeom>
          <a:noFill/>
        </p:spPr>
        <p:txBody>
          <a:bodyPr wrap="square" lIns="45720" tIns="32004" rIns="45720" bIns="0">
            <a:spAutoFit/>
          </a:bodyPr>
          <a:lstStyle/>
          <a:p>
            <a:pPr>
              <a:spcAft>
                <a:spcPts val="0"/>
              </a:spcAft>
              <a:defRPr sz="1350" b="0">
                <a:solidFill>
                  <a:srgbClr val="516877"/>
                </a:solidFill>
                <a:latin typeface="Aptos"/>
              </a:defRPr>
            </a:pPr>
            <a:r>
              <a:t>Solution: projekty i zasoby wdrażane razem</a:t>
            </a:r>
          </a:p>
        </p:txBody>
      </p:sp>
      <p:sp>
        <p:nvSpPr>
          <p:cNvPr id="19" name="Rounded Rectangle 18"/>
          <p:cNvSpPr/>
          <p:nvPr/>
        </p:nvSpPr>
        <p:spPr>
          <a:xfrm>
            <a:off x="740664" y="3166567"/>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3285439"/>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248863"/>
            <a:ext cx="3977639" cy="610819"/>
          </a:xfrm>
          <a:prstGeom prst="rect">
            <a:avLst/>
          </a:prstGeom>
          <a:noFill/>
        </p:spPr>
        <p:txBody>
          <a:bodyPr wrap="square" lIns="45720" tIns="32004" rIns="45720" bIns="0">
            <a:spAutoFit/>
          </a:bodyPr>
          <a:lstStyle/>
          <a:p>
            <a:pPr>
              <a:spcAft>
                <a:spcPts val="0"/>
              </a:spcAft>
              <a:defRPr sz="1300" b="1">
                <a:solidFill>
                  <a:srgbClr val="142F47"/>
                </a:solidFill>
                <a:latin typeface="Aptos"/>
              </a:defRPr>
            </a:pPr>
            <a:r>
              <a:t>Sequence, Flowchart, coded workflows</a:t>
            </a:r>
          </a:p>
        </p:txBody>
      </p:sp>
      <p:sp>
        <p:nvSpPr>
          <p:cNvPr id="22" name="TextBox 21"/>
          <p:cNvSpPr txBox="1"/>
          <p:nvPr/>
        </p:nvSpPr>
        <p:spPr>
          <a:xfrm>
            <a:off x="5138927" y="3248863"/>
            <a:ext cx="3730752" cy="619963"/>
          </a:xfrm>
          <a:prstGeom prst="rect">
            <a:avLst/>
          </a:prstGeom>
          <a:noFill/>
        </p:spPr>
        <p:txBody>
          <a:bodyPr wrap="square" lIns="45720" tIns="32004" rIns="45720" bIns="0">
            <a:spAutoFit/>
          </a:bodyPr>
          <a:lstStyle/>
          <a:p>
            <a:pPr>
              <a:spcAft>
                <a:spcPts val="0"/>
              </a:spcAft>
              <a:defRPr sz="1350" b="0">
                <a:solidFill>
                  <a:srgbClr val="516877"/>
                </a:solidFill>
                <a:latin typeface="Aptos"/>
              </a:defRPr>
            </a:pPr>
            <a:r>
              <a:t>Projekt Web: głównie Sequence; sprawdź zgodność aktywności</a:t>
            </a:r>
          </a:p>
        </p:txBody>
      </p:sp>
      <p:sp>
        <p:nvSpPr>
          <p:cNvPr id="23" name="Rounded Rectangle 22"/>
          <p:cNvSpPr/>
          <p:nvPr/>
        </p:nvSpPr>
        <p:spPr>
          <a:xfrm>
            <a:off x="740664" y="3964838"/>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4083710"/>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047134"/>
            <a:ext cx="3977639" cy="610819"/>
          </a:xfrm>
          <a:prstGeom prst="rect">
            <a:avLst/>
          </a:prstGeom>
          <a:noFill/>
        </p:spPr>
        <p:txBody>
          <a:bodyPr wrap="square" lIns="45720" tIns="32004" rIns="45720" bIns="0">
            <a:spAutoFit/>
          </a:bodyPr>
          <a:lstStyle/>
          <a:p>
            <a:pPr>
              <a:spcAft>
                <a:spcPts val="0"/>
              </a:spcAft>
              <a:defRPr sz="1300" b="1">
                <a:solidFill>
                  <a:srgbClr val="142F47"/>
                </a:solidFill>
                <a:latin typeface="Aptos"/>
              </a:defRPr>
            </a:pPr>
            <a:r>
              <a:t>Pełny debugger, Git, biblioteki</a:t>
            </a:r>
          </a:p>
        </p:txBody>
      </p:sp>
      <p:sp>
        <p:nvSpPr>
          <p:cNvPr id="26" name="TextBox 25"/>
          <p:cNvSpPr txBox="1"/>
          <p:nvPr/>
        </p:nvSpPr>
        <p:spPr>
          <a:xfrm>
            <a:off x="5138927" y="4047134"/>
            <a:ext cx="3730752" cy="619963"/>
          </a:xfrm>
          <a:prstGeom prst="rect">
            <a:avLst/>
          </a:prstGeom>
          <a:noFill/>
        </p:spPr>
        <p:txBody>
          <a:bodyPr wrap="square" lIns="45720" tIns="32004" rIns="45720" bIns="0">
            <a:spAutoFit/>
          </a:bodyPr>
          <a:lstStyle/>
          <a:p>
            <a:pPr>
              <a:spcAft>
                <a:spcPts val="0"/>
              </a:spcAft>
              <a:defRPr sz="1350" b="0">
                <a:solidFill>
                  <a:srgbClr val="516877"/>
                </a:solidFill>
                <a:latin typeface="Aptos"/>
              </a:defRPr>
            </a:pPr>
            <a:r>
              <a:t>Debug w przeglądarce; inne możliwości niż Desktop</a:t>
            </a:r>
          </a:p>
        </p:txBody>
      </p:sp>
      <p:sp>
        <p:nvSpPr>
          <p:cNvPr id="27" name="Rounded Rectangle 26"/>
          <p:cNvSpPr/>
          <p:nvPr/>
        </p:nvSpPr>
        <p:spPr>
          <a:xfrm>
            <a:off x="740664" y="4763109"/>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4881981"/>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845405"/>
            <a:ext cx="3977639" cy="610819"/>
          </a:xfrm>
          <a:prstGeom prst="rect">
            <a:avLst/>
          </a:prstGeom>
          <a:noFill/>
        </p:spPr>
        <p:txBody>
          <a:bodyPr wrap="square" lIns="45720" tIns="32004" rIns="45720" bIns="0">
            <a:spAutoFit/>
          </a:bodyPr>
          <a:lstStyle/>
          <a:p>
            <a:pPr>
              <a:spcAft>
                <a:spcPts val="0"/>
              </a:spcAft>
              <a:defRPr sz="1300" b="1">
                <a:solidFill>
                  <a:srgbClr val="142F47"/>
                </a:solidFill>
                <a:latin typeface="Aptos"/>
              </a:defRPr>
            </a:pPr>
            <a:r>
              <a:t>UI desktop, Excel, Object Repository</a:t>
            </a:r>
          </a:p>
        </p:txBody>
      </p:sp>
      <p:sp>
        <p:nvSpPr>
          <p:cNvPr id="30" name="TextBox 29"/>
          <p:cNvSpPr txBox="1"/>
          <p:nvPr/>
        </p:nvSpPr>
        <p:spPr>
          <a:xfrm>
            <a:off x="5138927" y="4845405"/>
            <a:ext cx="3730752" cy="619963"/>
          </a:xfrm>
          <a:prstGeom prst="rect">
            <a:avLst/>
          </a:prstGeom>
          <a:noFill/>
        </p:spPr>
        <p:txBody>
          <a:bodyPr wrap="square" lIns="45720" tIns="32004" rIns="45720" bIns="0">
            <a:spAutoFit/>
          </a:bodyPr>
          <a:lstStyle/>
          <a:p>
            <a:pPr>
              <a:spcAft>
                <a:spcPts val="0"/>
              </a:spcAft>
              <a:defRPr sz="1350" b="0">
                <a:solidFill>
                  <a:srgbClr val="516877"/>
                </a:solidFill>
                <a:latin typeface="Aptos"/>
              </a:defRPr>
            </a:pPr>
            <a:r>
              <a:t>Aplikacje Web, API i Integration Service</a:t>
            </a:r>
          </a:p>
        </p:txBody>
      </p:sp>
      <p:sp>
        <p:nvSpPr>
          <p:cNvPr id="31" name="Rounded Rectangle 30"/>
          <p:cNvSpPr/>
          <p:nvPr/>
        </p:nvSpPr>
        <p:spPr>
          <a:xfrm>
            <a:off x="740664" y="5561380"/>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5680252"/>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643676"/>
            <a:ext cx="3977639" cy="610819"/>
          </a:xfrm>
          <a:prstGeom prst="rect">
            <a:avLst/>
          </a:prstGeom>
          <a:noFill/>
        </p:spPr>
        <p:txBody>
          <a:bodyPr wrap="square" lIns="45720" tIns="32004" rIns="45720" bIns="0">
            <a:spAutoFit/>
          </a:bodyPr>
          <a:lstStyle/>
          <a:p>
            <a:pPr>
              <a:spcAft>
                <a:spcPts val="0"/>
              </a:spcAft>
              <a:defRPr sz="1300" b="1">
                <a:solidFill>
                  <a:srgbClr val="142F47"/>
                </a:solidFill>
                <a:latin typeface="Aptos"/>
              </a:defRPr>
            </a:pPr>
            <a:r>
              <a:t>Automatyzacje robotyczne i integracje</a:t>
            </a:r>
          </a:p>
        </p:txBody>
      </p:sp>
      <p:sp>
        <p:nvSpPr>
          <p:cNvPr id="34" name="TextBox 33"/>
          <p:cNvSpPr txBox="1"/>
          <p:nvPr/>
        </p:nvSpPr>
        <p:spPr>
          <a:xfrm>
            <a:off x="5138927" y="5643676"/>
            <a:ext cx="3730752" cy="619963"/>
          </a:xfrm>
          <a:prstGeom prst="rect">
            <a:avLst/>
          </a:prstGeom>
          <a:noFill/>
        </p:spPr>
        <p:txBody>
          <a:bodyPr wrap="square" lIns="45720" tIns="32004" rIns="45720" bIns="0">
            <a:spAutoFit/>
          </a:bodyPr>
          <a:lstStyle/>
          <a:p>
            <a:pPr>
              <a:spcAft>
                <a:spcPts val="0"/>
              </a:spcAft>
              <a:defRPr sz="1350" b="0">
                <a:solidFill>
                  <a:srgbClr val="516877"/>
                </a:solidFill>
                <a:latin typeface="Aptos"/>
              </a:defRPr>
            </a:pPr>
            <a:r>
              <a:t>Natywne projektowanie agentów, Maestro i App</a:t>
            </a:r>
          </a:p>
        </p:txBody>
      </p:sp>
      <p:sp>
        <p:nvSpPr>
          <p:cNvPr id="35" name="TextBox 34"/>
          <p:cNvSpPr txBox="1"/>
          <p:nvPr/>
        </p:nvSpPr>
        <p:spPr>
          <a:xfrm>
            <a:off x="932688" y="2194560"/>
            <a:ext cx="365760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Studio Desktop</a:t>
            </a:r>
          </a:p>
        </p:txBody>
      </p:sp>
      <p:sp>
        <p:nvSpPr>
          <p:cNvPr id="36" name="TextBox 35"/>
          <p:cNvSpPr txBox="1"/>
          <p:nvPr/>
        </p:nvSpPr>
        <p:spPr>
          <a:xfrm>
            <a:off x="5166360" y="2194560"/>
            <a:ext cx="457200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Studio Web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05</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Kiedy Desktop, a kiedy Web</a:t>
            </a:r>
          </a:p>
        </p:txBody>
      </p:sp>
      <p:graphicFrame>
        <p:nvGraphicFramePr>
          <p:cNvPr id="10" name="Table 9"/>
          <p:cNvGraphicFramePr/>
          <p:nvPr/>
        </p:nvGraphicFramePr>
        <p:xfrm>
          <a:off x="723900" y="2333625"/>
          <a:ext cx="10668000" cy="3000000"/>
        </p:xfrm>
        <a:graphic>
          <a:graphicData uri="http://schemas.openxmlformats.org/drawingml/2006/table">
            <a:tbl>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600000">
                <a:tc>
                  <a:txBody>
                    <a:bodyPr/>
                    <a:lstStyle/>
                    <a:p>
                      <a:r>
                        <a:rPr sz="1600" b="1">
                          <a:solidFill>
                            <a:srgbClr val="FFFFFF"/>
                          </a:solidFill>
                          <a:latin typeface="DejaVu Sans"/>
                          <a:ea typeface="DejaVu Sans"/>
                          <a:cs typeface="DejaVu Sans"/>
                        </a:rPr>
                        <a:t>Studio Desktop, gdy…</a:t>
                      </a:r>
                    </a:p>
                  </a:txBody>
                  <a:tcPr>
                    <a:solidFill>
                      <a:srgbClr val="142F47"/>
                    </a:solidFill>
                  </a:tcPr>
                </a:tc>
                <a:tc>
                  <a:txBody>
                    <a:bodyPr/>
                    <a:lstStyle/>
                    <a:p>
                      <a:r>
                        <a:rPr sz="1600" b="1">
                          <a:solidFill>
                            <a:srgbClr val="FFFFFF"/>
                          </a:solidFill>
                          <a:latin typeface="DejaVu Sans"/>
                          <a:ea typeface="DejaVu Sans"/>
                          <a:cs typeface="DejaVu Sans"/>
                        </a:rPr>
                        <a:t>Studio Web, gdy…</a:t>
                      </a:r>
                    </a:p>
                  </a:txBody>
                  <a:tcPr>
                    <a:solidFill>
                      <a:srgbClr val="142F47"/>
                    </a:solidFill>
                  </a:tcPr>
                </a:tc>
                <a:extLst>
                  <a:ext uri="{0D108BD9-81ED-4DB2-BD59-A6C34878D82A}">
                    <a16:rowId xmlns:a16="http://schemas.microsoft.com/office/drawing/2014/main" val="10000"/>
                  </a:ext>
                </a:extLst>
              </a:tr>
              <a:tr h="600000">
                <a:tc>
                  <a:txBody>
                    <a:bodyPr/>
                    <a:lstStyle/>
                    <a:p>
                      <a:r>
                        <a:rPr sz="1500" b="0">
                          <a:solidFill>
                            <a:srgbClr val="142F47"/>
                          </a:solidFill>
                          <a:latin typeface="DejaVu Sans"/>
                          <a:ea typeface="DejaVu Sans"/>
                          <a:cs typeface="DejaVu Sans"/>
                        </a:rPr>
                        <a:t>automatyzujesz SAP GUI, Citrix, Win32</a:t>
                      </a:r>
                    </a:p>
                  </a:txBody>
                  <a:tcPr>
                    <a:solidFill>
                      <a:srgbClr val="FFFFFF"/>
                    </a:solidFill>
                  </a:tcPr>
                </a:tc>
                <a:tc>
                  <a:txBody>
                    <a:bodyPr/>
                    <a:lstStyle/>
                    <a:p>
                      <a:r>
                        <a:rPr sz="1500" b="0">
                          <a:solidFill>
                            <a:srgbClr val="142F47"/>
                          </a:solidFill>
                          <a:latin typeface="DejaVu Sans"/>
                          <a:ea typeface="DejaVu Sans"/>
                          <a:cs typeface="DejaVu Sans"/>
                        </a:rPr>
                        <a:t>budujesz agenta lub proces Maestro</a:t>
                      </a:r>
                    </a:p>
                  </a:txBody>
                  <a:tcPr>
                    <a:solidFill>
                      <a:srgbClr val="FFFFFF"/>
                    </a:solidFill>
                  </a:tcPr>
                </a:tc>
                <a:extLst>
                  <a:ext uri="{0D108BD9-81ED-4DB2-BD59-A6C34878D82A}">
                    <a16:rowId xmlns:a16="http://schemas.microsoft.com/office/drawing/2014/main" val="10001"/>
                  </a:ext>
                </a:extLst>
              </a:tr>
              <a:tr h="600000">
                <a:tc>
                  <a:txBody>
                    <a:bodyPr/>
                    <a:lstStyle/>
                    <a:p>
                      <a:r>
                        <a:rPr sz="1500" b="0">
                          <a:solidFill>
                            <a:srgbClr val="142F47"/>
                          </a:solidFill>
                          <a:latin typeface="DejaVu Sans"/>
                          <a:ea typeface="DejaVu Sans"/>
                          <a:cs typeface="DejaVu Sans"/>
                        </a:rPr>
                        <a:t>potrzebujesz Excela/Office, Object Repository</a:t>
                      </a:r>
                    </a:p>
                  </a:txBody>
                  <a:tcPr>
                    <a:solidFill>
                      <a:srgbClr val="EEF1F1"/>
                    </a:solidFill>
                  </a:tcPr>
                </a:tc>
                <a:tc>
                  <a:txBody>
                    <a:bodyPr/>
                    <a:lstStyle/>
                    <a:p>
                      <a:r>
                        <a:rPr sz="1500" b="0">
                          <a:solidFill>
                            <a:srgbClr val="142F47"/>
                          </a:solidFill>
                          <a:latin typeface="DejaVu Sans"/>
                          <a:ea typeface="DejaVu Sans"/>
                          <a:cs typeface="DejaVu Sans"/>
                        </a:rPr>
                        <a:t>integrujesz aplikacje SaaS i API</a:t>
                      </a:r>
                    </a:p>
                  </a:txBody>
                  <a:tcPr>
                    <a:solidFill>
                      <a:srgbClr val="EEF1F1"/>
                    </a:solidFill>
                  </a:tcPr>
                </a:tc>
                <a:extLst>
                  <a:ext uri="{0D108BD9-81ED-4DB2-BD59-A6C34878D82A}">
                    <a16:rowId xmlns:a16="http://schemas.microsoft.com/office/drawing/2014/main" val="2176247507"/>
                  </a:ext>
                </a:extLst>
              </a:tr>
              <a:tr h="600000">
                <a:tc>
                  <a:txBody>
                    <a:bodyPr/>
                    <a:lstStyle/>
                    <a:p>
                      <a:r>
                        <a:rPr sz="1500" b="0">
                          <a:solidFill>
                            <a:srgbClr val="142F47"/>
                          </a:solidFill>
                          <a:latin typeface="DejaVu Sans"/>
                          <a:ea typeface="DejaVu Sans"/>
                          <a:cs typeface="DejaVu Sans"/>
                        </a:rPr>
                        <a:t>piszesz bibliotekę lub coded workflow</a:t>
                      </a:r>
                    </a:p>
                  </a:txBody>
                  <a:tcPr>
                    <a:solidFill>
                      <a:srgbClr val="FFFFFF"/>
                    </a:solidFill>
                  </a:tcPr>
                </a:tc>
                <a:tc>
                  <a:txBody>
                    <a:bodyPr/>
                    <a:lstStyle/>
                    <a:p>
                      <a:r>
                        <a:rPr sz="1500" b="0">
                          <a:solidFill>
                            <a:srgbClr val="142F47"/>
                          </a:solidFill>
                          <a:latin typeface="DejaVu Sans"/>
                          <a:ea typeface="DejaVu Sans"/>
                          <a:cs typeface="DejaVu Sans"/>
                        </a:rPr>
                        <a:t>składasz rozwiązanie z wielu komponentów</a:t>
                      </a:r>
                    </a:p>
                  </a:txBody>
                  <a:tcPr>
                    <a:solidFill>
                      <a:srgbClr val="FFFFFF"/>
                    </a:solidFill>
                  </a:tcPr>
                </a:tc>
                <a:extLst>
                  <a:ext uri="{0D108BD9-81ED-4DB2-BD59-A6C34878D82A}">
                    <a16:rowId xmlns:a16="http://schemas.microsoft.com/office/drawing/2014/main" val="3209953509"/>
                  </a:ext>
                </a:extLst>
              </a:tr>
              <a:tr h="600000">
                <a:tc>
                  <a:txBody>
                    <a:bodyPr/>
                    <a:lstStyle/>
                    <a:p>
                      <a:r>
                        <a:rPr sz="1500" b="0">
                          <a:solidFill>
                            <a:srgbClr val="142F47"/>
                          </a:solidFill>
                          <a:latin typeface="DejaVu Sans"/>
                          <a:ea typeface="DejaVu Sans"/>
                          <a:cs typeface="DejaVu Sans"/>
                        </a:rPr>
                        <a:t>potrzebujesz pełnego debugowania, testów, Git</a:t>
                      </a:r>
                    </a:p>
                  </a:txBody>
                  <a:tcPr>
                    <a:solidFill>
                      <a:srgbClr val="EEF1F1"/>
                    </a:solidFill>
                  </a:tcPr>
                </a:tc>
                <a:tc>
                  <a:txBody>
                    <a:bodyPr/>
                    <a:lstStyle/>
                    <a:p>
                      <a:r>
                        <a:rPr sz="1500" b="0">
                          <a:solidFill>
                            <a:srgbClr val="142F47"/>
                          </a:solidFill>
                          <a:latin typeface="DejaVu Sans"/>
                          <a:ea typeface="DejaVu Sans"/>
                          <a:cs typeface="DejaVu Sans"/>
                        </a:rPr>
                        <a:t>prototypujesz razem z analitykiem</a:t>
                      </a:r>
                    </a:p>
                  </a:txBody>
                  <a:tcPr>
                    <a:solidFill>
                      <a:srgbClr val="EEF1F1"/>
                    </a:solidFill>
                  </a:tcPr>
                </a:tc>
                <a:extLst>
                  <a:ext uri="{0D108BD9-81ED-4DB2-BD59-A6C34878D82A}">
                    <a16:rowId xmlns:a16="http://schemas.microsoft.com/office/drawing/2014/main" val="1272408364"/>
                  </a:ext>
                </a:extLst>
              </a:tr>
            </a:tbl>
          </a:graphicData>
        </a:graphic>
      </p:graphicFrame>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6500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Robot do trudnego UI powstaje w Desktop. Agent i orkiestracja w Web. Spotykają się w Orchestratorze.</a:t>
            </a:r>
          </a:p>
        </p:txBody>
      </p:sp>
      <p:sp>
        <p:nvSpPr>
          <p:cNvPr id="19" name="Rectangle 1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06</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Desktop też pracuje z AI i agentami</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000" b="0">
                <a:solidFill>
                  <a:srgbClr val="142F47"/>
                </a:solidFill>
                <a:latin typeface="DejaVu Sans"/>
              </a:rPr>
              <a:t>GenAI Activities są dostępne także w Desktop; zgodność zależy od projektu i pakietów.</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Proces z Desktop opublikowany do Orchestratora może być narzędziem agenta.</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Projekt: Desktop lub Web. Wdrożenie: Orchestrator. Wykonanie: robot.</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000" b="0">
                <a:solidFill>
                  <a:srgbClr val="142F47"/>
                </a:solidFill>
                <a:latin typeface="DejaVu Sans"/>
                <a:ea typeface="DejaVu Sans"/>
                <a:cs typeface="DejaVu Sans"/>
              </a:rPr>
              <a:t>Desktop uruchamia agenta przez Run Job; Maestro wywołuje procesy z Desktop.</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07</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Agent używa narzędzi z Desktop i z Web</a:t>
            </a:r>
          </a:p>
        </p:txBody>
      </p:sp>
      <p:graphicFrame>
        <p:nvGraphicFramePr>
          <p:cNvPr id="10" name="Table 9"/>
          <p:cNvGraphicFramePr/>
          <p:nvPr/>
        </p:nvGraphicFramePr>
        <p:xfrm>
          <a:off x="723900" y="2333625"/>
          <a:ext cx="10668000" cy="2800000"/>
        </p:xfrm>
        <a:graphic>
          <a:graphicData uri="http://schemas.openxmlformats.org/drawingml/2006/table">
            <a:tbl>
              <a:tblPr/>
              <a:tblGrid>
                <a:gridCol w="3500000">
                  <a:extLst>
                    <a:ext uri="{9D8B030D-6E8A-4147-A177-3AD203B41FA5}">
                      <a16:colId xmlns:a16="http://schemas.microsoft.com/office/drawing/2014/main" val="20000"/>
                    </a:ext>
                  </a:extLst>
                </a:gridCol>
                <a:gridCol w="3000000">
                  <a:extLst>
                    <a:ext uri="{9D8B030D-6E8A-4147-A177-3AD203B41FA5}">
                      <a16:colId xmlns:a16="http://schemas.microsoft.com/office/drawing/2014/main" val="20001"/>
                    </a:ext>
                  </a:extLst>
                </a:gridCol>
                <a:gridCol w="4168000">
                  <a:extLst>
                    <a:ext uri="{9D8B030D-6E8A-4147-A177-3AD203B41FA5}">
                      <a16:colId xmlns:a16="http://schemas.microsoft.com/office/drawing/2014/main" val="20002"/>
                    </a:ext>
                  </a:extLst>
                </a:gridCol>
              </a:tblGrid>
              <a:tr h="560000">
                <a:tc>
                  <a:txBody>
                    <a:bodyPr/>
                    <a:lstStyle/>
                    <a:p>
                      <a:r>
                        <a:rPr sz="1600" b="1">
                          <a:solidFill>
                            <a:srgbClr val="FFFFFF"/>
                          </a:solidFill>
                          <a:latin typeface="DejaVu Sans"/>
                          <a:ea typeface="DejaVu Sans"/>
                          <a:cs typeface="DejaVu Sans"/>
                        </a:rPr>
                        <a:t>Narzędzie</a:t>
                      </a:r>
                    </a:p>
                  </a:txBody>
                  <a:tcPr>
                    <a:solidFill>
                      <a:srgbClr val="142F47"/>
                    </a:solidFill>
                  </a:tcPr>
                </a:tc>
                <a:tc>
                  <a:txBody>
                    <a:bodyPr/>
                    <a:lstStyle/>
                    <a:p>
                      <a:r>
                        <a:rPr sz="1600" b="1">
                          <a:solidFill>
                            <a:srgbClr val="FFFFFF"/>
                          </a:solidFill>
                          <a:latin typeface="DejaVu Sans"/>
                          <a:ea typeface="DejaVu Sans"/>
                          <a:cs typeface="DejaVu Sans"/>
                        </a:rPr>
                        <a:t>Gdzie powstaje</a:t>
                      </a:r>
                    </a:p>
                  </a:txBody>
                  <a:tcPr>
                    <a:solidFill>
                      <a:srgbClr val="142F47"/>
                    </a:solidFill>
                  </a:tcPr>
                </a:tc>
                <a:tc>
                  <a:txBody>
                    <a:bodyPr/>
                    <a:lstStyle/>
                    <a:p>
                      <a:r>
                        <a:rPr sz="1600" b="1">
                          <a:solidFill>
                            <a:srgbClr val="FFFFFF"/>
                          </a:solidFill>
                          <a:latin typeface="DejaVu Sans"/>
                          <a:ea typeface="DejaVu Sans"/>
                          <a:cs typeface="DejaVu Sans"/>
                        </a:rPr>
                        <a:t>Jak działa</a:t>
                      </a:r>
                    </a:p>
                  </a:txBody>
                  <a:tcPr>
                    <a:solidFill>
                      <a:srgbClr val="142F47"/>
                    </a:solidFill>
                  </a:tcPr>
                </a:tc>
                <a:extLst>
                  <a:ext uri="{0D108BD9-81ED-4DB2-BD59-A6C34878D82A}">
                    <a16:rowId xmlns:a16="http://schemas.microsoft.com/office/drawing/2014/main" val="10000"/>
                  </a:ext>
                </a:extLst>
              </a:tr>
              <a:tr h="560000">
                <a:tc>
                  <a:txBody>
                    <a:bodyPr/>
                    <a:lstStyle/>
                    <a:p>
                      <a:r>
                        <a:rPr sz="1500" b="0">
                          <a:solidFill>
                            <a:srgbClr val="142F47"/>
                          </a:solidFill>
                          <a:latin typeface="DejaVu Sans"/>
                          <a:ea typeface="DejaVu Sans"/>
                          <a:cs typeface="DejaVu Sans"/>
                        </a:rPr>
                        <a:t>GetTicketStatus</a:t>
                      </a:r>
                    </a:p>
                  </a:txBody>
                  <a:tcPr>
                    <a:solidFill>
                      <a:srgbClr val="FFFFFF"/>
                    </a:solidFill>
                  </a:tcPr>
                </a:tc>
                <a:tc>
                  <a:txBody>
                    <a:bodyPr/>
                    <a:lstStyle/>
                    <a:p>
                      <a:r>
                        <a:rPr sz="1500" b="0">
                          <a:solidFill>
                            <a:srgbClr val="142F47"/>
                          </a:solidFill>
                          <a:latin typeface="DejaVu Sans"/>
                          <a:ea typeface="DejaVu Sans"/>
                          <a:cs typeface="DejaVu Sans"/>
                        </a:rPr>
                        <a:t>Studio Desktop</a:t>
                      </a:r>
                    </a:p>
                  </a:txBody>
                  <a:tcPr>
                    <a:solidFill>
                      <a:srgbClr val="FFFFFF"/>
                    </a:solidFill>
                  </a:tcPr>
                </a:tc>
                <a:tc>
                  <a:txBody>
                    <a:bodyPr/>
                    <a:lstStyle/>
                    <a:p>
                      <a:r>
                        <a:rPr sz="1500" b="0">
                          <a:solidFill>
                            <a:srgbClr val="142F47"/>
                          </a:solidFill>
                          <a:latin typeface="DejaVu Sans"/>
                          <a:ea typeface="DejaVu Sans"/>
                          <a:cs typeface="DejaVu Sans"/>
                        </a:rPr>
                        <a:t>Publish → proces w folderze → robot</a:t>
                      </a:r>
                    </a:p>
                  </a:txBody>
                  <a:tcPr>
                    <a:solidFill>
                      <a:srgbClr val="FFFFFF"/>
                    </a:solidFill>
                  </a:tcPr>
                </a:tc>
                <a:extLst>
                  <a:ext uri="{0D108BD9-81ED-4DB2-BD59-A6C34878D82A}">
                    <a16:rowId xmlns:a16="http://schemas.microsoft.com/office/drawing/2014/main" val="10001"/>
                  </a:ext>
                </a:extLst>
              </a:tr>
              <a:tr h="560000">
                <a:tc>
                  <a:txBody>
                    <a:bodyPr/>
                    <a:lstStyle/>
                    <a:p>
                      <a:r>
                        <a:rPr sz="1500" b="0">
                          <a:solidFill>
                            <a:srgbClr val="142F47"/>
                          </a:solidFill>
                          <a:latin typeface="DejaVu Sans"/>
                          <a:ea typeface="DejaVu Sans"/>
                          <a:cs typeface="DejaVu Sans"/>
                        </a:rPr>
                        <a:t>GetServiceStatus</a:t>
                      </a:r>
                    </a:p>
                  </a:txBody>
                  <a:tcPr>
                    <a:solidFill>
                      <a:srgbClr val="EEF1F1"/>
                    </a:solidFill>
                  </a:tcPr>
                </a:tc>
                <a:tc>
                  <a:txBody>
                    <a:bodyPr/>
                    <a:lstStyle/>
                    <a:p>
                      <a:r>
                        <a:rPr sz="1500" b="0">
                          <a:solidFill>
                            <a:srgbClr val="142F47"/>
                          </a:solidFill>
                          <a:latin typeface="DejaVu Sans"/>
                          <a:ea typeface="DejaVu Sans"/>
                          <a:cs typeface="DejaVu Sans"/>
                        </a:rPr>
                        <a:t>Studio Web</a:t>
                      </a:r>
                    </a:p>
                  </a:txBody>
                  <a:tcPr>
                    <a:solidFill>
                      <a:srgbClr val="EEF1F1"/>
                    </a:solidFill>
                  </a:tcPr>
                </a:tc>
                <a:tc>
                  <a:txBody>
                    <a:bodyPr/>
                    <a:lstStyle/>
                    <a:p>
                      <a:r>
                        <a:rPr sz="1500" b="0">
                          <a:solidFill>
                            <a:srgbClr val="142F47"/>
                          </a:solidFill>
                          <a:latin typeface="DejaVu Sans"/>
                          <a:ea typeface="DejaVu Sans"/>
                          <a:cs typeface="DejaVu Sans"/>
                        </a:rPr>
                        <a:t>Projekt w rozwiązaniu → robot</a:t>
                      </a:r>
                    </a:p>
                  </a:txBody>
                  <a:tcPr>
                    <a:solidFill>
                      <a:srgbClr val="EEF1F1"/>
                    </a:solidFill>
                  </a:tcPr>
                </a:tc>
                <a:extLst>
                  <a:ext uri="{0D108BD9-81ED-4DB2-BD59-A6C34878D82A}">
                    <a16:rowId xmlns:a16="http://schemas.microsoft.com/office/drawing/2014/main" val="10002"/>
                  </a:ext>
                </a:extLst>
              </a:tr>
              <a:tr h="560000">
                <a:tc>
                  <a:txBody>
                    <a:bodyPr/>
                    <a:lstStyle/>
                    <a:p>
                      <a:r>
                        <a:rPr sz="1500" b="0">
                          <a:solidFill>
                            <a:srgbClr val="142F47"/>
                          </a:solidFill>
                          <a:latin typeface="DejaVu Sans"/>
                          <a:ea typeface="DejaVu Sans"/>
                          <a:cs typeface="DejaVu Sans"/>
                        </a:rPr>
                        <a:t>FindKnownIssue</a:t>
                      </a:r>
                    </a:p>
                  </a:txBody>
                  <a:tcPr>
                    <a:solidFill>
                      <a:srgbClr val="FFFFFF"/>
                    </a:solidFill>
                  </a:tcPr>
                </a:tc>
                <a:tc>
                  <a:txBody>
                    <a:bodyPr/>
                    <a:lstStyle/>
                    <a:p>
                      <a:r>
                        <a:rPr sz="1500" b="0">
                          <a:solidFill>
                            <a:srgbClr val="142F47"/>
                          </a:solidFill>
                          <a:latin typeface="DejaVu Sans"/>
                          <a:ea typeface="DejaVu Sans"/>
                          <a:cs typeface="DejaVu Sans"/>
                        </a:rPr>
                        <a:t>Studio Web</a:t>
                      </a:r>
                    </a:p>
                  </a:txBody>
                  <a:tcPr>
                    <a:solidFill>
                      <a:srgbClr val="FFFFFF"/>
                    </a:solidFill>
                  </a:tcPr>
                </a:tc>
                <a:tc>
                  <a:txBody>
                    <a:bodyPr/>
                    <a:lstStyle/>
                    <a:p>
                      <a:r>
                        <a:rPr sz="1500" b="0">
                          <a:solidFill>
                            <a:srgbClr val="142F47"/>
                          </a:solidFill>
                          <a:latin typeface="DejaVu Sans"/>
                          <a:ea typeface="DejaVu Sans"/>
                          <a:cs typeface="DejaVu Sans"/>
                        </a:rPr>
                        <a:t>GenAI Activities w narzędziu</a:t>
                      </a:r>
                    </a:p>
                  </a:txBody>
                  <a:tcPr>
                    <a:solidFill>
                      <a:srgbClr val="FFFFFF"/>
                    </a:solidFill>
                  </a:tcPr>
                </a:tc>
                <a:extLst>
                  <a:ext uri="{0D108BD9-81ED-4DB2-BD59-A6C34878D82A}">
                    <a16:rowId xmlns:a16="http://schemas.microsoft.com/office/drawing/2014/main" val="10003"/>
                  </a:ext>
                </a:extLst>
              </a:tr>
              <a:tr h="560000">
                <a:tc>
                  <a:txBody>
                    <a:bodyPr/>
                    <a:lstStyle/>
                    <a:p>
                      <a:r>
                        <a:rPr sz="1500" b="0">
                          <a:solidFill>
                            <a:srgbClr val="142F47"/>
                          </a:solidFill>
                          <a:latin typeface="DejaVu Sans"/>
                          <a:ea typeface="DejaVu Sans"/>
                          <a:cs typeface="DejaVu Sans"/>
                        </a:rPr>
                        <a:t>Pokaz: GetTicketStatus_Windows</a:t>
                      </a:r>
                    </a:p>
                  </a:txBody>
                  <a:tcPr>
                    <a:solidFill>
                      <a:srgbClr val="EEF1F1"/>
                    </a:solidFill>
                  </a:tcPr>
                </a:tc>
                <a:tc>
                  <a:txBody>
                    <a:bodyPr/>
                    <a:lstStyle/>
                    <a:p>
                      <a:r>
                        <a:rPr sz="1500" b="0">
                          <a:solidFill>
                            <a:srgbClr val="142F47"/>
                          </a:solidFill>
                          <a:latin typeface="DejaVu Sans"/>
                          <a:ea typeface="DejaVu Sans"/>
                          <a:cs typeface="DejaVu Sans"/>
                        </a:rPr>
                        <a:t>Studio Desktop (Windows)</a:t>
                      </a:r>
                    </a:p>
                  </a:txBody>
                  <a:tcPr>
                    <a:solidFill>
                      <a:srgbClr val="EEF1F1"/>
                    </a:solidFill>
                  </a:tcPr>
                </a:tc>
                <a:tc>
                  <a:txBody>
                    <a:bodyPr/>
                    <a:lstStyle/>
                    <a:p>
                      <a:r>
                        <a:rPr sz="1500" b="0">
                          <a:solidFill>
                            <a:srgbClr val="142F47"/>
                          </a:solidFill>
                          <a:latin typeface="DejaVu Sans"/>
                          <a:ea typeface="DejaVu Sans"/>
                          <a:cs typeface="DejaVu Sans"/>
                        </a:rPr>
                        <a:t>Robot unattended prowadzącego</a:t>
                      </a:r>
                    </a:p>
                  </a:txBody>
                  <a:tcPr>
                    <a:solidFill>
                      <a:srgbClr val="EEF1F1"/>
                    </a:solidFill>
                  </a:tcPr>
                </a:tc>
                <a:extLst>
                  <a:ext uri="{0D108BD9-81ED-4DB2-BD59-A6C34878D82A}">
                    <a16:rowId xmlns:a16="http://schemas.microsoft.com/office/drawing/2014/main" val="10004"/>
                  </a:ext>
                </a:extLst>
              </a:tr>
            </a:tbl>
          </a:graphicData>
        </a:graphic>
      </p:graphicFrame>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4000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Agent widzi kontrakt narzędzia, nie Studio, w którym je zbudowano. Które jest „bardziej agentowe”? Żadne.</a:t>
            </a:r>
          </a:p>
        </p:txBody>
      </p:sp>
      <p:sp>
        <p:nvSpPr>
          <p:cNvPr id="19" name="Rectangle 1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D200-9511-42BB-82A5-9B2216EBCAD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2A813AF-CC3E-4726-A06C-716FA71C1B9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08</a:t>
            </a:r>
          </a:p>
        </p:txBody>
      </p:sp>
      <p:sp>
        <p:nvSpPr>
          <p:cNvPr id="3" name="Rectangle 2">
            <a:extLst>
              <a:ext uri="{FF2B5EF4-FFF2-40B4-BE49-F238E27FC236}">
                <a16:creationId xmlns:a16="http://schemas.microsoft.com/office/drawing/2014/main" id="{4F072D8E-60B5-4EA6-8B3A-CF7B30EF374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Zgłoszenie, które będziemy obsługiwać</a:t>
            </a:r>
          </a:p>
        </p:txBody>
      </p:sp>
      <p:sp>
        <p:nvSpPr>
          <p:cNvPr id="4" name="Rectangle 3">
            <a:extLst>
              <a:ext uri="{FF2B5EF4-FFF2-40B4-BE49-F238E27FC236}">
                <a16:creationId xmlns:a16="http://schemas.microsoft.com/office/drawing/2014/main" id="{1FBCFD7A-FD45-4473-B434-94F1DF8AD69B}"/>
              </a:ext>
            </a:extLst>
          </p:cNvPr>
          <p:cNvSpPr>
            <a:spLocks noGrp="1"/>
          </p:cNvSpPr>
          <p:nvPr/>
        </p:nvSpPr>
        <p:spPr>
          <a:xfrm>
            <a:off x="723900" y="2286000"/>
            <a:ext cx="10477500" cy="1666875"/>
          </a:xfrm>
          <a:prstGeom prst="rect">
            <a:avLst/>
          </a:prstGeom>
          <a:noFill/>
          <a:ln w="0">
            <a:noFill/>
          </a:ln>
        </p:spPr>
        <p:txBody>
          <a:bodyPr>
            <a:noAutofit/>
          </a:bodyPr>
          <a:lstStyle/>
          <a:p>
            <a:pPr>
              <a:buNone/>
              <a:defRPr sz="3000" b="1">
                <a:solidFill>
                  <a:srgbClr val="087F8C"/>
                </a:solidFill>
                <a:latin typeface="DejaVu Sans"/>
                <a:ea typeface="DejaVu Sans"/>
                <a:cs typeface="DejaVu Sans"/>
              </a:defRPr>
            </a:pPr>
            <a:r>
              <a:rPr sz="3000" b="1">
                <a:solidFill>
                  <a:srgbClr val="087F8C"/>
                </a:solidFill>
                <a:latin typeface="DejaVu Sans"/>
                <a:ea typeface="DejaVu Sans"/>
                <a:cs typeface="DejaVu Sans"/>
              </a:rPr>
              <a:t>„Eksport raportu sprzedaży za ostatnie 60 dni kończy się błędem 500.”</a:t>
            </a:r>
          </a:p>
        </p:txBody>
      </p:sp>
      <p:sp>
        <p:nvSpPr>
          <p:cNvPr id="5" name="Rectangle 4">
            <a:extLst>
              <a:ext uri="{FF2B5EF4-FFF2-40B4-BE49-F238E27FC236}">
                <a16:creationId xmlns:a16="http://schemas.microsoft.com/office/drawing/2014/main" id="{3A20C02E-466C-4F67-BC8D-5F17AFF211E5}"/>
              </a:ext>
            </a:extLst>
          </p:cNvPr>
          <p:cNvSpPr>
            <a:spLocks noGrp="1"/>
          </p:cNvSpPr>
          <p:nvPr/>
        </p:nvSpPr>
        <p:spPr>
          <a:xfrm>
            <a:off x="742950" y="4238625"/>
            <a:ext cx="10382250" cy="1524000"/>
          </a:xfrm>
          <a:prstGeom prst="rect">
            <a:avLst/>
          </a:prstGeom>
          <a:noFill/>
          <a:ln w="0">
            <a:noFill/>
          </a:ln>
        </p:spPr>
        <p:txBody>
          <a:bodyPr>
            <a:noAutofit/>
          </a:bodyPr>
          <a:lstStyle/>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Co musimy zrozumieć?</a:t>
            </a:r>
          </a:p>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Które informacje trzeba sprawdzić?</a:t>
            </a:r>
          </a:p>
          <a:p>
            <a:pPr>
              <a:buNone/>
              <a:defRPr sz="2175" b="0">
                <a:solidFill>
                  <a:srgbClr val="142F47"/>
                </a:solidFill>
                <a:latin typeface="DejaVu Sans"/>
                <a:ea typeface="DejaVu Sans"/>
                <a:cs typeface="DejaVu Sans"/>
              </a:defRPr>
            </a:pPr>
            <a:r>
              <a:rPr sz="2175" b="0">
                <a:solidFill>
                  <a:srgbClr val="142F47"/>
                </a:solidFill>
                <a:latin typeface="DejaVu Sans"/>
                <a:ea typeface="DejaVu Sans"/>
                <a:cs typeface="DejaVu Sans"/>
              </a:rPr>
              <a:t>Kto może podjąć dalszą decyzję?</a:t>
            </a:r>
          </a:p>
        </p:txBody>
      </p:sp>
      <p:sp>
        <p:nvSpPr>
          <p:cNvPr id="7" name="Rectangle 6"/>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552551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31" name="Straight Arrow Connector 30"/>
          <p:cNvCxnSpPr>
            <a:stCxn id="20" idx="3"/>
            <a:endCxn id="21" idx="1"/>
          </p:cNvCxnSpPr>
          <p:nvPr/>
        </p:nvCxnSpPr>
        <p:spPr>
          <a:xfrm>
            <a:off x="8524875" y="4891088"/>
            <a:ext cx="857250" cy="0"/>
          </a:xfrm>
          <a:prstGeom prst="straightConnector1">
            <a:avLst/>
          </a:prstGeom>
          <a:ln w="28575">
            <a:solidFill>
              <a:srgbClr val="087F8C"/>
            </a:solidFill>
            <a:tailEnd type="triangle" w="sm" len="sm"/>
          </a:ln>
        </p:spPr>
      </p:cxnSp>
      <p:cxnSp>
        <p:nvCxnSpPr>
          <p:cNvPr id="32" name="Straight Arrow Connector 31"/>
          <p:cNvCxnSpPr>
            <a:stCxn id="19" idx="3"/>
            <a:endCxn id="20" idx="1"/>
          </p:cNvCxnSpPr>
          <p:nvPr/>
        </p:nvCxnSpPr>
        <p:spPr>
          <a:xfrm>
            <a:off x="5429250" y="4891088"/>
            <a:ext cx="857250" cy="0"/>
          </a:xfrm>
          <a:prstGeom prst="straightConnector1">
            <a:avLst/>
          </a:prstGeom>
          <a:ln w="28575">
            <a:solidFill>
              <a:srgbClr val="087F8C"/>
            </a:solidFill>
            <a:tailEnd type="triangle" w="sm" len="sm"/>
          </a:ln>
        </p:spPr>
      </p:cxnSp>
      <p:cxnSp>
        <p:nvCxnSpPr>
          <p:cNvPr id="33" name="Straight Arrow Connector 32"/>
          <p:cNvCxnSpPr>
            <a:stCxn id="14" idx="3"/>
            <a:endCxn id="15" idx="1"/>
          </p:cNvCxnSpPr>
          <p:nvPr/>
        </p:nvCxnSpPr>
        <p:spPr>
          <a:xfrm>
            <a:off x="8524875" y="3786188"/>
            <a:ext cx="857250" cy="0"/>
          </a:xfrm>
          <a:prstGeom prst="straightConnector1">
            <a:avLst/>
          </a:prstGeom>
          <a:ln w="28575">
            <a:solidFill>
              <a:srgbClr val="087F8C"/>
            </a:solidFill>
            <a:tailEnd type="triangle" w="sm" len="sm"/>
          </a:ln>
        </p:spPr>
      </p:cxnSp>
      <p:cxnSp>
        <p:nvCxnSpPr>
          <p:cNvPr id="34" name="Straight Arrow Connector 33"/>
          <p:cNvCxnSpPr>
            <a:stCxn id="13" idx="3"/>
            <a:endCxn id="14" idx="1"/>
          </p:cNvCxnSpPr>
          <p:nvPr/>
        </p:nvCxnSpPr>
        <p:spPr>
          <a:xfrm>
            <a:off x="5429250" y="3786188"/>
            <a:ext cx="857250" cy="0"/>
          </a:xfrm>
          <a:prstGeom prst="straightConnector1">
            <a:avLst/>
          </a:prstGeom>
          <a:ln w="28575">
            <a:solidFill>
              <a:srgbClr val="087F8C"/>
            </a:solidFill>
            <a:tailEnd type="triangle" w="sm" len="sm"/>
          </a:ln>
        </p:spPr>
      </p:cxnSp>
      <p:cxnSp>
        <p:nvCxnSpPr>
          <p:cNvPr id="35" name="Straight Arrow Connector 34"/>
          <p:cNvCxnSpPr>
            <a:stCxn id="8" idx="3"/>
            <a:endCxn id="9" idx="1"/>
          </p:cNvCxnSpPr>
          <p:nvPr/>
        </p:nvCxnSpPr>
        <p:spPr>
          <a:xfrm>
            <a:off x="8524875" y="2681288"/>
            <a:ext cx="857250" cy="0"/>
          </a:xfrm>
          <a:prstGeom prst="straightConnector1">
            <a:avLst/>
          </a:prstGeom>
          <a:ln w="28575">
            <a:solidFill>
              <a:srgbClr val="087F8C"/>
            </a:solidFill>
            <a:tailEnd type="triangle" w="sm" len="sm"/>
          </a:ln>
        </p:spPr>
      </p:cxnSp>
      <p:cxnSp>
        <p:nvCxnSpPr>
          <p:cNvPr id="36" name="Straight Arrow Connector 35"/>
          <p:cNvCxnSpPr>
            <a:stCxn id="7" idx="3"/>
            <a:endCxn id="8" idx="1"/>
          </p:cNvCxnSpPr>
          <p:nvPr/>
        </p:nvCxnSpPr>
        <p:spPr>
          <a:xfrm>
            <a:off x="5429250" y="2681288"/>
            <a:ext cx="857250" cy="0"/>
          </a:xfrm>
          <a:prstGeom prst="straightConnector1">
            <a:avLst/>
          </a:prstGeom>
          <a:ln w="28575">
            <a:solidFill>
              <a:srgbClr val="087F8C"/>
            </a:solidFill>
            <a:tailEnd type="triangle" w="sm" len="sm"/>
          </a:ln>
        </p:spPr>
      </p:cxnSp>
      <p:sp>
        <p:nvSpPr>
          <p:cNvPr id="5" name="Rectangle 4">
            <a:extLst>
              <a:ext uri="{FF2B5EF4-FFF2-40B4-BE49-F238E27FC236}">
                <a16:creationId xmlns:a16="http://schemas.microsoft.com/office/drawing/2014/main" id="{925A7E16-2679-4AE4-8DC3-6759A78B348C}"/>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E3A9A692-336E-4351-AFC1-CEA15EC66B2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09</a:t>
            </a:r>
          </a:p>
        </p:txBody>
      </p:sp>
      <p:sp>
        <p:nvSpPr>
          <p:cNvPr id="3" name="Rectangle 2">
            <a:extLst>
              <a:ext uri="{FF2B5EF4-FFF2-40B4-BE49-F238E27FC236}">
                <a16:creationId xmlns:a16="http://schemas.microsoft.com/office/drawing/2014/main" id="{60D46256-6FB1-4F7C-BFDE-4B0FC74B7BA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Reguły, wywołanie AI i agent</a:t>
            </a:r>
          </a:p>
        </p:txBody>
      </p:sp>
      <p:sp>
        <p:nvSpPr>
          <p:cNvPr id="6" name="Rectangle 5">
            <a:extLst>
              <a:ext uri="{FF2B5EF4-FFF2-40B4-BE49-F238E27FC236}">
                <a16:creationId xmlns:a16="http://schemas.microsoft.com/office/drawing/2014/main" id="{61A42531-0D29-412B-8686-57CFA5E85F5C}"/>
              </a:ext>
            </a:extLst>
          </p:cNvPr>
          <p:cNvSpPr>
            <a:spLocks noGrp="1"/>
          </p:cNvSpPr>
          <p:nvPr/>
        </p:nvSpPr>
        <p:spPr>
          <a:xfrm>
            <a:off x="723900" y="24574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Reguły</a:t>
            </a:r>
          </a:p>
        </p:txBody>
      </p:sp>
      <p:sp>
        <p:nvSpPr>
          <p:cNvPr id="7" name="Rectangle: Rounded Corners 6">
            <a:extLst>
              <a:ext uri="{FF2B5EF4-FFF2-40B4-BE49-F238E27FC236}">
                <a16:creationId xmlns:a16="http://schemas.microsoft.com/office/drawing/2014/main" id="{E50C9D7A-9B15-4A48-B28E-57E778373603}"/>
              </a:ext>
            </a:extLst>
          </p:cNvPr>
          <p:cNvSpPr>
            <a:spLocks noGrp="1"/>
          </p:cNvSpPr>
          <p:nvPr/>
        </p:nvSpPr>
        <p:spPr>
          <a:xfrm>
            <a:off x="3238500" y="22860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Dane</a:t>
            </a:r>
          </a:p>
        </p:txBody>
      </p:sp>
      <p:sp>
        <p:nvSpPr>
          <p:cNvPr id="8" name="Rectangle: Rounded Corners 7">
            <a:extLst>
              <a:ext uri="{FF2B5EF4-FFF2-40B4-BE49-F238E27FC236}">
                <a16:creationId xmlns:a16="http://schemas.microsoft.com/office/drawing/2014/main" id="{968BFC45-81D1-4D52-8DB9-2A94DDB08A4E}"/>
              </a:ext>
            </a:extLst>
          </p:cNvPr>
          <p:cNvSpPr>
            <a:spLocks noGrp="1"/>
          </p:cNvSpPr>
          <p:nvPr/>
        </p:nvSpPr>
        <p:spPr>
          <a:xfrm>
            <a:off x="6286500" y="22860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Warunek If</a:t>
            </a:r>
          </a:p>
        </p:txBody>
      </p:sp>
      <p:sp>
        <p:nvSpPr>
          <p:cNvPr id="9" name="Rectangle: Rounded Corners 8">
            <a:extLst>
              <a:ext uri="{FF2B5EF4-FFF2-40B4-BE49-F238E27FC236}">
                <a16:creationId xmlns:a16="http://schemas.microsoft.com/office/drawing/2014/main" id="{4787BCDF-E60B-48BF-AB2E-D2DD0402F284}"/>
              </a:ext>
            </a:extLst>
          </p:cNvPr>
          <p:cNvSpPr>
            <a:spLocks noGrp="1"/>
          </p:cNvSpPr>
          <p:nvPr/>
        </p:nvSpPr>
        <p:spPr>
          <a:xfrm>
            <a:off x="9382125" y="22860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Działanie</a:t>
            </a:r>
          </a:p>
        </p:txBody>
      </p:sp>
      <p:sp>
        <p:nvSpPr>
          <p:cNvPr id="12" name="Rectangle 11">
            <a:extLst>
              <a:ext uri="{FF2B5EF4-FFF2-40B4-BE49-F238E27FC236}">
                <a16:creationId xmlns:a16="http://schemas.microsoft.com/office/drawing/2014/main" id="{4DA4F43E-1FAF-4CE5-BD33-B85BD95FAB99}"/>
              </a:ext>
            </a:extLst>
          </p:cNvPr>
          <p:cNvSpPr>
            <a:spLocks noGrp="1"/>
          </p:cNvSpPr>
          <p:nvPr/>
        </p:nvSpPr>
        <p:spPr>
          <a:xfrm>
            <a:off x="723900" y="35623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Workflow z AI</a:t>
            </a:r>
          </a:p>
        </p:txBody>
      </p:sp>
      <p:sp>
        <p:nvSpPr>
          <p:cNvPr id="13" name="Rectangle: Rounded Corners 12">
            <a:extLst>
              <a:ext uri="{FF2B5EF4-FFF2-40B4-BE49-F238E27FC236}">
                <a16:creationId xmlns:a16="http://schemas.microsoft.com/office/drawing/2014/main" id="{723C753D-D4E3-4D90-BB77-F2FA02273039}"/>
              </a:ext>
            </a:extLst>
          </p:cNvPr>
          <p:cNvSpPr>
            <a:spLocks noGrp="1"/>
          </p:cNvSpPr>
          <p:nvPr/>
        </p:nvSpPr>
        <p:spPr>
          <a:xfrm>
            <a:off x="3238500" y="33909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Wiadomość</a:t>
            </a:r>
          </a:p>
        </p:txBody>
      </p:sp>
      <p:sp>
        <p:nvSpPr>
          <p:cNvPr id="14" name="Rectangle: Rounded Corners 13">
            <a:extLst>
              <a:ext uri="{FF2B5EF4-FFF2-40B4-BE49-F238E27FC236}">
                <a16:creationId xmlns:a16="http://schemas.microsoft.com/office/drawing/2014/main" id="{830D8FAB-076F-4B21-A440-3615FE8F4564}"/>
              </a:ext>
            </a:extLst>
          </p:cNvPr>
          <p:cNvSpPr>
            <a:spLocks noGrp="1"/>
          </p:cNvSpPr>
          <p:nvPr/>
        </p:nvSpPr>
        <p:spPr>
          <a:xfrm>
            <a:off x="6286500" y="33909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AI: kategoria</a:t>
            </a:r>
          </a:p>
        </p:txBody>
      </p:sp>
      <p:sp>
        <p:nvSpPr>
          <p:cNvPr id="15" name="Rectangle: Rounded Corners 14">
            <a:extLst>
              <a:ext uri="{FF2B5EF4-FFF2-40B4-BE49-F238E27FC236}">
                <a16:creationId xmlns:a16="http://schemas.microsoft.com/office/drawing/2014/main" id="{42C19F40-41E1-463F-B7F8-EA3389E2AFF1}"/>
              </a:ext>
            </a:extLst>
          </p:cNvPr>
          <p:cNvSpPr>
            <a:spLocks noGrp="1"/>
          </p:cNvSpPr>
          <p:nvPr/>
        </p:nvSpPr>
        <p:spPr>
          <a:xfrm>
            <a:off x="9382125" y="33909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Switch i działanie</a:t>
            </a:r>
          </a:p>
        </p:txBody>
      </p:sp>
      <p:sp>
        <p:nvSpPr>
          <p:cNvPr id="18" name="Rectangle 17">
            <a:extLst>
              <a:ext uri="{FF2B5EF4-FFF2-40B4-BE49-F238E27FC236}">
                <a16:creationId xmlns:a16="http://schemas.microsoft.com/office/drawing/2014/main" id="{F2E4633A-20FF-46DD-8A98-D96E09D1C6C7}"/>
              </a:ext>
            </a:extLst>
          </p:cNvPr>
          <p:cNvSpPr>
            <a:spLocks noGrp="1"/>
          </p:cNvSpPr>
          <p:nvPr/>
        </p:nvSpPr>
        <p:spPr>
          <a:xfrm>
            <a:off x="723900" y="4667250"/>
            <a:ext cx="2381250" cy="666750"/>
          </a:xfrm>
          <a:prstGeom prst="rect">
            <a:avLst/>
          </a:prstGeom>
          <a:noFill/>
          <a:ln w="0">
            <a:noFill/>
          </a:ln>
        </p:spPr>
        <p:txBody>
          <a:bodyPr>
            <a:noAutofit/>
          </a:bodyPr>
          <a:lstStyle/>
          <a:p>
            <a:pP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19" name="Rectangle: Rounded Corners 18">
            <a:extLst>
              <a:ext uri="{FF2B5EF4-FFF2-40B4-BE49-F238E27FC236}">
                <a16:creationId xmlns:a16="http://schemas.microsoft.com/office/drawing/2014/main" id="{869F6E96-666F-4D7A-A8FB-1153724E921E}"/>
              </a:ext>
            </a:extLst>
          </p:cNvPr>
          <p:cNvSpPr>
            <a:spLocks noGrp="1"/>
          </p:cNvSpPr>
          <p:nvPr/>
        </p:nvSpPr>
        <p:spPr>
          <a:xfrm>
            <a:off x="3238500" y="4495800"/>
            <a:ext cx="2190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Cel i dane</a:t>
            </a:r>
          </a:p>
        </p:txBody>
      </p:sp>
      <p:sp>
        <p:nvSpPr>
          <p:cNvPr id="20" name="Rectangle: Rounded Corners 19">
            <a:extLst>
              <a:ext uri="{FF2B5EF4-FFF2-40B4-BE49-F238E27FC236}">
                <a16:creationId xmlns:a16="http://schemas.microsoft.com/office/drawing/2014/main" id="{8342EED5-4214-4159-A71C-EB2BB9274A9B}"/>
              </a:ext>
            </a:extLst>
          </p:cNvPr>
          <p:cNvSpPr>
            <a:spLocks noGrp="1"/>
          </p:cNvSpPr>
          <p:nvPr/>
        </p:nvSpPr>
        <p:spPr>
          <a:xfrm>
            <a:off x="6286500" y="4495800"/>
            <a:ext cx="22383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Dobór narzędzi</a:t>
            </a:r>
          </a:p>
        </p:txBody>
      </p:sp>
      <p:sp>
        <p:nvSpPr>
          <p:cNvPr id="21" name="Rectangle: Rounded Corners 20">
            <a:extLst>
              <a:ext uri="{FF2B5EF4-FFF2-40B4-BE49-F238E27FC236}">
                <a16:creationId xmlns:a16="http://schemas.microsoft.com/office/drawing/2014/main" id="{74A70CF7-6F96-42C2-BA82-9A477B8F4580}"/>
              </a:ext>
            </a:extLst>
          </p:cNvPr>
          <p:cNvSpPr>
            <a:spLocks noGrp="1"/>
          </p:cNvSpPr>
          <p:nvPr/>
        </p:nvSpPr>
        <p:spPr>
          <a:xfrm>
            <a:off x="9382125" y="44958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Wynik zadania</a:t>
            </a:r>
          </a:p>
        </p:txBody>
      </p:sp>
      <p:sp>
        <p:nvSpPr>
          <p:cNvPr id="24" name="Rectangle 23">
            <a:extLst>
              <a:ext uri="{FF2B5EF4-FFF2-40B4-BE49-F238E27FC236}">
                <a16:creationId xmlns:a16="http://schemas.microsoft.com/office/drawing/2014/main" id="{51BB9BDE-07A9-4CDB-B4CB-AB8BD3DF20A0}"/>
              </a:ext>
            </a:extLst>
          </p:cNvPr>
          <p:cNvSpPr>
            <a:spLocks noGrp="1"/>
          </p:cNvSpPr>
          <p:nvPr/>
        </p:nvSpPr>
        <p:spPr>
          <a:xfrm>
            <a:off x="762000" y="5829300"/>
            <a:ext cx="10668000" cy="36195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Workflow określa sekwencję. Agent dobiera kroki w ustalonych granicach.</a:t>
            </a:r>
          </a:p>
        </p:txBody>
      </p:sp>
      <p:sp>
        <p:nvSpPr>
          <p:cNvPr id="37" name="Rectangle 36"/>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84506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5" name="Connector: Elbow 24"/>
          <p:cNvCxnSpPr>
            <a:stCxn id="13" idx="2"/>
            <a:endCxn id="12" idx="2"/>
          </p:cNvCxnSpPr>
          <p:nvPr/>
        </p:nvCxnSpPr>
        <p:spPr>
          <a:xfrm flipH="1">
            <a:off x="7477125" y="4457700"/>
            <a:ext cx="2857500" cy="228600"/>
          </a:xfrm>
          <a:prstGeom prst="bentConnector4">
            <a:avLst/>
          </a:prstGeom>
          <a:ln w="28575">
            <a:solidFill>
              <a:srgbClr val="087F8C"/>
            </a:solidFill>
            <a:tailEnd type="triangle" w="sm" len="sm"/>
          </a:ln>
        </p:spPr>
      </p:cxnSp>
      <p:cxnSp>
        <p:nvCxnSpPr>
          <p:cNvPr id="26" name="Straight Arrow Connector 25"/>
          <p:cNvCxnSpPr>
            <a:stCxn id="12" idx="3"/>
            <a:endCxn id="13" idx="1"/>
          </p:cNvCxnSpPr>
          <p:nvPr/>
        </p:nvCxnSpPr>
        <p:spPr>
          <a:xfrm>
            <a:off x="8524875" y="4062413"/>
            <a:ext cx="762000" cy="0"/>
          </a:xfrm>
          <a:prstGeom prst="straightConnector1">
            <a:avLst/>
          </a:prstGeom>
          <a:ln w="28575">
            <a:solidFill>
              <a:srgbClr val="087F8C"/>
            </a:solidFill>
            <a:tailEnd type="triangle" w="sm" len="sm"/>
          </a:ln>
        </p:spPr>
      </p:cxnSp>
      <p:cxnSp>
        <p:nvCxnSpPr>
          <p:cNvPr id="27" name="Straight Arrow Connector 26"/>
          <p:cNvCxnSpPr>
            <a:stCxn id="8" idx="3"/>
            <a:endCxn id="9" idx="1"/>
          </p:cNvCxnSpPr>
          <p:nvPr/>
        </p:nvCxnSpPr>
        <p:spPr>
          <a:xfrm>
            <a:off x="3952875" y="4062413"/>
            <a:ext cx="428625" cy="0"/>
          </a:xfrm>
          <a:prstGeom prst="straightConnector1">
            <a:avLst/>
          </a:prstGeom>
          <a:ln w="28575">
            <a:solidFill>
              <a:srgbClr val="087F8C"/>
            </a:solidFill>
            <a:tailEnd type="triangle" w="sm" len="sm"/>
          </a:ln>
        </p:spPr>
      </p:cxnSp>
      <p:cxnSp>
        <p:nvCxnSpPr>
          <p:cNvPr id="28" name="Straight Arrow Connector 27"/>
          <p:cNvCxnSpPr>
            <a:stCxn id="7" idx="3"/>
            <a:endCxn id="8" idx="1"/>
          </p:cNvCxnSpPr>
          <p:nvPr/>
        </p:nvCxnSpPr>
        <p:spPr>
          <a:xfrm>
            <a:off x="2190750" y="4062413"/>
            <a:ext cx="428625" cy="0"/>
          </a:xfrm>
          <a:prstGeom prst="straightConnector1">
            <a:avLst/>
          </a:prstGeom>
          <a:ln w="28575">
            <a:solidFill>
              <a:srgbClr val="087F8C"/>
            </a:solidFill>
            <a:tailEnd type="triangle" w="sm" len="sm"/>
          </a:ln>
        </p:spPr>
      </p:cxnSp>
      <p:sp>
        <p:nvSpPr>
          <p:cNvPr id="24" name="Rectangle 23">
            <a:extLst>
              <a:ext uri="{FF2B5EF4-FFF2-40B4-BE49-F238E27FC236}">
                <a16:creationId xmlns:a16="http://schemas.microsoft.com/office/drawing/2014/main" id="{F04D72DB-FB84-4585-8126-50ABB899F80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9E1617C-3549-470E-8607-398793A9F149}"/>
              </a:ext>
            </a:extLst>
          </p:cNvPr>
          <p:cNvSpPr>
            <a:spLocks noGrp="1"/>
          </p:cNvSpPr>
          <p:nvPr/>
        </p:nvSpPr>
        <p:spPr>
          <a:xfrm>
            <a:off x="685800" y="933450"/>
            <a:ext cx="10763250" cy="106680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Autonomous Agent i Conversational Agent</a:t>
            </a:r>
          </a:p>
        </p:txBody>
      </p:sp>
      <p:sp>
        <p:nvSpPr>
          <p:cNvPr id="3" name="Rectangle 2">
            <a:extLst>
              <a:ext uri="{FF2B5EF4-FFF2-40B4-BE49-F238E27FC236}">
                <a16:creationId xmlns:a16="http://schemas.microsoft.com/office/drawing/2014/main" id="{188DFA13-E0D8-4AF8-8300-51652E6E6D14}"/>
              </a:ext>
            </a:extLst>
          </p:cNvPr>
          <p:cNvSpPr>
            <a:spLocks noGrp="1"/>
          </p:cNvSpPr>
          <p:nvPr/>
        </p:nvSpPr>
        <p:spPr>
          <a:xfrm>
            <a:off x="762000" y="2190750"/>
            <a:ext cx="5000625" cy="381000"/>
          </a:xfrm>
          <a:prstGeom prst="rect">
            <a:avLst/>
          </a:prstGeom>
          <a:noFill/>
          <a:ln w="0">
            <a:noFill/>
          </a:ln>
        </p:spPr>
        <p:txBody>
          <a:bodyPr>
            <a:noAutofit/>
          </a:bodyPr>
          <a:lstStyle/>
          <a:p>
            <a:pPr>
              <a:buNone/>
              <a:defRPr sz="2025" b="1">
                <a:solidFill>
                  <a:srgbClr val="087F8C"/>
                </a:solidFill>
                <a:latin typeface="DejaVu Sans"/>
                <a:ea typeface="DejaVu Sans"/>
                <a:cs typeface="DejaVu Sans"/>
              </a:defRPr>
            </a:pPr>
            <a:r>
              <a:rPr sz="2025" b="1">
                <a:solidFill>
                  <a:srgbClr val="087F8C"/>
                </a:solidFill>
                <a:latin typeface="DejaVu Sans"/>
                <a:ea typeface="DejaVu Sans"/>
                <a:cs typeface="DejaVu Sans"/>
              </a:rPr>
              <a:t>AUTONOMOUS AGENT</a:t>
            </a:r>
          </a:p>
        </p:txBody>
      </p:sp>
      <p:sp>
        <p:nvSpPr>
          <p:cNvPr id="4" name="Rectangle 3">
            <a:extLst>
              <a:ext uri="{FF2B5EF4-FFF2-40B4-BE49-F238E27FC236}">
                <a16:creationId xmlns:a16="http://schemas.microsoft.com/office/drawing/2014/main" id="{13DA764F-818F-4229-B7A4-6FB37370D4E7}"/>
              </a:ext>
            </a:extLst>
          </p:cNvPr>
          <p:cNvSpPr>
            <a:spLocks noGrp="1"/>
          </p:cNvSpPr>
          <p:nvPr/>
        </p:nvSpPr>
        <p:spPr>
          <a:xfrm>
            <a:off x="6429375" y="2190750"/>
            <a:ext cx="5000625" cy="381000"/>
          </a:xfrm>
          <a:prstGeom prst="rect">
            <a:avLst/>
          </a:prstGeom>
          <a:noFill/>
          <a:ln w="0">
            <a:noFill/>
          </a:ln>
        </p:spPr>
        <p:txBody>
          <a:bodyPr>
            <a:noAutofit/>
          </a:bodyPr>
          <a:lstStyle/>
          <a:p>
            <a:pPr>
              <a:buNone/>
              <a:defRPr sz="2025" b="1">
                <a:solidFill>
                  <a:srgbClr val="087F8C"/>
                </a:solidFill>
                <a:latin typeface="DejaVu Sans"/>
                <a:ea typeface="DejaVu Sans"/>
                <a:cs typeface="DejaVu Sans"/>
              </a:defRPr>
            </a:pPr>
            <a:r>
              <a:rPr sz="2025" b="1">
                <a:solidFill>
                  <a:srgbClr val="087F8C"/>
                </a:solidFill>
                <a:latin typeface="DejaVu Sans"/>
                <a:ea typeface="DejaVu Sans"/>
                <a:cs typeface="DejaVu Sans"/>
              </a:rPr>
              <a:t>CONVERSATIONAL AGENT</a:t>
            </a:r>
          </a:p>
        </p:txBody>
      </p:sp>
      <p:sp>
        <p:nvSpPr>
          <p:cNvPr id="5" name="Rectangle 4">
            <a:extLst>
              <a:ext uri="{FF2B5EF4-FFF2-40B4-BE49-F238E27FC236}">
                <a16:creationId xmlns:a16="http://schemas.microsoft.com/office/drawing/2014/main" id="{586775CB-CC83-4599-83AE-E7B387311349}"/>
              </a:ext>
            </a:extLst>
          </p:cNvPr>
          <p:cNvSpPr>
            <a:spLocks noGrp="1"/>
          </p:cNvSpPr>
          <p:nvPr/>
        </p:nvSpPr>
        <p:spPr>
          <a:xfrm>
            <a:off x="762000" y="2686050"/>
            <a:ext cx="4857750" cy="476250"/>
          </a:xfrm>
          <a:prstGeom prst="rect">
            <a:avLst/>
          </a:prstGeom>
          <a:noFill/>
          <a:ln w="0">
            <a:noFill/>
          </a:ln>
        </p:spPr>
        <p:txBody>
          <a:bodyPr>
            <a:noAutofit/>
          </a:bodyPr>
          <a:lstStyle/>
          <a:p>
            <a:pPr>
              <a:buNone/>
              <a:defRPr sz="2175" b="1">
                <a:solidFill>
                  <a:srgbClr val="142F47"/>
                </a:solidFill>
                <a:latin typeface="DejaVu Sans"/>
                <a:ea typeface="DejaVu Sans"/>
                <a:cs typeface="DejaVu Sans"/>
              </a:defRPr>
            </a:pPr>
            <a:r>
              <a:rPr sz="2175" b="1">
                <a:solidFill>
                  <a:srgbClr val="142F47"/>
                </a:solidFill>
                <a:latin typeface="DejaVu Sans"/>
                <a:ea typeface="DejaVu Sans"/>
                <a:cs typeface="DejaVu Sans"/>
              </a:rPr>
              <a:t>Realizuje przekazane zadanie</a:t>
            </a:r>
          </a:p>
        </p:txBody>
      </p:sp>
      <p:sp>
        <p:nvSpPr>
          <p:cNvPr id="6" name="Rectangle 5">
            <a:extLst>
              <a:ext uri="{FF2B5EF4-FFF2-40B4-BE49-F238E27FC236}">
                <a16:creationId xmlns:a16="http://schemas.microsoft.com/office/drawing/2014/main" id="{0B6D58A4-6E2C-4EB0-B68B-222B340E37FC}"/>
              </a:ext>
            </a:extLst>
          </p:cNvPr>
          <p:cNvSpPr>
            <a:spLocks noGrp="1"/>
          </p:cNvSpPr>
          <p:nvPr/>
        </p:nvSpPr>
        <p:spPr>
          <a:xfrm>
            <a:off x="6429375" y="2686050"/>
            <a:ext cx="4905375" cy="762000"/>
          </a:xfrm>
          <a:prstGeom prst="rect">
            <a:avLst/>
          </a:prstGeom>
          <a:noFill/>
          <a:ln w="0">
            <a:noFill/>
          </a:ln>
        </p:spPr>
        <p:txBody>
          <a:bodyPr>
            <a:noAutofit/>
          </a:bodyPr>
          <a:lstStyle/>
          <a:p>
            <a:pPr>
              <a:buNone/>
              <a:defRPr sz="2175" b="1">
                <a:solidFill>
                  <a:srgbClr val="142F47"/>
                </a:solidFill>
                <a:latin typeface="DejaVu Sans"/>
                <a:ea typeface="DejaVu Sans"/>
                <a:cs typeface="DejaVu Sans"/>
              </a:defRPr>
            </a:pPr>
            <a:r>
              <a:rPr sz="2175" b="1">
                <a:solidFill>
                  <a:srgbClr val="142F47"/>
                </a:solidFill>
                <a:latin typeface="DejaVu Sans"/>
                <a:ea typeface="DejaVu Sans"/>
                <a:cs typeface="DejaVu Sans"/>
              </a:rPr>
              <a:t>Prowadzi rozmowę z użytkownikiem</a:t>
            </a:r>
          </a:p>
        </p:txBody>
      </p:sp>
      <p:sp>
        <p:nvSpPr>
          <p:cNvPr id="7" name="Rectangle: Rounded Corners 6">
            <a:extLst>
              <a:ext uri="{FF2B5EF4-FFF2-40B4-BE49-F238E27FC236}">
                <a16:creationId xmlns:a16="http://schemas.microsoft.com/office/drawing/2014/main" id="{BAB6BE46-A54F-4F01-B50F-EC5843B7FB07}"/>
              </a:ext>
            </a:extLst>
          </p:cNvPr>
          <p:cNvSpPr>
            <a:spLocks noGrp="1"/>
          </p:cNvSpPr>
          <p:nvPr/>
        </p:nvSpPr>
        <p:spPr>
          <a:xfrm>
            <a:off x="762000" y="3667125"/>
            <a:ext cx="14287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Cel i dane</a:t>
            </a:r>
          </a:p>
        </p:txBody>
      </p:sp>
      <p:sp>
        <p:nvSpPr>
          <p:cNvPr id="8" name="Rectangle: Rounded Corners 7">
            <a:extLst>
              <a:ext uri="{FF2B5EF4-FFF2-40B4-BE49-F238E27FC236}">
                <a16:creationId xmlns:a16="http://schemas.microsoft.com/office/drawing/2014/main" id="{8DF587C5-08C6-4B87-9674-629A0D0D2985}"/>
              </a:ext>
            </a:extLst>
          </p:cNvPr>
          <p:cNvSpPr>
            <a:spLocks noGrp="1"/>
          </p:cNvSpPr>
          <p:nvPr/>
        </p:nvSpPr>
        <p:spPr>
          <a:xfrm>
            <a:off x="2619375" y="3667125"/>
            <a:ext cx="1333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9" name="Rectangle: Rounded Corners 8">
            <a:extLst>
              <a:ext uri="{FF2B5EF4-FFF2-40B4-BE49-F238E27FC236}">
                <a16:creationId xmlns:a16="http://schemas.microsoft.com/office/drawing/2014/main" id="{64B69DC0-2C64-4CAB-A3AC-93CC93C1142E}"/>
              </a:ext>
            </a:extLst>
          </p:cNvPr>
          <p:cNvSpPr>
            <a:spLocks noGrp="1"/>
          </p:cNvSpPr>
          <p:nvPr/>
        </p:nvSpPr>
        <p:spPr>
          <a:xfrm>
            <a:off x="4381500" y="3667125"/>
            <a:ext cx="1381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Wynik</a:t>
            </a:r>
          </a:p>
        </p:txBody>
      </p:sp>
      <p:sp>
        <p:nvSpPr>
          <p:cNvPr id="12" name="Rectangle: Rounded Corners 11">
            <a:extLst>
              <a:ext uri="{FF2B5EF4-FFF2-40B4-BE49-F238E27FC236}">
                <a16:creationId xmlns:a16="http://schemas.microsoft.com/office/drawing/2014/main" id="{80F26A42-4082-4334-AF36-8650F776DE1C}"/>
              </a:ext>
            </a:extLst>
          </p:cNvPr>
          <p:cNvSpPr>
            <a:spLocks noGrp="1"/>
          </p:cNvSpPr>
          <p:nvPr/>
        </p:nvSpPr>
        <p:spPr>
          <a:xfrm>
            <a:off x="6429375" y="3667125"/>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Użytkownik</a:t>
            </a:r>
          </a:p>
        </p:txBody>
      </p:sp>
      <p:sp>
        <p:nvSpPr>
          <p:cNvPr id="13" name="Rectangle: Rounded Corners 12">
            <a:extLst>
              <a:ext uri="{FF2B5EF4-FFF2-40B4-BE49-F238E27FC236}">
                <a16:creationId xmlns:a16="http://schemas.microsoft.com/office/drawing/2014/main" id="{654AAC5E-1696-447D-839E-6FF7E87DE2E0}"/>
              </a:ext>
            </a:extLst>
          </p:cNvPr>
          <p:cNvSpPr>
            <a:spLocks noGrp="1"/>
          </p:cNvSpPr>
          <p:nvPr/>
        </p:nvSpPr>
        <p:spPr>
          <a:xfrm>
            <a:off x="9286875" y="3667125"/>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Agent</a:t>
            </a:r>
          </a:p>
        </p:txBody>
      </p:sp>
      <p:sp>
        <p:nvSpPr>
          <p:cNvPr id="16" name="Rectangle 15">
            <a:extLst>
              <a:ext uri="{FF2B5EF4-FFF2-40B4-BE49-F238E27FC236}">
                <a16:creationId xmlns:a16="http://schemas.microsoft.com/office/drawing/2014/main" id="{BDC3664A-72F4-493A-ABFB-702992232285}"/>
              </a:ext>
            </a:extLst>
          </p:cNvPr>
          <p:cNvSpPr>
            <a:spLocks noGrp="1"/>
          </p:cNvSpPr>
          <p:nvPr/>
        </p:nvSpPr>
        <p:spPr>
          <a:xfrm>
            <a:off x="762000" y="4838700"/>
            <a:ext cx="5000625" cy="809625"/>
          </a:xfrm>
          <a:prstGeom prst="rect">
            <a:avLst/>
          </a:prstGeom>
          <a:noFill/>
          <a:ln w="0">
            <a:noFill/>
          </a:ln>
        </p:spPr>
        <p:txBody>
          <a:bodyPr>
            <a:noAutofit/>
          </a:bodyPr>
          <a:lstStyle/>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Przykład: analiza zgłoszenia</a:t>
            </a:r>
          </a:p>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i rekomendacja dalszego kroku</a:t>
            </a:r>
          </a:p>
        </p:txBody>
      </p:sp>
      <p:sp>
        <p:nvSpPr>
          <p:cNvPr id="17" name="Rectangle 16">
            <a:extLst>
              <a:ext uri="{FF2B5EF4-FFF2-40B4-BE49-F238E27FC236}">
                <a16:creationId xmlns:a16="http://schemas.microsoft.com/office/drawing/2014/main" id="{43F8E59D-7926-496A-A6AD-E4481B1016E9}"/>
              </a:ext>
            </a:extLst>
          </p:cNvPr>
          <p:cNvSpPr>
            <a:spLocks noGrp="1"/>
          </p:cNvSpPr>
          <p:nvPr/>
        </p:nvSpPr>
        <p:spPr>
          <a:xfrm>
            <a:off x="6429375" y="4838700"/>
            <a:ext cx="5000625" cy="809625"/>
          </a:xfrm>
          <a:prstGeom prst="rect">
            <a:avLst/>
          </a:prstGeom>
          <a:noFill/>
          <a:ln w="0">
            <a:noFill/>
          </a:ln>
        </p:spPr>
        <p:txBody>
          <a:bodyPr>
            <a:noAutofit/>
          </a:bodyPr>
          <a:lstStyle/>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Przykład: dopytanie o błąd</a:t>
            </a:r>
          </a:p>
          <a:p>
            <a:pPr>
              <a:buNone/>
              <a:defRPr sz="1875" b="0">
                <a:solidFill>
                  <a:srgbClr val="142F47"/>
                </a:solidFill>
                <a:latin typeface="DejaVu Sans"/>
                <a:ea typeface="DejaVu Sans"/>
                <a:cs typeface="DejaVu Sans"/>
              </a:defRPr>
            </a:pPr>
            <a:r>
              <a:rPr sz="1875" b="0">
                <a:solidFill>
                  <a:srgbClr val="142F47"/>
                </a:solidFill>
                <a:latin typeface="DejaVu Sans"/>
                <a:ea typeface="DejaVu Sans"/>
                <a:cs typeface="DejaVu Sans"/>
              </a:rPr>
              <a:t>i wspólne doprecyzowanie sprawy</a:t>
            </a:r>
          </a:p>
        </p:txBody>
      </p:sp>
      <p:sp>
        <p:nvSpPr>
          <p:cNvPr id="18" name="Rectangle 17">
            <a:extLst>
              <a:ext uri="{FF2B5EF4-FFF2-40B4-BE49-F238E27FC236}">
                <a16:creationId xmlns:a16="http://schemas.microsoft.com/office/drawing/2014/main" id="{A72A6B14-11D0-48FE-88FF-0D931B6AE9CE}"/>
              </a:ext>
            </a:extLst>
          </p:cNvPr>
          <p:cNvSpPr>
            <a:spLocks noGrp="1"/>
          </p:cNvSpPr>
          <p:nvPr/>
        </p:nvSpPr>
        <p:spPr>
          <a:xfrm>
            <a:off x="762000" y="5943600"/>
            <a:ext cx="10668000" cy="36195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Oba mogą używać narzędzi, wiedzy i eskalacji do człowieka.</a:t>
            </a:r>
          </a:p>
        </p:txBody>
      </p:sp>
      <p:sp>
        <p:nvSpPr>
          <p:cNvPr id="19" name="Rectangle 18">
            <a:extLst>
              <a:ext uri="{FF2B5EF4-FFF2-40B4-BE49-F238E27FC236}">
                <a16:creationId xmlns:a16="http://schemas.microsoft.com/office/drawing/2014/main" id="{679B2D63-8E98-449F-ACC6-04D0AB06A6C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10</a:t>
            </a:r>
          </a:p>
        </p:txBody>
      </p:sp>
      <p:sp>
        <p:nvSpPr>
          <p:cNvPr id="29" name="Rectangle 2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993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75186E-9E6C-49AF-86A8-D0459FDC083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C0FE8ADE-20C3-495E-8FAB-9FD0126A642C}"/>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11</a:t>
            </a:r>
          </a:p>
        </p:txBody>
      </p:sp>
      <p:sp>
        <p:nvSpPr>
          <p:cNvPr id="3" name="Rectangle 2">
            <a:extLst>
              <a:ext uri="{FF2B5EF4-FFF2-40B4-BE49-F238E27FC236}">
                <a16:creationId xmlns:a16="http://schemas.microsoft.com/office/drawing/2014/main" id="{3C57FE67-F12C-49FF-A6D9-356665B8E38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Model językowy w automatyzacji</a:t>
            </a:r>
          </a:p>
        </p:txBody>
      </p:sp>
      <p:sp>
        <p:nvSpPr>
          <p:cNvPr id="4" name="Rectangle 3">
            <a:extLst>
              <a:ext uri="{FF2B5EF4-FFF2-40B4-BE49-F238E27FC236}">
                <a16:creationId xmlns:a16="http://schemas.microsoft.com/office/drawing/2014/main" id="{4420C26F-450C-4843-B3E4-9899F106021A}"/>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Model generuje odpowiedź na podstawie instrukcji i kontekstu.</a:t>
            </a:r>
          </a:p>
        </p:txBody>
      </p:sp>
      <p:sp>
        <p:nvSpPr>
          <p:cNvPr id="5" name="Rectangle 4">
            <a:extLst>
              <a:ext uri="{FF2B5EF4-FFF2-40B4-BE49-F238E27FC236}">
                <a16:creationId xmlns:a16="http://schemas.microsoft.com/office/drawing/2014/main" id="{FCDE4B51-F893-4272-B4E7-A470EB6E123E}"/>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sprawnie interpretować tekst, ale również podać nieprawdziwą informację.</a:t>
            </a:r>
          </a:p>
        </p:txBody>
      </p:sp>
      <p:sp>
        <p:nvSpPr>
          <p:cNvPr id="6" name="Rectangle 5">
            <a:extLst>
              <a:ext uri="{FF2B5EF4-FFF2-40B4-BE49-F238E27FC236}">
                <a16:creationId xmlns:a16="http://schemas.microsoft.com/office/drawing/2014/main" id="{FC233D41-4159-4C34-AD48-AC5BDA011D9D}"/>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Workflow musi obsłużyć brak danych, błędny format i błąd wywołania.</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14151068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12</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Jak działa model językowy</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Tekst dzielony jest na tokeny: słowa, części słów, znaki.</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Model zamienia tokeny na reprezentacje liczbowe i uwzględnia kontekst zdania.</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Model wyznacza prawdopodobieństwa kolejnych tokenów i generuje odpowiedź.</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Przewiduje, nie sprawdza faktów: stąd kontrakt wyniku, wiedza i narzędzia.</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13</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Jak wybrać model</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Dokładność</a:t>
            </a:r>
          </a:p>
        </p:txBody>
      </p:sp>
      <p:sp>
        <p:nvSpPr>
          <p:cNvPr id="18" name="TextBox 17"/>
          <p:cNvSpPr txBox="1"/>
          <p:nvPr/>
        </p:nvSpPr>
        <p:spPr>
          <a:xfrm>
            <a:off x="3355848" y="2436876"/>
            <a:ext cx="3749039"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Fakty, decyzje, zgodność z regułami</a:t>
            </a:r>
          </a:p>
        </p:txBody>
      </p:sp>
      <p:sp>
        <p:nvSpPr>
          <p:cNvPr id="19" name="TextBox 18"/>
          <p:cNvSpPr txBox="1"/>
          <p:nvPr/>
        </p:nvSpPr>
        <p:spPr>
          <a:xfrm>
            <a:off x="7287768" y="2436876"/>
            <a:ext cx="39227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SupportAgent: kategoria i nextAction</a:t>
            </a:r>
          </a:p>
        </p:txBody>
      </p:sp>
      <p:sp>
        <p:nvSpPr>
          <p:cNvPr id="20" name="Rounded Rectangle 19"/>
          <p:cNvSpPr/>
          <p:nvPr/>
        </p:nvSpPr>
        <p:spPr>
          <a:xfrm>
            <a:off x="740664" y="3166567"/>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8" y="3285439"/>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248863"/>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Szybkość i koszt</a:t>
            </a:r>
          </a:p>
        </p:txBody>
      </p:sp>
      <p:sp>
        <p:nvSpPr>
          <p:cNvPr id="23" name="TextBox 22"/>
          <p:cNvSpPr txBox="1"/>
          <p:nvPr/>
        </p:nvSpPr>
        <p:spPr>
          <a:xfrm>
            <a:off x="3355848" y="3235147"/>
            <a:ext cx="3749039"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Duża skala, proste zadania</a:t>
            </a:r>
          </a:p>
        </p:txBody>
      </p:sp>
      <p:sp>
        <p:nvSpPr>
          <p:cNvPr id="24" name="TextBox 23"/>
          <p:cNvSpPr txBox="1"/>
          <p:nvPr/>
        </p:nvSpPr>
        <p:spPr>
          <a:xfrm>
            <a:off x="7287768" y="3235147"/>
            <a:ext cx="39227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Streszczenie w Intake_AI</a:t>
            </a:r>
          </a:p>
        </p:txBody>
      </p:sp>
      <p:sp>
        <p:nvSpPr>
          <p:cNvPr id="25" name="Rounded Rectangle 24"/>
          <p:cNvSpPr/>
          <p:nvPr/>
        </p:nvSpPr>
        <p:spPr>
          <a:xfrm>
            <a:off x="740664" y="3964838"/>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808" y="4083710"/>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047134"/>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Kreatywność</a:t>
            </a:r>
          </a:p>
        </p:txBody>
      </p:sp>
      <p:sp>
        <p:nvSpPr>
          <p:cNvPr id="28" name="TextBox 27"/>
          <p:cNvSpPr txBox="1"/>
          <p:nvPr/>
        </p:nvSpPr>
        <p:spPr>
          <a:xfrm>
            <a:off x="3355848" y="4033418"/>
            <a:ext cx="3749039"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Treści marketingowe, styl</a:t>
            </a:r>
          </a:p>
        </p:txBody>
      </p:sp>
      <p:sp>
        <p:nvSpPr>
          <p:cNvPr id="29" name="TextBox 28"/>
          <p:cNvSpPr txBox="1"/>
          <p:nvPr/>
        </p:nvSpPr>
        <p:spPr>
          <a:xfrm>
            <a:off x="7287768" y="4033418"/>
            <a:ext cx="39227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Tu niepotrzebna</a:t>
            </a:r>
          </a:p>
        </p:txBody>
      </p:sp>
      <p:sp>
        <p:nvSpPr>
          <p:cNvPr id="30" name="Rounded Rectangle 29"/>
          <p:cNvSpPr/>
          <p:nvPr/>
        </p:nvSpPr>
        <p:spPr>
          <a:xfrm>
            <a:off x="740664" y="4763109"/>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4881981"/>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4845405"/>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Okno kontekstu</a:t>
            </a:r>
          </a:p>
        </p:txBody>
      </p:sp>
      <p:sp>
        <p:nvSpPr>
          <p:cNvPr id="33" name="TextBox 32"/>
          <p:cNvSpPr txBox="1"/>
          <p:nvPr/>
        </p:nvSpPr>
        <p:spPr>
          <a:xfrm>
            <a:off x="3355848" y="4831689"/>
            <a:ext cx="3749039"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Długie dokumenty, historia rozmowy</a:t>
            </a:r>
          </a:p>
        </p:txBody>
      </p:sp>
      <p:sp>
        <p:nvSpPr>
          <p:cNvPr id="34" name="TextBox 33"/>
          <p:cNvSpPr txBox="1"/>
          <p:nvPr/>
        </p:nvSpPr>
        <p:spPr>
          <a:xfrm>
            <a:off x="7287768" y="4831689"/>
            <a:ext cx="39227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Agent konwersacyjny (ćw. 7)</a:t>
            </a:r>
          </a:p>
        </p:txBody>
      </p:sp>
      <p:sp>
        <p:nvSpPr>
          <p:cNvPr id="35" name="Rounded Rectangle 34"/>
          <p:cNvSpPr/>
          <p:nvPr/>
        </p:nvSpPr>
        <p:spPr>
          <a:xfrm>
            <a:off x="740664" y="5561380"/>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9808" y="5680252"/>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 y="5643676"/>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Prywatność</a:t>
            </a:r>
          </a:p>
        </p:txBody>
      </p:sp>
      <p:sp>
        <p:nvSpPr>
          <p:cNvPr id="38" name="TextBox 37"/>
          <p:cNvSpPr txBox="1"/>
          <p:nvPr/>
        </p:nvSpPr>
        <p:spPr>
          <a:xfrm>
            <a:off x="3355848" y="5629960"/>
            <a:ext cx="3749039"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Dane wrażliwe, wymogi zgodności</a:t>
            </a:r>
          </a:p>
        </p:txBody>
      </p:sp>
      <p:sp>
        <p:nvSpPr>
          <p:cNvPr id="39" name="TextBox 38"/>
          <p:cNvSpPr txBox="1"/>
          <p:nvPr/>
        </p:nvSpPr>
        <p:spPr>
          <a:xfrm>
            <a:off x="7287768" y="5629960"/>
            <a:ext cx="39227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AI Trust Layer, BYOS / BYOM (slajd o własnych modelach)</a:t>
            </a:r>
          </a:p>
        </p:txBody>
      </p:sp>
      <p:sp>
        <p:nvSpPr>
          <p:cNvPr id="40" name="TextBox 39"/>
          <p:cNvSpPr txBox="1"/>
          <p:nvPr/>
        </p:nvSpPr>
        <p:spPr>
          <a:xfrm>
            <a:off x="932688" y="2194560"/>
            <a:ext cx="237744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Kryterium</a:t>
            </a:r>
          </a:p>
        </p:txBody>
      </p:sp>
      <p:sp>
        <p:nvSpPr>
          <p:cNvPr id="41" name="TextBox 40"/>
          <p:cNvSpPr txBox="1"/>
          <p:nvPr/>
        </p:nvSpPr>
        <p:spPr>
          <a:xfrm>
            <a:off x="3355848" y="2194560"/>
            <a:ext cx="338328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Kiedy ważne</a:t>
            </a:r>
          </a:p>
        </p:txBody>
      </p:sp>
      <p:sp>
        <p:nvSpPr>
          <p:cNvPr id="42" name="TextBox 41"/>
          <p:cNvSpPr txBox="1"/>
          <p:nvPr/>
        </p:nvSpPr>
        <p:spPr>
          <a:xfrm>
            <a:off x="7269480" y="2194560"/>
            <a:ext cx="347472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W Northstar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14</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Techniki promptowania</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Zero-shot</a:t>
            </a:r>
          </a:p>
        </p:txBody>
      </p:sp>
      <p:sp>
        <p:nvSpPr>
          <p:cNvPr id="18" name="TextBox 17"/>
          <p:cNvSpPr txBox="1"/>
          <p:nvPr/>
        </p:nvSpPr>
        <p:spPr>
          <a:xfrm>
            <a:off x="3355848" y="2436876"/>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Zadanie bez przykładów wejście–wynik</a:t>
            </a:r>
          </a:p>
        </p:txBody>
      </p:sp>
      <p:sp>
        <p:nvSpPr>
          <p:cNvPr id="19" name="TextBox 18"/>
          <p:cNvSpPr txBox="1"/>
          <p:nvPr/>
        </p:nvSpPr>
        <p:spPr>
          <a:xfrm>
            <a:off x="7287768" y="2436876"/>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Streszczenie w 1A</a:t>
            </a:r>
          </a:p>
        </p:txBody>
      </p:sp>
      <p:sp>
        <p:nvSpPr>
          <p:cNvPr id="20" name="Rounded Rectangle 19"/>
          <p:cNvSpPr/>
          <p:nvPr/>
        </p:nvSpPr>
        <p:spPr>
          <a:xfrm>
            <a:off x="740664" y="3268979"/>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8" y="3387851"/>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351275"/>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Few-shot</a:t>
            </a:r>
          </a:p>
        </p:txBody>
      </p:sp>
      <p:sp>
        <p:nvSpPr>
          <p:cNvPr id="23" name="TextBox 22"/>
          <p:cNvSpPr txBox="1"/>
          <p:nvPr/>
        </p:nvSpPr>
        <p:spPr>
          <a:xfrm>
            <a:off x="3355848" y="3337560"/>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Kilka przykładów wejście → poprawny wynik</a:t>
            </a:r>
          </a:p>
        </p:txBody>
      </p:sp>
      <p:sp>
        <p:nvSpPr>
          <p:cNvPr id="24" name="TextBox 23"/>
          <p:cNvSpPr txBox="1"/>
          <p:nvPr/>
        </p:nvSpPr>
        <p:spPr>
          <a:xfrm>
            <a:off x="7287768" y="3337560"/>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Przykłady klasyfikacji w załączniku HTML</a:t>
            </a:r>
          </a:p>
        </p:txBody>
      </p:sp>
      <p:sp>
        <p:nvSpPr>
          <p:cNvPr id="25" name="Rounded Rectangle 24"/>
          <p:cNvSpPr/>
          <p:nvPr/>
        </p:nvSpPr>
        <p:spPr>
          <a:xfrm>
            <a:off x="740664" y="4169663"/>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808" y="4288536"/>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251959"/>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Kroki decyzyjne</a:t>
            </a:r>
          </a:p>
        </p:txBody>
      </p:sp>
      <p:sp>
        <p:nvSpPr>
          <p:cNvPr id="28" name="TextBox 27"/>
          <p:cNvSpPr txBox="1"/>
          <p:nvPr/>
        </p:nvSpPr>
        <p:spPr>
          <a:xfrm>
            <a:off x="3355848" y="4238244"/>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Jawna kolejność sprawdzeń; krótkie uzasadnienie</a:t>
            </a:r>
          </a:p>
        </p:txBody>
      </p:sp>
      <p:sp>
        <p:nvSpPr>
          <p:cNvPr id="29" name="TextBox 28"/>
          <p:cNvSpPr txBox="1"/>
          <p:nvPr/>
        </p:nvSpPr>
        <p:spPr>
          <a:xfrm>
            <a:off x="7287768" y="4238244"/>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ZASADY 1–15 + rationale (nie pełny CoT)</a:t>
            </a:r>
          </a:p>
        </p:txBody>
      </p:sp>
      <p:sp>
        <p:nvSpPr>
          <p:cNvPr id="30" name="Rounded Rectangle 29"/>
          <p:cNvSpPr/>
          <p:nvPr/>
        </p:nvSpPr>
        <p:spPr>
          <a:xfrm>
            <a:off x="740664" y="5070348"/>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5189220"/>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152644"/>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Prompt chaining</a:t>
            </a:r>
          </a:p>
        </p:txBody>
      </p:sp>
      <p:sp>
        <p:nvSpPr>
          <p:cNvPr id="33" name="TextBox 32"/>
          <p:cNvSpPr txBox="1"/>
          <p:nvPr/>
        </p:nvSpPr>
        <p:spPr>
          <a:xfrm>
            <a:off x="3355848" y="5138928"/>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Wynik promptu A trafia do promptu B</a:t>
            </a:r>
          </a:p>
        </p:txBody>
      </p:sp>
      <p:sp>
        <p:nvSpPr>
          <p:cNvPr id="34" name="TextBox 33"/>
          <p:cNvSpPr txBox="1"/>
          <p:nvPr/>
        </p:nvSpPr>
        <p:spPr>
          <a:xfrm>
            <a:off x="7287768" y="5138928"/>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Osobny przykład w załączniku HTML</a:t>
            </a:r>
          </a:p>
        </p:txBody>
      </p:sp>
      <p:sp>
        <p:nvSpPr>
          <p:cNvPr id="35" name="TextBox 34"/>
          <p:cNvSpPr txBox="1"/>
          <p:nvPr/>
        </p:nvSpPr>
        <p:spPr>
          <a:xfrm>
            <a:off x="932688" y="2194560"/>
            <a:ext cx="237744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Technika</a:t>
            </a:r>
          </a:p>
        </p:txBody>
      </p:sp>
      <p:sp>
        <p:nvSpPr>
          <p:cNvPr id="36" name="TextBox 35"/>
          <p:cNvSpPr txBox="1"/>
          <p:nvPr/>
        </p:nvSpPr>
        <p:spPr>
          <a:xfrm>
            <a:off x="3355848" y="2194560"/>
            <a:ext cx="338328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Na czym polega</a:t>
            </a:r>
          </a:p>
        </p:txBody>
      </p:sp>
      <p:sp>
        <p:nvSpPr>
          <p:cNvPr id="37" name="TextBox 36"/>
          <p:cNvSpPr txBox="1"/>
          <p:nvPr/>
        </p:nvSpPr>
        <p:spPr>
          <a:xfrm>
            <a:off x="7269480" y="2194560"/>
            <a:ext cx="347472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W Northstar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15</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Parametry modelu w UiPath</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Temperature</a:t>
            </a:r>
          </a:p>
        </p:txBody>
      </p:sp>
      <p:sp>
        <p:nvSpPr>
          <p:cNvPr id="18" name="TextBox 17"/>
          <p:cNvSpPr txBox="1"/>
          <p:nvPr/>
        </p:nvSpPr>
        <p:spPr>
          <a:xfrm>
            <a:off x="3355848" y="2436876"/>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Kontroluje zmienność próbkowania, jeśli model wspiera</a:t>
            </a:r>
          </a:p>
        </p:txBody>
      </p:sp>
      <p:sp>
        <p:nvSpPr>
          <p:cNvPr id="19" name="TextBox 18"/>
          <p:cNvSpPr txBox="1"/>
          <p:nvPr/>
        </p:nvSpPr>
        <p:spPr>
          <a:xfrm>
            <a:off x="7287768" y="2436876"/>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Niska, np. 0; nie gwarantuje poprawności</a:t>
            </a:r>
          </a:p>
        </p:txBody>
      </p:sp>
      <p:sp>
        <p:nvSpPr>
          <p:cNvPr id="20" name="Rounded Rectangle 19"/>
          <p:cNvSpPr/>
          <p:nvPr/>
        </p:nvSpPr>
        <p:spPr>
          <a:xfrm>
            <a:off x="740664" y="3268979"/>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8" y="3387851"/>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351275"/>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Max tokens</a:t>
            </a:r>
          </a:p>
        </p:txBody>
      </p:sp>
      <p:sp>
        <p:nvSpPr>
          <p:cNvPr id="23" name="TextBox 22"/>
          <p:cNvSpPr txBox="1"/>
          <p:nvPr/>
        </p:nvSpPr>
        <p:spPr>
          <a:xfrm>
            <a:off x="3355848" y="3337560"/>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Limit tokenów generowanej odpowiedzi</a:t>
            </a:r>
          </a:p>
        </p:txBody>
      </p:sp>
      <p:sp>
        <p:nvSpPr>
          <p:cNvPr id="24" name="TextBox 23"/>
          <p:cNvSpPr txBox="1"/>
          <p:nvPr/>
        </p:nvSpPr>
        <p:spPr>
          <a:xfrm>
            <a:off x="7287768" y="3337560"/>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Zależnie od modelu i dostępnych opcji</a:t>
            </a:r>
          </a:p>
        </p:txBody>
      </p:sp>
      <p:sp>
        <p:nvSpPr>
          <p:cNvPr id="25" name="Rounded Rectangle 24"/>
          <p:cNvSpPr/>
          <p:nvPr/>
        </p:nvSpPr>
        <p:spPr>
          <a:xfrm>
            <a:off x="740664" y="4169663"/>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808" y="4288536"/>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251959"/>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Max iterations</a:t>
            </a:r>
          </a:p>
        </p:txBody>
      </p:sp>
      <p:sp>
        <p:nvSpPr>
          <p:cNvPr id="28" name="TextBox 27"/>
          <p:cNvSpPr txBox="1"/>
          <p:nvPr/>
        </p:nvSpPr>
        <p:spPr>
          <a:xfrm>
            <a:off x="3355848" y="4238244"/>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Limit iteracji pracy agenta, nie parametr LLM</a:t>
            </a:r>
          </a:p>
        </p:txBody>
      </p:sp>
      <p:sp>
        <p:nvSpPr>
          <p:cNvPr id="29" name="TextBox 28"/>
          <p:cNvSpPr txBox="1"/>
          <p:nvPr/>
        </p:nvSpPr>
        <p:spPr>
          <a:xfrm>
            <a:off x="7287768" y="4238244"/>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Limit adekwatny do liczby narzędzi</a:t>
            </a:r>
          </a:p>
        </p:txBody>
      </p:sp>
      <p:sp>
        <p:nvSpPr>
          <p:cNvPr id="30" name="Rounded Rectangle 29"/>
          <p:cNvSpPr/>
          <p:nvPr/>
        </p:nvSpPr>
        <p:spPr>
          <a:xfrm>
            <a:off x="740664" y="5070348"/>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5189220"/>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152644"/>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Top-p</a:t>
            </a:r>
          </a:p>
        </p:txBody>
      </p:sp>
      <p:sp>
        <p:nvSpPr>
          <p:cNvPr id="33" name="TextBox 32"/>
          <p:cNvSpPr txBox="1"/>
          <p:nvPr/>
        </p:nvSpPr>
        <p:spPr>
          <a:xfrm>
            <a:off x="3355848" y="5138928"/>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Próg skumulowanego prawdopodobieństwa tokenów</a:t>
            </a:r>
          </a:p>
        </p:txBody>
      </p:sp>
      <p:sp>
        <p:nvSpPr>
          <p:cNvPr id="34" name="TextBox 33"/>
          <p:cNvSpPr txBox="1"/>
          <p:nvPr/>
        </p:nvSpPr>
        <p:spPr>
          <a:xfrm>
            <a:off x="7287768" y="5138928"/>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Jeśli dostępne w danym modelu / aktywności</a:t>
            </a:r>
          </a:p>
        </p:txBody>
      </p:sp>
      <p:sp>
        <p:nvSpPr>
          <p:cNvPr id="35" name="TextBox 34"/>
          <p:cNvSpPr txBox="1"/>
          <p:nvPr/>
        </p:nvSpPr>
        <p:spPr>
          <a:xfrm>
            <a:off x="932688" y="2194560"/>
            <a:ext cx="237744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Parametr</a:t>
            </a:r>
          </a:p>
        </p:txBody>
      </p:sp>
      <p:sp>
        <p:nvSpPr>
          <p:cNvPr id="36" name="TextBox 35"/>
          <p:cNvSpPr txBox="1"/>
          <p:nvPr/>
        </p:nvSpPr>
        <p:spPr>
          <a:xfrm>
            <a:off x="3355848" y="2194560"/>
            <a:ext cx="338328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Co robi</a:t>
            </a:r>
          </a:p>
        </p:txBody>
      </p:sp>
      <p:sp>
        <p:nvSpPr>
          <p:cNvPr id="37" name="TextBox 36"/>
          <p:cNvSpPr txBox="1"/>
          <p:nvPr/>
        </p:nvSpPr>
        <p:spPr>
          <a:xfrm>
            <a:off x="7269480" y="2194560"/>
            <a:ext cx="347472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Ustawienie w Northstar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16</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Dobre praktyki promptowania</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Jasno i konkretnie: zadanie, granice i format wyniku.</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Kontekst i przykłady: tło biznesowe oraz przykłady spoza testów, neutralne i różnorodne.</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Kroki dla zadań złożonych: kolejność reguł zamiast jednego ogólnego polecenia.</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Iteracja: wersja v1, pomiar na zestawie, jedna zmiana, wersja v2 (ćwiczenie 5).</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DE0AE3-C211-40F8-B334-04BCA980F0C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696C4C67-6256-41EE-A307-09B90C66D630}"/>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17</a:t>
            </a:r>
          </a:p>
        </p:txBody>
      </p:sp>
      <p:sp>
        <p:nvSpPr>
          <p:cNvPr id="3" name="Rectangle 2">
            <a:extLst>
              <a:ext uri="{FF2B5EF4-FFF2-40B4-BE49-F238E27FC236}">
                <a16:creationId xmlns:a16="http://schemas.microsoft.com/office/drawing/2014/main" id="{F9C38105-D528-4194-98EF-E0588F750D84}"/>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Przykłady zastosowań AI</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Obszar</a:t>
                      </a:r>
                    </a:p>
                  </a:txBody>
                  <a:tcPr>
                    <a:solidFill>
                      <a:srgbClr val="142F47"/>
                    </a:solidFill>
                  </a:tcPr>
                </a:tc>
                <a:tc>
                  <a:txBody>
                    <a:bodyPr/>
                    <a:lstStyle/>
                    <a:p>
                      <a:r>
                        <a:rPr sz="1875" b="1">
                          <a:solidFill>
                            <a:srgbClr val="FFFFFF"/>
                          </a:solidFill>
                          <a:latin typeface="DejaVu Sans"/>
                          <a:ea typeface="DejaVu Sans"/>
                          <a:cs typeface="DejaVu Sans"/>
                        </a:rPr>
                        <a:t>Krok AI</a:t>
                      </a:r>
                    </a:p>
                  </a:txBody>
                  <a:tcPr>
                    <a:solidFill>
                      <a:srgbClr val="142F47"/>
                    </a:solidFill>
                  </a:tcPr>
                </a:tc>
                <a:tc>
                  <a:txBody>
                    <a:bodyPr/>
                    <a:lstStyle/>
                    <a:p>
                      <a:r>
                        <a:rPr sz="1875" b="1">
                          <a:solidFill>
                            <a:srgbClr val="FFFFFF"/>
                          </a:solidFill>
                          <a:latin typeface="DejaVu Sans"/>
                          <a:ea typeface="DejaVu Sans"/>
                          <a:cs typeface="DejaVu Sans"/>
                        </a:rPr>
                        <a:t>Kontrola procesu</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Finanse</a:t>
                      </a:r>
                    </a:p>
                  </a:txBody>
                  <a:tcPr>
                    <a:solidFill>
                      <a:srgbClr val="FFFFFF"/>
                    </a:solidFill>
                  </a:tcPr>
                </a:tc>
                <a:tc>
                  <a:txBody>
                    <a:bodyPr/>
                    <a:lstStyle/>
                    <a:p>
                      <a:r>
                        <a:rPr sz="1800" b="0">
                          <a:solidFill>
                            <a:srgbClr val="142F47"/>
                          </a:solidFill>
                          <a:latin typeface="DejaVu Sans"/>
                          <a:ea typeface="DejaVu Sans"/>
                          <a:cs typeface="DejaVu Sans"/>
                        </a:rPr>
                        <a:t>Klasyfikacja pytań o faktury</a:t>
                      </a:r>
                    </a:p>
                  </a:txBody>
                  <a:tcPr>
                    <a:solidFill>
                      <a:srgbClr val="FFFFFF"/>
                    </a:solidFill>
                  </a:tcPr>
                </a:tc>
                <a:tc>
                  <a:txBody>
                    <a:bodyPr/>
                    <a:lstStyle/>
                    <a:p>
                      <a:r>
                        <a:rPr sz="1800" b="0">
                          <a:solidFill>
                            <a:srgbClr val="142F47"/>
                          </a:solidFill>
                          <a:latin typeface="DejaVu Sans"/>
                          <a:ea typeface="DejaVu Sans"/>
                          <a:cs typeface="DejaVu Sans"/>
                        </a:rPr>
                        <a:t>Weryfikacja danych odbiorcy</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HR</a:t>
                      </a:r>
                    </a:p>
                  </a:txBody>
                  <a:tcPr>
                    <a:solidFill>
                      <a:srgbClr val="EEF1F1"/>
                    </a:solidFill>
                  </a:tcPr>
                </a:tc>
                <a:tc>
                  <a:txBody>
                    <a:bodyPr/>
                    <a:lstStyle/>
                    <a:p>
                      <a:r>
                        <a:rPr sz="1800" b="0">
                          <a:solidFill>
                            <a:srgbClr val="142F47"/>
                          </a:solidFill>
                          <a:latin typeface="DejaVu Sans"/>
                          <a:ea typeface="DejaVu Sans"/>
                          <a:cs typeface="DejaVu Sans"/>
                        </a:rPr>
                        <a:t>Odpowiedź na podstawie procedury</a:t>
                      </a:r>
                    </a:p>
                  </a:txBody>
                  <a:tcPr>
                    <a:solidFill>
                      <a:srgbClr val="EEF1F1"/>
                    </a:solidFill>
                  </a:tcPr>
                </a:tc>
                <a:tc>
                  <a:txBody>
                    <a:bodyPr/>
                    <a:lstStyle/>
                    <a:p>
                      <a:r>
                        <a:rPr sz="1800" b="0">
                          <a:solidFill>
                            <a:srgbClr val="142F47"/>
                          </a:solidFill>
                          <a:latin typeface="DejaVu Sans"/>
                          <a:ea typeface="DejaVu Sans"/>
                          <a:cs typeface="DejaVu Sans"/>
                        </a:rPr>
                        <a:t>Przegląd wyjątków</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Obsługa klienta</a:t>
                      </a:r>
                    </a:p>
                  </a:txBody>
                  <a:tcPr>
                    <a:solidFill>
                      <a:srgbClr val="FFFFFF"/>
                    </a:solidFill>
                  </a:tcPr>
                </a:tc>
                <a:tc>
                  <a:txBody>
                    <a:bodyPr/>
                    <a:lstStyle/>
                    <a:p>
                      <a:r>
                        <a:rPr sz="1800" b="0">
                          <a:solidFill>
                            <a:srgbClr val="142F47"/>
                          </a:solidFill>
                          <a:latin typeface="DejaVu Sans"/>
                          <a:ea typeface="DejaVu Sans"/>
                          <a:cs typeface="DejaVu Sans"/>
                        </a:rPr>
                        <a:t>Analiza sprawy i szkic odpowiedzi</a:t>
                      </a:r>
                    </a:p>
                  </a:txBody>
                  <a:tcPr>
                    <a:solidFill>
                      <a:srgbClr val="FFFFFF"/>
                    </a:solidFill>
                  </a:tcPr>
                </a:tc>
                <a:tc>
                  <a:txBody>
                    <a:bodyPr/>
                    <a:lstStyle/>
                    <a:p>
                      <a:r>
                        <a:rPr sz="1800" b="0">
                          <a:solidFill>
                            <a:srgbClr val="142F47"/>
                          </a:solidFill>
                          <a:latin typeface="DejaVu Sans"/>
                          <a:ea typeface="DejaVu Sans"/>
                          <a:cs typeface="DejaVu Sans"/>
                        </a:rPr>
                        <a:t>Zatwierdzenie działania</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27228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823B93-AE96-4228-A0B2-1D7407C74C53}"/>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0E98445D-6672-4B7D-8280-8722D94B37B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18</a:t>
            </a:r>
          </a:p>
        </p:txBody>
      </p:sp>
      <p:sp>
        <p:nvSpPr>
          <p:cNvPr id="3" name="Rectangle 2">
            <a:extLst>
              <a:ext uri="{FF2B5EF4-FFF2-40B4-BE49-F238E27FC236}">
                <a16:creationId xmlns:a16="http://schemas.microsoft.com/office/drawing/2014/main" id="{E0D925DC-B6B9-442D-A4E1-E794AD79E6BC}"/>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Instrukcja dla modelu</a:t>
            </a:r>
          </a:p>
        </p:txBody>
      </p:sp>
      <p:sp>
        <p:nvSpPr>
          <p:cNvPr id="4" name="Rectangle 3">
            <a:extLst>
              <a:ext uri="{FF2B5EF4-FFF2-40B4-BE49-F238E27FC236}">
                <a16:creationId xmlns:a16="http://schemas.microsoft.com/office/drawing/2014/main" id="{0000B04A-803C-47AA-809A-DEFBEB53A7B8}"/>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Zadanie: podsumuj zgłoszenie w dwóch zdaniach.</a:t>
            </a:r>
          </a:p>
        </p:txBody>
      </p:sp>
      <p:sp>
        <p:nvSpPr>
          <p:cNvPr id="5" name="Rectangle 4">
            <a:extLst>
              <a:ext uri="{FF2B5EF4-FFF2-40B4-BE49-F238E27FC236}">
                <a16:creationId xmlns:a16="http://schemas.microsoft.com/office/drawing/2014/main" id="{EDD66B00-C496-439D-965D-510B90A9883D}"/>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Kontekst: zachowaj funkcję, kod błędu i zakres dat.</a:t>
            </a:r>
          </a:p>
        </p:txBody>
      </p:sp>
      <p:sp>
        <p:nvSpPr>
          <p:cNvPr id="6" name="Rectangle 5">
            <a:extLst>
              <a:ext uri="{FF2B5EF4-FFF2-40B4-BE49-F238E27FC236}">
                <a16:creationId xmlns:a16="http://schemas.microsoft.com/office/drawing/2014/main" id="{8AC1829B-EDBC-4E40-88BA-4BF232CA1BF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Granice: bez nowej diagnozy i obietnicy terminu.</a:t>
            </a:r>
          </a:p>
        </p:txBody>
      </p:sp>
      <p:sp>
        <p:nvSpPr>
          <p:cNvPr id="7" name="Rectangle 6">
            <a:extLst>
              <a:ext uri="{FF2B5EF4-FFF2-40B4-BE49-F238E27FC236}">
                <a16:creationId xmlns:a16="http://schemas.microsoft.com/office/drawing/2014/main" id="{860B0DD7-FDAB-40FA-BF0F-128A336EE481}"/>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Format: krótki tekst po polsku.</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48903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1CBD1E-1946-45D0-BE1E-AA489AE4CA6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AD54DD8C-6627-4006-BEDB-1F71C4CDD95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19</a:t>
            </a:r>
          </a:p>
        </p:txBody>
      </p:sp>
      <p:sp>
        <p:nvSpPr>
          <p:cNvPr id="3" name="Rectangle 2">
            <a:extLst>
              <a:ext uri="{FF2B5EF4-FFF2-40B4-BE49-F238E27FC236}">
                <a16:creationId xmlns:a16="http://schemas.microsoft.com/office/drawing/2014/main" id="{D767865C-6C73-4FCD-95D7-C95FD257FE3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Kontrakt odpowiedzi</a:t>
            </a:r>
          </a:p>
        </p:txBody>
      </p:sp>
      <p:sp>
        <p:nvSpPr>
          <p:cNvPr id="4" name="Rectangle 3">
            <a:extLst>
              <a:ext uri="{FF2B5EF4-FFF2-40B4-BE49-F238E27FC236}">
                <a16:creationId xmlns:a16="http://schemas.microsoft.com/office/drawing/2014/main" id="{0AFA2B26-43C1-40F6-B5DE-C9C97975AC8C}"/>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category: jedna z dozwolonych wartości</a:t>
            </a:r>
          </a:p>
        </p:txBody>
      </p:sp>
      <p:sp>
        <p:nvSpPr>
          <p:cNvPr id="5" name="Rectangle 4">
            <a:extLst>
              <a:ext uri="{FF2B5EF4-FFF2-40B4-BE49-F238E27FC236}">
                <a16:creationId xmlns:a16="http://schemas.microsoft.com/office/drawing/2014/main" id="{66CF27D5-BA6F-483D-ABFE-6E3BF98E0932}"/>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humanReview: Boolean</a:t>
            </a:r>
          </a:p>
        </p:txBody>
      </p:sp>
      <p:sp>
        <p:nvSpPr>
          <p:cNvPr id="6" name="Rectangle 5">
            <a:extLst>
              <a:ext uri="{FF2B5EF4-FFF2-40B4-BE49-F238E27FC236}">
                <a16:creationId xmlns:a16="http://schemas.microsoft.com/office/drawing/2014/main" id="{45D35CED-D812-4838-BB2C-47C01F978F61}"/>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requestId: taki sam jak na wejściu</a:t>
            </a:r>
          </a:p>
        </p:txBody>
      </p:sp>
      <p:sp>
        <p:nvSpPr>
          <p:cNvPr id="7" name="Rectangle 6">
            <a:extLst>
              <a:ext uri="{FF2B5EF4-FFF2-40B4-BE49-F238E27FC236}">
                <a16:creationId xmlns:a16="http://schemas.microsoft.com/office/drawing/2014/main" id="{6F576224-2416-4A16-9CC3-943EF3E0136A}"/>
              </a:ext>
            </a:extLst>
          </p:cNvPr>
          <p:cNvSpPr>
            <a:spLocks noGrp="1"/>
          </p:cNvSpPr>
          <p:nvPr/>
        </p:nvSpPr>
        <p:spPr>
          <a:xfrm>
            <a:off x="723900" y="495300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Proces waliduje pola, ich spójność i uprawnienia przed działaniem.</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65856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6B8799-4F6D-47D5-9525-035AD7217156}"/>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B11D82F9-0801-4521-B3A2-B296EB559BBD}"/>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20</a:t>
            </a:r>
          </a:p>
        </p:txBody>
      </p:sp>
      <p:sp>
        <p:nvSpPr>
          <p:cNvPr id="3" name="Rectangle 2">
            <a:extLst>
              <a:ext uri="{FF2B5EF4-FFF2-40B4-BE49-F238E27FC236}">
                <a16:creationId xmlns:a16="http://schemas.microsoft.com/office/drawing/2014/main" id="{66F22D9F-B0CB-4C94-9B2E-03C5F7E5A19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1. Robot wywołuje AI</a:t>
            </a:r>
          </a:p>
        </p:txBody>
      </p:sp>
      <p:sp>
        <p:nvSpPr>
          <p:cNvPr id="4" name="Rectangle 3">
            <a:extLst>
              <a:ext uri="{FF2B5EF4-FFF2-40B4-BE49-F238E27FC236}">
                <a16:creationId xmlns:a16="http://schemas.microsoft.com/office/drawing/2014/main" id="{9A2DFCCC-4694-40D9-B15E-B89AD875A49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Zbuduj Intake_AI w Studio Desktop: podsumowanie, kategoria i routing.</a:t>
            </a:r>
          </a:p>
        </p:txBody>
      </p:sp>
      <p:sp>
        <p:nvSpPr>
          <p:cNvPr id="5" name="Rectangle 4">
            <a:extLst>
              <a:ext uri="{FF2B5EF4-FFF2-40B4-BE49-F238E27FC236}">
                <a16:creationId xmlns:a16="http://schemas.microsoft.com/office/drawing/2014/main" id="{E0C29F6D-9A39-40E4-86F1-BD9B7DCB964C}"/>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Sprawdź REQ-001, REQ-005 i REQ-007.</a:t>
            </a:r>
          </a:p>
        </p:txBody>
      </p:sp>
      <p:sp>
        <p:nvSpPr>
          <p:cNvPr id="6" name="Rectangle 5">
            <a:extLst>
              <a:ext uri="{FF2B5EF4-FFF2-40B4-BE49-F238E27FC236}">
                <a16:creationId xmlns:a16="http://schemas.microsoft.com/office/drawing/2014/main" id="{3C7AC3E0-2B29-4F78-9E01-6F47ED51A420}"/>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robot zachowuje szczegóły i obsługuje niejasną treść.</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493204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7A1120D-E7C7-4E7C-B6C1-B52B74F87FE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E373490-A6A1-4F92-95DB-F3F94F7F3175}"/>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21</a:t>
            </a:r>
          </a:p>
        </p:txBody>
      </p:sp>
      <p:sp>
        <p:nvSpPr>
          <p:cNvPr id="3" name="Rectangle 2">
            <a:extLst>
              <a:ext uri="{FF2B5EF4-FFF2-40B4-BE49-F238E27FC236}">
                <a16:creationId xmlns:a16="http://schemas.microsoft.com/office/drawing/2014/main" id="{E06728D2-EA2A-4AB4-9367-2A21F0EBC616}"/>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Podobieństwo znaczenia</a:t>
            </a:r>
          </a:p>
        </p:txBody>
      </p:sp>
      <p:sp>
        <p:nvSpPr>
          <p:cNvPr id="4" name="Rectangle 3">
            <a:extLst>
              <a:ext uri="{FF2B5EF4-FFF2-40B4-BE49-F238E27FC236}">
                <a16:creationId xmlns:a16="http://schemas.microsoft.com/office/drawing/2014/main" id="{AA36AF5A-FF3A-49CF-98A5-F3E1858A32AF}"/>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„Raport za dwa miesiące zwraca 500”</a:t>
            </a:r>
          </a:p>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opisywać ten sam problem co „eksport ponad 31 dni”.</a:t>
            </a:r>
          </a:p>
        </p:txBody>
      </p:sp>
      <p:sp>
        <p:nvSpPr>
          <p:cNvPr id="5" name="Rectangle 4">
            <a:extLst>
              <a:ext uri="{FF2B5EF4-FFF2-40B4-BE49-F238E27FC236}">
                <a16:creationId xmlns:a16="http://schemas.microsoft.com/office/drawing/2014/main" id="{F2DF2395-B6B1-418D-93B6-1DC67F01B238}"/>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„Pusty PDF za 7 dni”</a:t>
            </a:r>
          </a:p>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może brzmieć podobnie, ale wymaga innej diagnozy.</a:t>
            </a:r>
          </a:p>
        </p:txBody>
      </p:sp>
      <p:sp>
        <p:nvSpPr>
          <p:cNvPr id="6" name="Rectangle 5">
            <a:extLst>
              <a:ext uri="{FF2B5EF4-FFF2-40B4-BE49-F238E27FC236}">
                <a16:creationId xmlns:a16="http://schemas.microsoft.com/office/drawing/2014/main" id="{DB3FF18F-9BC6-460B-B515-8A4D9C67F655}"/>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Wysoki wynik wskazuje kandydata do sprawdzenia.</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09134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A8A251-8351-425F-BC8E-A78325C93EF6}"/>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2C683F68-37A7-42A6-BD1C-09307975B491}"/>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22</a:t>
            </a:r>
          </a:p>
        </p:txBody>
      </p:sp>
      <p:sp>
        <p:nvSpPr>
          <p:cNvPr id="3" name="Rectangle 2">
            <a:extLst>
              <a:ext uri="{FF2B5EF4-FFF2-40B4-BE49-F238E27FC236}">
                <a16:creationId xmlns:a16="http://schemas.microsoft.com/office/drawing/2014/main" id="{E31D3B8F-DAD9-40C3-90B6-08B2558D4EA3}"/>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Próg dopasowania</a:t>
            </a:r>
          </a:p>
        </p:txBody>
      </p:sp>
      <p:sp>
        <p:nvSpPr>
          <p:cNvPr id="4" name="Rectangle 3">
            <a:extLst>
              <a:ext uri="{FF2B5EF4-FFF2-40B4-BE49-F238E27FC236}">
                <a16:creationId xmlns:a16="http://schemas.microsoft.com/office/drawing/2014/main" id="{D7CE25FD-A80B-49E1-AD55-2F51DFA76D06}"/>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Niższy próg: więcej kandydatów i więcej fałszywych dopasowań.</a:t>
            </a:r>
          </a:p>
        </p:txBody>
      </p:sp>
      <p:sp>
        <p:nvSpPr>
          <p:cNvPr id="5" name="Rectangle 4">
            <a:extLst>
              <a:ext uri="{FF2B5EF4-FFF2-40B4-BE49-F238E27FC236}">
                <a16:creationId xmlns:a16="http://schemas.microsoft.com/office/drawing/2014/main" id="{FD0A0AC1-E2E5-49C4-88B5-A9AB512779EB}"/>
              </a:ext>
            </a:extLst>
          </p:cNvPr>
          <p:cNvSpPr>
            <a:spLocks noGrp="1"/>
          </p:cNvSpPr>
          <p:nvPr/>
        </p:nvSpPr>
        <p:spPr>
          <a:xfrm>
            <a:off x="723900" y="339090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Wyższy próg: mniej kandydatów i ryzyko przeoczenia duplikatu.</a:t>
            </a:r>
          </a:p>
        </p:txBody>
      </p:sp>
      <p:sp>
        <p:nvSpPr>
          <p:cNvPr id="6" name="Rectangle 5">
            <a:extLst>
              <a:ext uri="{FF2B5EF4-FFF2-40B4-BE49-F238E27FC236}">
                <a16:creationId xmlns:a16="http://schemas.microsoft.com/office/drawing/2014/main" id="{4DDD1598-D313-4966-9268-512191C62465}"/>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Próg wybieramy na przykładach podobnych do rzeczywistych danych.</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42293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594D4A-C1A7-4BA7-A593-7281891DE0D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8B2F2471-C95D-4ABA-B3B3-25C3E5960AFF}"/>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23</a:t>
            </a:r>
          </a:p>
        </p:txBody>
      </p:sp>
      <p:sp>
        <p:nvSpPr>
          <p:cNvPr id="3" name="Rectangle 2">
            <a:extLst>
              <a:ext uri="{FF2B5EF4-FFF2-40B4-BE49-F238E27FC236}">
                <a16:creationId xmlns:a16="http://schemas.microsoft.com/office/drawing/2014/main" id="{88596748-1709-4E7A-BE90-87B4716BB35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2. Znany czy nowy problem?</a:t>
            </a:r>
          </a:p>
        </p:txBody>
      </p:sp>
      <p:sp>
        <p:nvSpPr>
          <p:cNvPr id="4" name="Rectangle 3">
            <a:extLst>
              <a:ext uri="{FF2B5EF4-FFF2-40B4-BE49-F238E27FC236}">
                <a16:creationId xmlns:a16="http://schemas.microsoft.com/office/drawing/2014/main" id="{E73C74AE-4260-4516-BD0D-8EAA6627F327}"/>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Porównaj zgłoszenie z bazą known_issues.</a:t>
            </a:r>
          </a:p>
        </p:txBody>
      </p:sp>
      <p:sp>
        <p:nvSpPr>
          <p:cNvPr id="5" name="Rectangle 4">
            <a:extLst>
              <a:ext uri="{FF2B5EF4-FFF2-40B4-BE49-F238E27FC236}">
                <a16:creationId xmlns:a16="http://schemas.microsoft.com/office/drawing/2014/main" id="{C9286537-3DDC-4869-B4EB-5D135DED78EF}"/>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Zapisz wyniki sześciu par i wybierz roboczy próg.</a:t>
            </a:r>
          </a:p>
        </p:txBody>
      </p:sp>
      <p:sp>
        <p:nvSpPr>
          <p:cNvPr id="6" name="Rectangle 5">
            <a:extLst>
              <a:ext uri="{FF2B5EF4-FFF2-40B4-BE49-F238E27FC236}">
                <a16:creationId xmlns:a16="http://schemas.microsoft.com/office/drawing/2014/main" id="{17D447FF-34F9-4344-9048-A0A8D63A8A3F}"/>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decyzja zapada po porównaniu całej listy.</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671783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3" name="Connector: Elbow 22"/>
          <p:cNvCxnSpPr>
            <a:stCxn id="9" idx="3"/>
            <a:endCxn id="13" idx="1"/>
          </p:cNvCxnSpPr>
          <p:nvPr/>
        </p:nvCxnSpPr>
        <p:spPr>
          <a:xfrm>
            <a:off x="7286625" y="3800475"/>
            <a:ext cx="1524000" cy="1200150"/>
          </a:xfrm>
          <a:prstGeom prst="bentConnector3">
            <a:avLst>
              <a:gd name="adj1" fmla="val 50000"/>
            </a:avLst>
          </a:prstGeom>
          <a:ln w="28575">
            <a:solidFill>
              <a:srgbClr val="087F8C"/>
            </a:solidFill>
            <a:tailEnd type="triangle" w="sm" len="sm"/>
          </a:ln>
        </p:spPr>
      </p:cxnSp>
      <p:cxnSp>
        <p:nvCxnSpPr>
          <p:cNvPr id="24" name="Connector: Elbow 23"/>
          <p:cNvCxnSpPr>
            <a:stCxn id="9" idx="1"/>
            <a:endCxn id="12" idx="3"/>
          </p:cNvCxnSpPr>
          <p:nvPr/>
        </p:nvCxnSpPr>
        <p:spPr>
          <a:xfrm flipH="1">
            <a:off x="3381375" y="3800475"/>
            <a:ext cx="1524000" cy="1200150"/>
          </a:xfrm>
          <a:prstGeom prst="bentConnector3">
            <a:avLst>
              <a:gd name="adj1" fmla="val 50000"/>
            </a:avLst>
          </a:prstGeom>
          <a:ln w="28575">
            <a:solidFill>
              <a:srgbClr val="087F8C"/>
            </a:solidFill>
            <a:tailEnd type="triangle" w="sm" len="sm"/>
          </a:ln>
        </p:spPr>
      </p:cxnSp>
      <p:cxnSp>
        <p:nvCxnSpPr>
          <p:cNvPr id="25" name="Connector: Elbow 24"/>
          <p:cNvCxnSpPr>
            <a:stCxn id="11" idx="1"/>
            <a:endCxn id="9" idx="3"/>
          </p:cNvCxnSpPr>
          <p:nvPr/>
        </p:nvCxnSpPr>
        <p:spPr>
          <a:xfrm flipH="1">
            <a:off x="7286625" y="2905125"/>
            <a:ext cx="1524000" cy="895350"/>
          </a:xfrm>
          <a:prstGeom prst="bentConnector3">
            <a:avLst>
              <a:gd name="adj1" fmla="val 50000"/>
            </a:avLst>
          </a:prstGeom>
          <a:ln w="28575">
            <a:solidFill>
              <a:srgbClr val="087F8C"/>
            </a:solidFill>
            <a:tailEnd type="triangle" w="sm" len="sm"/>
          </a:ln>
        </p:spPr>
      </p:cxnSp>
      <p:cxnSp>
        <p:nvCxnSpPr>
          <p:cNvPr id="26" name="Connector: Elbow 25"/>
          <p:cNvCxnSpPr>
            <a:stCxn id="10" idx="3"/>
            <a:endCxn id="9" idx="1"/>
          </p:cNvCxnSpPr>
          <p:nvPr/>
        </p:nvCxnSpPr>
        <p:spPr>
          <a:xfrm>
            <a:off x="3381375" y="2905125"/>
            <a:ext cx="1524000" cy="895350"/>
          </a:xfrm>
          <a:prstGeom prst="bentConnector3">
            <a:avLst>
              <a:gd name="adj1" fmla="val 50000"/>
            </a:avLst>
          </a:prstGeom>
          <a:ln w="28575">
            <a:solidFill>
              <a:srgbClr val="087F8C"/>
            </a:solidFill>
            <a:tailEnd type="triangle" w="sm" len="sm"/>
          </a:ln>
        </p:spPr>
      </p:cxnSp>
      <p:sp>
        <p:nvSpPr>
          <p:cNvPr id="8" name="Rectangle 7">
            <a:extLst>
              <a:ext uri="{FF2B5EF4-FFF2-40B4-BE49-F238E27FC236}">
                <a16:creationId xmlns:a16="http://schemas.microsoft.com/office/drawing/2014/main" id="{50C4F91D-FCE9-429C-9525-ABD26ABAE85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E71A79F1-4D96-4995-A95C-D34E0198CBC9}"/>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24</a:t>
            </a:r>
          </a:p>
        </p:txBody>
      </p:sp>
      <p:sp>
        <p:nvSpPr>
          <p:cNvPr id="3" name="Rectangle 2">
            <a:extLst>
              <a:ext uri="{FF2B5EF4-FFF2-40B4-BE49-F238E27FC236}">
                <a16:creationId xmlns:a16="http://schemas.microsoft.com/office/drawing/2014/main" id="{9633ABF7-6065-4B06-BE27-7D9F40689A0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Elementy agenta</a:t>
            </a:r>
          </a:p>
        </p:txBody>
      </p:sp>
      <p:sp>
        <p:nvSpPr>
          <p:cNvPr id="9" name="Rectangle: Rounded Corners 8">
            <a:extLst>
              <a:ext uri="{FF2B5EF4-FFF2-40B4-BE49-F238E27FC236}">
                <a16:creationId xmlns:a16="http://schemas.microsoft.com/office/drawing/2014/main" id="{DD8778FE-9DA4-442F-8B4F-AF1AFE966F47}"/>
              </a:ext>
            </a:extLst>
          </p:cNvPr>
          <p:cNvSpPr>
            <a:spLocks noGrp="1"/>
          </p:cNvSpPr>
          <p:nvPr/>
        </p:nvSpPr>
        <p:spPr>
          <a:xfrm>
            <a:off x="4905375" y="3286125"/>
            <a:ext cx="2381250" cy="1028700"/>
          </a:xfrm>
          <a:prstGeom prst="roundRect">
            <a:avLst>
              <a:gd name="adj" fmla="val 9259"/>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Agent</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cel zadania</a:t>
            </a:r>
          </a:p>
        </p:txBody>
      </p:sp>
      <p:sp>
        <p:nvSpPr>
          <p:cNvPr id="10" name="Rectangle: Rounded Corners 9">
            <a:extLst>
              <a:ext uri="{FF2B5EF4-FFF2-40B4-BE49-F238E27FC236}">
                <a16:creationId xmlns:a16="http://schemas.microsoft.com/office/drawing/2014/main" id="{41DE2EAE-843F-47B4-A24D-17EE9D5C32A9}"/>
              </a:ext>
            </a:extLst>
          </p:cNvPr>
          <p:cNvSpPr>
            <a:spLocks noGrp="1"/>
          </p:cNvSpPr>
          <p:nvPr/>
        </p:nvSpPr>
        <p:spPr>
          <a:xfrm>
            <a:off x="857250" y="24288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Instrukcje</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granice</a:t>
            </a:r>
          </a:p>
        </p:txBody>
      </p:sp>
      <p:sp>
        <p:nvSpPr>
          <p:cNvPr id="11" name="Rectangle: Rounded Corners 10">
            <a:extLst>
              <a:ext uri="{FF2B5EF4-FFF2-40B4-BE49-F238E27FC236}">
                <a16:creationId xmlns:a16="http://schemas.microsoft.com/office/drawing/2014/main" id="{F346FE42-DB32-4AE6-8B96-B02F5C76BFBA}"/>
              </a:ext>
            </a:extLst>
          </p:cNvPr>
          <p:cNvSpPr>
            <a:spLocks noGrp="1"/>
          </p:cNvSpPr>
          <p:nvPr/>
        </p:nvSpPr>
        <p:spPr>
          <a:xfrm>
            <a:off x="8810625" y="24288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Wiedza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biznesowa</a:t>
            </a:r>
          </a:p>
        </p:txBody>
      </p:sp>
      <p:sp>
        <p:nvSpPr>
          <p:cNvPr id="12" name="Rectangle: Rounded Corners 11">
            <a:extLst>
              <a:ext uri="{FF2B5EF4-FFF2-40B4-BE49-F238E27FC236}">
                <a16:creationId xmlns:a16="http://schemas.microsoft.com/office/drawing/2014/main" id="{52DD06FD-C990-4E41-B331-9C63319834A5}"/>
              </a:ext>
            </a:extLst>
          </p:cNvPr>
          <p:cNvSpPr>
            <a:spLocks noGrp="1"/>
          </p:cNvSpPr>
          <p:nvPr/>
        </p:nvSpPr>
        <p:spPr>
          <a:xfrm>
            <a:off x="857250" y="45243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Narzędzia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dane i działania</a:t>
            </a:r>
          </a:p>
        </p:txBody>
      </p:sp>
      <p:sp>
        <p:nvSpPr>
          <p:cNvPr id="13" name="Rectangle: Rounded Corners 12">
            <a:extLst>
              <a:ext uri="{FF2B5EF4-FFF2-40B4-BE49-F238E27FC236}">
                <a16:creationId xmlns:a16="http://schemas.microsoft.com/office/drawing/2014/main" id="{F6C14AA5-559D-473F-ACDD-5D5EFDF1F103}"/>
              </a:ext>
            </a:extLst>
          </p:cNvPr>
          <p:cNvSpPr>
            <a:spLocks noGrp="1"/>
          </p:cNvSpPr>
          <p:nvPr/>
        </p:nvSpPr>
        <p:spPr>
          <a:xfrm>
            <a:off x="8810625" y="4524375"/>
            <a:ext cx="252412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Człowiek</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eskalacja</a:t>
            </a:r>
          </a:p>
        </p:txBody>
      </p:sp>
      <p:sp>
        <p:nvSpPr>
          <p:cNvPr id="18" name="Rectangle 17">
            <a:extLst>
              <a:ext uri="{FF2B5EF4-FFF2-40B4-BE49-F238E27FC236}">
                <a16:creationId xmlns:a16="http://schemas.microsoft.com/office/drawing/2014/main" id="{2EFFE55B-241F-47A0-A2B9-97801159156D}"/>
              </a:ext>
            </a:extLst>
          </p:cNvPr>
          <p:cNvSpPr>
            <a:spLocks noGrp="1"/>
          </p:cNvSpPr>
          <p:nvPr/>
        </p:nvSpPr>
        <p:spPr>
          <a:xfrm>
            <a:off x="762000" y="5953125"/>
            <a:ext cx="10668000" cy="361950"/>
          </a:xfrm>
          <a:prstGeom prst="rect">
            <a:avLst/>
          </a:prstGeom>
          <a:noFill/>
          <a:ln w="0">
            <a:noFill/>
          </a:ln>
        </p:spPr>
        <p:txBody>
          <a:bodyPr>
            <a:noAutofit/>
          </a:bodyPr>
          <a:lstStyle/>
          <a:p>
            <a:pPr>
              <a:buNone/>
              <a:defRPr sz="1800" b="0">
                <a:solidFill>
                  <a:srgbClr val="536878"/>
                </a:solidFill>
                <a:latin typeface="DejaVu Sans"/>
                <a:ea typeface="DejaVu Sans"/>
                <a:cs typeface="DejaVu Sans"/>
              </a:defRPr>
            </a:pPr>
            <a:r>
              <a:rPr sz="1800" b="0">
                <a:solidFill>
                  <a:srgbClr val="536878"/>
                </a:solidFill>
                <a:latin typeface="DejaVu Sans"/>
                <a:ea typeface="DejaVu Sans"/>
                <a:cs typeface="DejaVu Sans"/>
              </a:rPr>
              <a:t>Wejście określa sprawę, a kontrakt wyjścia określa oczekiwany wynik.</a:t>
            </a:r>
          </a:p>
        </p:txBody>
      </p:sp>
      <p:sp>
        <p:nvSpPr>
          <p:cNvPr id="27" name="Rectangle 26"/>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39679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08D6A26-B0F4-4AA4-AB34-B1B25795EB85}"/>
              </a:ext>
            </a:extLst>
          </p:cNvPr>
          <p:cNvSpPr>
            <a:spLocks noGrp="1"/>
          </p:cNvSpPr>
          <p:nvPr/>
        </p:nvSpPr>
        <p:spPr>
          <a:xfrm>
            <a:off x="685800" y="333375"/>
            <a:ext cx="7620000" cy="285750"/>
          </a:xfrm>
          <a:prstGeom prst="rect">
            <a:avLst/>
          </a:prstGeom>
          <a:noFill/>
          <a:ln w="0">
            <a:noFill/>
          </a:ln>
        </p:spPr>
        <p:txBody>
          <a:bodyPr>
            <a:noAutofit/>
          </a:bodyPr>
          <a:lstStyle/>
          <a:p>
            <a:pPr>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A4AFA19-7FB3-4A09-A0C1-FF798C2B0C04}"/>
              </a:ext>
            </a:extLst>
          </p:cNvPr>
          <p:cNvSpPr>
            <a:spLocks noGrp="1"/>
          </p:cNvSpPr>
          <p:nvPr/>
        </p:nvSpPr>
        <p:spPr>
          <a:xfrm>
            <a:off x="685800" y="933450"/>
            <a:ext cx="10763250" cy="1066800"/>
          </a:xfrm>
          <a:prstGeom prst="rect">
            <a:avLst/>
          </a:prstGeom>
          <a:noFill/>
          <a:ln w="0">
            <a:noFill/>
          </a:ln>
        </p:spPr>
        <p:txBody>
          <a:bodyPr>
            <a:noAutofit/>
          </a:bodyPr>
          <a:lstStyle/>
          <a:p>
            <a:pPr>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Własne modele LLM w UiPath</a:t>
            </a:r>
          </a:p>
        </p:txBody>
      </p:sp>
      <p:sp>
        <p:nvSpPr>
          <p:cNvPr id="3" name="Rectangle 2">
            <a:extLst>
              <a:ext uri="{FF2B5EF4-FFF2-40B4-BE49-F238E27FC236}">
                <a16:creationId xmlns:a16="http://schemas.microsoft.com/office/drawing/2014/main" id="{C99B8629-B156-49E2-969A-529484DDCFAE}"/>
              </a:ext>
            </a:extLst>
          </p:cNvPr>
          <p:cNvSpPr>
            <a:spLocks noGrp="1"/>
          </p:cNvSpPr>
          <p:nvPr/>
        </p:nvSpPr>
        <p:spPr>
          <a:xfrm>
            <a:off x="762000" y="2190750"/>
            <a:ext cx="5095875" cy="457200"/>
          </a:xfrm>
          <a:prstGeom prst="rect">
            <a:avLst/>
          </a:prstGeom>
          <a:noFill/>
          <a:ln w="0">
            <a:noFill/>
          </a:ln>
        </p:spPr>
        <p:txBody>
          <a:bodyPr>
            <a:noAutofit/>
          </a:bodyPr>
          <a:lstStyle/>
          <a:p>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BYOS: własna subskrypcja</a:t>
            </a:r>
          </a:p>
        </p:txBody>
      </p:sp>
      <p:sp>
        <p:nvSpPr>
          <p:cNvPr id="4" name="Rectangle 3">
            <a:extLst>
              <a:ext uri="{FF2B5EF4-FFF2-40B4-BE49-F238E27FC236}">
                <a16:creationId xmlns:a16="http://schemas.microsoft.com/office/drawing/2014/main" id="{CB6C1579-9B94-4819-86A8-9ED92FA749C1}"/>
              </a:ext>
            </a:extLst>
          </p:cNvPr>
          <p:cNvSpPr>
            <a:spLocks noGrp="1"/>
          </p:cNvSpPr>
          <p:nvPr/>
        </p:nvSpPr>
        <p:spPr>
          <a:xfrm>
            <a:off x="762000" y="2743200"/>
            <a:ext cx="4953000" cy="857250"/>
          </a:xfrm>
          <a:prstGeom prst="rect">
            <a:avLst/>
          </a:prstGeom>
          <a:noFill/>
          <a:ln w="0">
            <a:noFill/>
          </a:ln>
        </p:spPr>
        <p:txBody>
          <a:bodyPr>
            <a:noAutofit/>
          </a:bodyPr>
          <a:lstStyle/>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Obsługiwany model w ramach</a:t>
            </a:r>
          </a:p>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firmowego konta dostawcy.</a:t>
            </a:r>
          </a:p>
        </p:txBody>
      </p:sp>
      <p:sp>
        <p:nvSpPr>
          <p:cNvPr id="5" name="Rectangle 4">
            <a:extLst>
              <a:ext uri="{FF2B5EF4-FFF2-40B4-BE49-F238E27FC236}">
                <a16:creationId xmlns:a16="http://schemas.microsoft.com/office/drawing/2014/main" id="{9D01A2A6-B94F-4DB3-96B6-0D1A7464094E}"/>
              </a:ext>
            </a:extLst>
          </p:cNvPr>
          <p:cNvSpPr>
            <a:spLocks noGrp="1"/>
          </p:cNvSpPr>
          <p:nvPr/>
        </p:nvSpPr>
        <p:spPr>
          <a:xfrm>
            <a:off x="6477000" y="2190750"/>
            <a:ext cx="4953000" cy="457200"/>
          </a:xfrm>
          <a:prstGeom prst="rect">
            <a:avLst/>
          </a:prstGeom>
          <a:noFill/>
          <a:ln w="0">
            <a:noFill/>
          </a:ln>
        </p:spPr>
        <p:txBody>
          <a:bodyPr>
            <a:noAutofit/>
          </a:bodyPr>
          <a:lstStyle/>
          <a:p>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BYOM: własny model</a:t>
            </a:r>
          </a:p>
        </p:txBody>
      </p:sp>
      <p:sp>
        <p:nvSpPr>
          <p:cNvPr id="6" name="Rectangle 5">
            <a:extLst>
              <a:ext uri="{FF2B5EF4-FFF2-40B4-BE49-F238E27FC236}">
                <a16:creationId xmlns:a16="http://schemas.microsoft.com/office/drawing/2014/main" id="{7B514A23-4F3C-459E-BC26-F81AF6F96F5C}"/>
              </a:ext>
            </a:extLst>
          </p:cNvPr>
          <p:cNvSpPr>
            <a:spLocks noGrp="1"/>
          </p:cNvSpPr>
          <p:nvPr/>
        </p:nvSpPr>
        <p:spPr>
          <a:xfrm>
            <a:off x="6477000" y="2743200"/>
            <a:ext cx="5095875" cy="857250"/>
          </a:xfrm>
          <a:prstGeom prst="rect">
            <a:avLst/>
          </a:prstGeom>
          <a:noFill/>
          <a:ln w="0">
            <a:noFill/>
          </a:ln>
        </p:spPr>
        <p:txBody>
          <a:bodyPr>
            <a:noAutofit/>
          </a:bodyPr>
          <a:lstStyle/>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Model dostępny przez zgodne API.</a:t>
            </a:r>
          </a:p>
          <a:p>
            <a:pPr>
              <a:defRPr sz="2100" b="0">
                <a:solidFill>
                  <a:srgbClr val="142F47"/>
                </a:solidFill>
                <a:latin typeface="DejaVu Sans"/>
                <a:ea typeface="DejaVu Sans"/>
                <a:cs typeface="DejaVu Sans"/>
              </a:defRPr>
            </a:pPr>
            <a:r>
              <a:rPr sz="2100" b="0">
                <a:solidFill>
                  <a:srgbClr val="142F47"/>
                </a:solidFill>
                <a:latin typeface="DejaVu Sans"/>
                <a:ea typeface="DejaVu Sans"/>
                <a:cs typeface="DejaVu Sans"/>
              </a:rPr>
              <a:t>Wymaga zgodności z produktem.</a:t>
            </a:r>
          </a:p>
        </p:txBody>
      </p:sp>
      <p:sp>
        <p:nvSpPr>
          <p:cNvPr id="7" name="Rectangle 6">
            <a:extLst>
              <a:ext uri="{FF2B5EF4-FFF2-40B4-BE49-F238E27FC236}">
                <a16:creationId xmlns:a16="http://schemas.microsoft.com/office/drawing/2014/main" id="{6A0AF3B2-BBB5-4B21-9ABF-7A725B761146}"/>
              </a:ext>
            </a:extLst>
          </p:cNvPr>
          <p:cNvSpPr>
            <a:spLocks noGrp="1"/>
          </p:cNvSpPr>
          <p:nvPr/>
        </p:nvSpPr>
        <p:spPr>
          <a:xfrm>
            <a:off x="762000" y="3886200"/>
            <a:ext cx="10477500" cy="381000"/>
          </a:xfrm>
          <a:prstGeom prst="rect">
            <a:avLst/>
          </a:prstGeom>
          <a:noFill/>
          <a:ln w="0">
            <a:noFill/>
          </a:ln>
        </p:spPr>
        <p:txBody>
          <a:bodyPr>
            <a:noAutofit/>
          </a:bodyPr>
          <a:lstStyle/>
          <a:p>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PRZYKŁAD: OPENAI + KLUCZ API</a:t>
            </a:r>
          </a:p>
        </p:txBody>
      </p:sp>
      <p:sp>
        <p:nvSpPr>
          <p:cNvPr id="8" name="Rectangle 7">
            <a:extLst>
              <a:ext uri="{FF2B5EF4-FFF2-40B4-BE49-F238E27FC236}">
                <a16:creationId xmlns:a16="http://schemas.microsoft.com/office/drawing/2014/main" id="{6504E75E-A264-4B5F-8C0B-5A760E75A7D3}"/>
              </a:ext>
            </a:extLst>
          </p:cNvPr>
          <p:cNvSpPr>
            <a:spLocks noGrp="1"/>
          </p:cNvSpPr>
          <p:nvPr/>
        </p:nvSpPr>
        <p:spPr>
          <a:xfrm>
            <a:off x="762000" y="4371975"/>
            <a:ext cx="10668000" cy="1047750"/>
          </a:xfrm>
          <a:prstGeom prst="rect">
            <a:avLst/>
          </a:prstGeom>
          <a:noFill/>
          <a:ln w="0">
            <a:noFill/>
          </a:ln>
        </p:spPr>
        <p:txBody>
          <a:bodyPr wrap="square">
            <a:normAutofit/>
          </a:bodyPr>
          <a:lstStyle/>
          <a:p>
            <a:pPr>
              <a:defRPr sz="2175" b="0">
                <a:solidFill>
                  <a:srgbClr val="142F47"/>
                </a:solidFill>
                <a:latin typeface="DejaVu Sans"/>
                <a:ea typeface="DejaVu Sans"/>
                <a:cs typeface="DejaVu Sans"/>
              </a:defRPr>
            </a:pPr>
            <a:r>
              <a:rPr sz="2175" b="0">
                <a:solidFill>
                  <a:srgbClr val="142F47"/>
                </a:solidFill>
                <a:latin typeface="DejaVu Sans"/>
              </a:rPr>
              <a:t>Dwie ścieżki: bezpośredni konektor API w workflow albo konfiguracja LLM w AI Trust Layer.</a:t>
            </a:r>
          </a:p>
          <a:p>
            <a:pPr/>
            <a:r>
              <a:rPr sz="2175" b="0">
                <a:solidFill>
                  <a:srgbClr val="142F47"/>
                </a:solidFill>
                <a:latin typeface="DejaVu Sans"/>
              </a:rPr>
              <a:t>Nie każda konfiguracja BYOM jest dostępna w każdej aktywności.</a:t>
            </a:r>
          </a:p>
        </p:txBody>
      </p:sp>
      <p:sp>
        <p:nvSpPr>
          <p:cNvPr id="9" name="Rectangle 8">
            <a:extLst>
              <a:ext uri="{FF2B5EF4-FFF2-40B4-BE49-F238E27FC236}">
                <a16:creationId xmlns:a16="http://schemas.microsoft.com/office/drawing/2014/main" id="{CD6134FB-B402-4C8C-A1CB-E552F842F308}"/>
              </a:ext>
            </a:extLst>
          </p:cNvPr>
          <p:cNvSpPr>
            <a:spLocks noGrp="1"/>
          </p:cNvSpPr>
          <p:nvPr/>
        </p:nvSpPr>
        <p:spPr>
          <a:xfrm>
            <a:off x="762000" y="5810250"/>
            <a:ext cx="10668000" cy="428625"/>
          </a:xfrm>
          <a:prstGeom prst="rect">
            <a:avLst/>
          </a:prstGeom>
          <a:noFill/>
          <a:ln w="0">
            <a:noFill/>
          </a:ln>
        </p:spPr>
        <p:txBody>
          <a:bodyPr wrap="square">
            <a:normAutofit/>
          </a:bodyPr>
          <a:lstStyle/>
          <a:p>
            <a:pPr>
              <a:defRPr sz="1800" b="0">
                <a:solidFill>
                  <a:srgbClr val="536878"/>
                </a:solidFill>
                <a:latin typeface="DejaVu Sans"/>
                <a:ea typeface="DejaVu Sans"/>
                <a:cs typeface="DejaVu Sans"/>
              </a:defRPr>
            </a:pPr>
            <a:r>
              <a:rPr sz="1800" b="0">
                <a:solidFill>
                  <a:srgbClr val="536878"/>
                </a:solidFill>
                <a:latin typeface="DejaVu Sans"/>
              </a:rPr>
              <a:t>Osobne rozliczenie API. Klucze w bezpiecznym połączeniu; zweryfikuj routing i retencję.</a:t>
            </a:r>
          </a:p>
        </p:txBody>
      </p:sp>
      <p:sp>
        <p:nvSpPr>
          <p:cNvPr id="10" name="Rectangle 9">
            <a:extLst>
              <a:ext uri="{FF2B5EF4-FFF2-40B4-BE49-F238E27FC236}">
                <a16:creationId xmlns:a16="http://schemas.microsoft.com/office/drawing/2014/main" id="{B78604CA-3718-4AAC-9295-9F888808F87F}"/>
              </a:ext>
            </a:extLst>
          </p:cNvPr>
          <p:cNvSpPr>
            <a:spLocks noGrp="1"/>
          </p:cNvSpPr>
          <p:nvPr/>
        </p:nvSpPr>
        <p:spPr>
          <a:xfrm>
            <a:off x="10953750" y="6286500"/>
            <a:ext cx="571500" cy="266700"/>
          </a:xfrm>
          <a:prstGeom prst="rect">
            <a:avLst/>
          </a:prstGeom>
          <a:noFill/>
          <a:ln w="0">
            <a:noFill/>
          </a:ln>
        </p:spPr>
        <p:txBody>
          <a:bodyPr>
            <a:noAutofit/>
          </a:bodyPr>
          <a:lstStyle/>
          <a:p>
            <a:pPr>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25</a:t>
            </a:r>
          </a:p>
        </p:txBody>
      </p:sp>
      <p:sp>
        <p:nvSpPr>
          <p:cNvPr id="12" name="Rectangle 11"/>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519449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01B1CD-3807-49C0-AC5A-09B0E059654B}"/>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12E1FC36-7E62-4031-A9AD-B94A33152CE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26</a:t>
            </a:r>
          </a:p>
        </p:txBody>
      </p:sp>
      <p:sp>
        <p:nvSpPr>
          <p:cNvPr id="3" name="Rectangle 2">
            <a:extLst>
              <a:ext uri="{FF2B5EF4-FFF2-40B4-BE49-F238E27FC236}">
                <a16:creationId xmlns:a16="http://schemas.microsoft.com/office/drawing/2014/main" id="{1A3BBA9F-B21E-4776-A869-F754872215F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Interfejs narzędzia</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Element</a:t>
                      </a:r>
                    </a:p>
                  </a:txBody>
                  <a:tcPr>
                    <a:solidFill>
                      <a:srgbClr val="142F47"/>
                    </a:solidFill>
                  </a:tcPr>
                </a:tc>
                <a:tc>
                  <a:txBody>
                    <a:bodyPr/>
                    <a:lstStyle/>
                    <a:p>
                      <a:r>
                        <a:rPr sz="1875" b="1">
                          <a:solidFill>
                            <a:srgbClr val="FFFFFF"/>
                          </a:solidFill>
                          <a:latin typeface="DejaVu Sans"/>
                          <a:ea typeface="DejaVu Sans"/>
                          <a:cs typeface="DejaVu Sans"/>
                        </a:rPr>
                        <a:t>GetTicketStatus</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Wejście</a:t>
                      </a:r>
                    </a:p>
                  </a:txBody>
                  <a:tcPr>
                    <a:solidFill>
                      <a:srgbClr val="FFFFFF"/>
                    </a:solidFill>
                  </a:tcPr>
                </a:tc>
                <a:tc>
                  <a:txBody>
                    <a:bodyPr/>
                    <a:lstStyle/>
                    <a:p>
                      <a:r>
                        <a:rPr sz="1800" b="0">
                          <a:solidFill>
                            <a:srgbClr val="142F47"/>
                          </a:solidFill>
                          <a:latin typeface="DejaVu Sans"/>
                          <a:ea typeface="DejaVu Sans"/>
                          <a:cs typeface="DejaVu Sans"/>
                        </a:rPr>
                        <a:t>ticketId, requesterEmail</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Wynik</a:t>
                      </a:r>
                    </a:p>
                  </a:txBody>
                  <a:tcPr>
                    <a:solidFill>
                      <a:srgbClr val="EEF1F1"/>
                    </a:solidFill>
                  </a:tcPr>
                </a:tc>
                <a:tc>
                  <a:txBody>
                    <a:bodyPr/>
                    <a:lstStyle/>
                    <a:p>
                      <a:r>
                        <a:rPr sz="1800" b="0">
                          <a:solidFill>
                            <a:srgbClr val="142F47"/>
                          </a:solidFill>
                          <a:latin typeface="DejaVu Sans"/>
                          <a:ea typeface="DejaVu Sans"/>
                          <a:cs typeface="DejaVu Sans"/>
                        </a:rPr>
                        <a:t>FOUND, NOT_FOUND, FORBIDDEN lub ERROR</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Granica</a:t>
                      </a:r>
                    </a:p>
                  </a:txBody>
                  <a:tcPr>
                    <a:solidFill>
                      <a:srgbClr val="FFFFFF"/>
                    </a:solidFill>
                  </a:tcPr>
                </a:tc>
                <a:tc>
                  <a:txBody>
                    <a:bodyPr/>
                    <a:lstStyle/>
                    <a:p>
                      <a:r>
                        <a:rPr sz="1800" b="0">
                          <a:solidFill>
                            <a:srgbClr val="142F47"/>
                          </a:solidFill>
                          <a:latin typeface="DejaVu Sans"/>
                          <a:ea typeface="DejaVu Sans"/>
                          <a:cs typeface="DejaVu Sans"/>
                        </a:rPr>
                        <a:t>Tylko dane sprawy uprawnionego użytkownika</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66408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6" name="Straight Arrow Connector 25"/>
          <p:cNvCxnSpPr>
            <a:stCxn id="15" idx="3"/>
            <a:endCxn id="16" idx="1"/>
          </p:cNvCxnSpPr>
          <p:nvPr/>
        </p:nvCxnSpPr>
        <p:spPr>
          <a:xfrm>
            <a:off x="7477125" y="5095875"/>
            <a:ext cx="1095375" cy="0"/>
          </a:xfrm>
          <a:prstGeom prst="straightConnector1">
            <a:avLst/>
          </a:prstGeom>
          <a:ln w="28575">
            <a:solidFill>
              <a:srgbClr val="087F8C"/>
            </a:solidFill>
            <a:tailEnd type="triangle" w="sm" len="sm"/>
          </a:ln>
        </p:spPr>
      </p:cxnSp>
      <p:cxnSp>
        <p:nvCxnSpPr>
          <p:cNvPr id="27" name="Connector: Elbow 26"/>
          <p:cNvCxnSpPr>
            <a:stCxn id="6" idx="3"/>
            <a:endCxn id="15" idx="1"/>
          </p:cNvCxnSpPr>
          <p:nvPr/>
        </p:nvCxnSpPr>
        <p:spPr>
          <a:xfrm>
            <a:off x="3476625" y="3976688"/>
            <a:ext cx="1143000" cy="1119188"/>
          </a:xfrm>
          <a:prstGeom prst="bentConnector3">
            <a:avLst>
              <a:gd name="adj1" fmla="val 50000"/>
            </a:avLst>
          </a:prstGeom>
          <a:ln w="28575">
            <a:solidFill>
              <a:srgbClr val="087F8C"/>
            </a:solidFill>
            <a:tailEnd type="triangle" w="sm" len="sm"/>
          </a:ln>
        </p:spPr>
      </p:cxnSp>
      <p:cxnSp>
        <p:nvCxnSpPr>
          <p:cNvPr id="28" name="Straight Arrow Connector 27"/>
          <p:cNvCxnSpPr>
            <a:stCxn id="11" idx="3"/>
            <a:endCxn id="12" idx="1"/>
          </p:cNvCxnSpPr>
          <p:nvPr/>
        </p:nvCxnSpPr>
        <p:spPr>
          <a:xfrm>
            <a:off x="7477125" y="3905250"/>
            <a:ext cx="1095375" cy="0"/>
          </a:xfrm>
          <a:prstGeom prst="straightConnector1">
            <a:avLst/>
          </a:prstGeom>
          <a:ln w="28575">
            <a:solidFill>
              <a:srgbClr val="087F8C"/>
            </a:solidFill>
            <a:tailEnd type="triangle" w="sm" len="sm"/>
          </a:ln>
        </p:spPr>
      </p:cxnSp>
      <p:cxnSp>
        <p:nvCxnSpPr>
          <p:cNvPr id="29" name="Connector: Elbow 28"/>
          <p:cNvCxnSpPr>
            <a:stCxn id="6" idx="3"/>
            <a:endCxn id="11" idx="1"/>
          </p:cNvCxnSpPr>
          <p:nvPr/>
        </p:nvCxnSpPr>
        <p:spPr>
          <a:xfrm flipV="1">
            <a:off x="3476625" y="3905250"/>
            <a:ext cx="1143000" cy="71438"/>
          </a:xfrm>
          <a:prstGeom prst="bentConnector3">
            <a:avLst>
              <a:gd name="adj1" fmla="val 50000"/>
            </a:avLst>
          </a:prstGeom>
          <a:ln w="28575">
            <a:solidFill>
              <a:srgbClr val="087F8C"/>
            </a:solidFill>
            <a:tailEnd type="triangle" w="sm" len="sm"/>
          </a:ln>
        </p:spPr>
      </p:cxnSp>
      <p:cxnSp>
        <p:nvCxnSpPr>
          <p:cNvPr id="30" name="Straight Arrow Connector 29"/>
          <p:cNvCxnSpPr>
            <a:stCxn id="7" idx="3"/>
            <a:endCxn id="8" idx="1"/>
          </p:cNvCxnSpPr>
          <p:nvPr/>
        </p:nvCxnSpPr>
        <p:spPr>
          <a:xfrm>
            <a:off x="7477125" y="2714625"/>
            <a:ext cx="1095375" cy="0"/>
          </a:xfrm>
          <a:prstGeom prst="straightConnector1">
            <a:avLst/>
          </a:prstGeom>
          <a:ln w="28575">
            <a:solidFill>
              <a:srgbClr val="087F8C"/>
            </a:solidFill>
            <a:tailEnd type="triangle" w="sm" len="sm"/>
          </a:ln>
        </p:spPr>
      </p:cxnSp>
      <p:cxnSp>
        <p:nvCxnSpPr>
          <p:cNvPr id="31" name="Connector: Elbow 30"/>
          <p:cNvCxnSpPr>
            <a:stCxn id="6" idx="3"/>
            <a:endCxn id="7" idx="1"/>
          </p:cNvCxnSpPr>
          <p:nvPr/>
        </p:nvCxnSpPr>
        <p:spPr>
          <a:xfrm flipV="1">
            <a:off x="3476625" y="2714625"/>
            <a:ext cx="1143000" cy="1262063"/>
          </a:xfrm>
          <a:prstGeom prst="bentConnector3">
            <a:avLst>
              <a:gd name="adj1" fmla="val 50000"/>
            </a:avLst>
          </a:prstGeom>
          <a:ln w="28575">
            <a:solidFill>
              <a:srgbClr val="087F8C"/>
            </a:solidFill>
            <a:tailEnd type="triangle" w="sm" len="sm"/>
          </a:ln>
        </p:spPr>
      </p:cxnSp>
      <p:sp>
        <p:nvSpPr>
          <p:cNvPr id="5" name="Rectangle 4">
            <a:extLst>
              <a:ext uri="{FF2B5EF4-FFF2-40B4-BE49-F238E27FC236}">
                <a16:creationId xmlns:a16="http://schemas.microsoft.com/office/drawing/2014/main" id="{4ADCE3BD-4E9A-4B12-BECC-B84ACD2C0E9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8E05BB31-7FAE-4BB8-B8C8-0EF79761AE60}"/>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27</a:t>
            </a:r>
          </a:p>
        </p:txBody>
      </p:sp>
      <p:sp>
        <p:nvSpPr>
          <p:cNvPr id="3" name="Rectangle 2">
            <a:extLst>
              <a:ext uri="{FF2B5EF4-FFF2-40B4-BE49-F238E27FC236}">
                <a16:creationId xmlns:a16="http://schemas.microsoft.com/office/drawing/2014/main" id="{81EF395E-85C6-4AD8-B646-EE1D46289CA6}"/>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Dobór narzędzi do sprawy</a:t>
            </a:r>
          </a:p>
        </p:txBody>
      </p:sp>
      <p:sp>
        <p:nvSpPr>
          <p:cNvPr id="6" name="Rectangle: Rounded Corners 5">
            <a:extLst>
              <a:ext uri="{FF2B5EF4-FFF2-40B4-BE49-F238E27FC236}">
                <a16:creationId xmlns:a16="http://schemas.microsoft.com/office/drawing/2014/main" id="{9C6EB60B-ECE5-414A-A44E-8F5600B46A8B}"/>
              </a:ext>
            </a:extLst>
          </p:cNvPr>
          <p:cNvSpPr>
            <a:spLocks noGrp="1"/>
          </p:cNvSpPr>
          <p:nvPr/>
        </p:nvSpPr>
        <p:spPr>
          <a:xfrm>
            <a:off x="762000" y="3476625"/>
            <a:ext cx="2714625" cy="1000125"/>
          </a:xfrm>
          <a:prstGeom prst="roundRect">
            <a:avLst>
              <a:gd name="adj" fmla="val 9524"/>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Agent analizuje</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intencję zgłoszenia</a:t>
            </a:r>
          </a:p>
        </p:txBody>
      </p:sp>
      <p:sp>
        <p:nvSpPr>
          <p:cNvPr id="7" name="Rectangle: Rounded Corners 6">
            <a:extLst>
              <a:ext uri="{FF2B5EF4-FFF2-40B4-BE49-F238E27FC236}">
                <a16:creationId xmlns:a16="http://schemas.microsoft.com/office/drawing/2014/main" id="{57C160BB-B48E-466A-BE79-58F64A3FD5D3}"/>
              </a:ext>
            </a:extLst>
          </p:cNvPr>
          <p:cNvSpPr>
            <a:spLocks noGrp="1"/>
          </p:cNvSpPr>
          <p:nvPr/>
        </p:nvSpPr>
        <p:spPr>
          <a:xfrm>
            <a:off x="4619625" y="233362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„Portal nie działa”</a:t>
            </a:r>
          </a:p>
        </p:txBody>
      </p:sp>
      <p:sp>
        <p:nvSpPr>
          <p:cNvPr id="8" name="Rectangle: Rounded Corners 7">
            <a:extLst>
              <a:ext uri="{FF2B5EF4-FFF2-40B4-BE49-F238E27FC236}">
                <a16:creationId xmlns:a16="http://schemas.microsoft.com/office/drawing/2014/main" id="{B754C634-4CF5-4F8F-9A78-78958F846E37}"/>
              </a:ext>
            </a:extLst>
          </p:cNvPr>
          <p:cNvSpPr>
            <a:spLocks noGrp="1"/>
          </p:cNvSpPr>
          <p:nvPr/>
        </p:nvSpPr>
        <p:spPr>
          <a:xfrm>
            <a:off x="8572500" y="233362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GetServiceStatus</a:t>
            </a:r>
          </a:p>
        </p:txBody>
      </p:sp>
      <p:sp>
        <p:nvSpPr>
          <p:cNvPr id="11" name="Rectangle: Rounded Corners 10">
            <a:extLst>
              <a:ext uri="{FF2B5EF4-FFF2-40B4-BE49-F238E27FC236}">
                <a16:creationId xmlns:a16="http://schemas.microsoft.com/office/drawing/2014/main" id="{630B5FF9-379C-490A-A957-868FCD392EA2}"/>
              </a:ext>
            </a:extLst>
          </p:cNvPr>
          <p:cNvSpPr>
            <a:spLocks noGrp="1"/>
          </p:cNvSpPr>
          <p:nvPr/>
        </p:nvSpPr>
        <p:spPr>
          <a:xfrm>
            <a:off x="4619625" y="3524250"/>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„Co z INC-104?”</a:t>
            </a:r>
          </a:p>
        </p:txBody>
      </p:sp>
      <p:sp>
        <p:nvSpPr>
          <p:cNvPr id="12" name="Rectangle: Rounded Corners 11">
            <a:extLst>
              <a:ext uri="{FF2B5EF4-FFF2-40B4-BE49-F238E27FC236}">
                <a16:creationId xmlns:a16="http://schemas.microsoft.com/office/drawing/2014/main" id="{2503907E-3D9B-4020-8BF1-4F1BEA928042}"/>
              </a:ext>
            </a:extLst>
          </p:cNvPr>
          <p:cNvSpPr>
            <a:spLocks noGrp="1"/>
          </p:cNvSpPr>
          <p:nvPr/>
        </p:nvSpPr>
        <p:spPr>
          <a:xfrm>
            <a:off x="8572500" y="3524250"/>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GetTicketStatus</a:t>
            </a:r>
          </a:p>
        </p:txBody>
      </p:sp>
      <p:sp>
        <p:nvSpPr>
          <p:cNvPr id="15" name="Rectangle: Rounded Corners 14">
            <a:extLst>
              <a:ext uri="{FF2B5EF4-FFF2-40B4-BE49-F238E27FC236}">
                <a16:creationId xmlns:a16="http://schemas.microsoft.com/office/drawing/2014/main" id="{8498EDD0-F0AF-4114-AF1A-8EC9030F6916}"/>
              </a:ext>
            </a:extLst>
          </p:cNvPr>
          <p:cNvSpPr>
            <a:spLocks noGrp="1"/>
          </p:cNvSpPr>
          <p:nvPr/>
        </p:nvSpPr>
        <p:spPr>
          <a:xfrm>
            <a:off x="4619625" y="471487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„Eksport zwraca 500”</a:t>
            </a:r>
          </a:p>
        </p:txBody>
      </p:sp>
      <p:sp>
        <p:nvSpPr>
          <p:cNvPr id="16" name="Rectangle: Rounded Corners 15">
            <a:extLst>
              <a:ext uri="{FF2B5EF4-FFF2-40B4-BE49-F238E27FC236}">
                <a16:creationId xmlns:a16="http://schemas.microsoft.com/office/drawing/2014/main" id="{3302B254-9D92-40F2-B7EB-A9D1CC4F6FC4}"/>
              </a:ext>
            </a:extLst>
          </p:cNvPr>
          <p:cNvSpPr>
            <a:spLocks noGrp="1"/>
          </p:cNvSpPr>
          <p:nvPr/>
        </p:nvSpPr>
        <p:spPr>
          <a:xfrm>
            <a:off x="8572500" y="4714875"/>
            <a:ext cx="2857500" cy="762000"/>
          </a:xfrm>
          <a:prstGeom prst="roundRect">
            <a:avLst>
              <a:gd name="adj" fmla="val 125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FindKnownIssue</a:t>
            </a:r>
          </a:p>
        </p:txBody>
      </p:sp>
      <p:sp>
        <p:nvSpPr>
          <p:cNvPr id="19" name="Rectangle 18">
            <a:extLst>
              <a:ext uri="{FF2B5EF4-FFF2-40B4-BE49-F238E27FC236}">
                <a16:creationId xmlns:a16="http://schemas.microsoft.com/office/drawing/2014/main" id="{BC42454C-0122-4F06-8A47-F8C534E14466}"/>
              </a:ext>
            </a:extLst>
          </p:cNvPr>
          <p:cNvSpPr>
            <a:spLocks noGrp="1"/>
          </p:cNvSpPr>
          <p:nvPr/>
        </p:nvSpPr>
        <p:spPr>
          <a:xfrm>
            <a:off x="762000" y="6057900"/>
            <a:ext cx="10810875" cy="333375"/>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Brak potrzebnych danych: pytanie doprecyzowujące zamiast losowego wyboru.</a:t>
            </a:r>
          </a:p>
        </p:txBody>
      </p:sp>
      <p:sp>
        <p:nvSpPr>
          <p:cNvPr id="32" name="Rectangle 31"/>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151118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28</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Narzędzia: budujemy i importujemy</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Narzędzie</a:t>
                      </a:r>
                    </a:p>
                  </a:txBody>
                  <a:tcPr>
                    <a:solidFill>
                      <a:srgbClr val="142F47"/>
                    </a:solidFill>
                  </a:tcPr>
                </a:tc>
                <a:tc>
                  <a:txBody>
                    <a:bodyPr/>
                    <a:lstStyle/>
                    <a:p>
                      <a:r>
                        <a:rPr sz="1875" b="1">
                          <a:solidFill>
                            <a:srgbClr val="FFFFFF"/>
                          </a:solidFill>
                          <a:latin typeface="DejaVu Sans"/>
                          <a:ea typeface="DejaVu Sans"/>
                          <a:cs typeface="DejaVu Sans"/>
                        </a:rPr>
                        <a:t>Kto przygotowuje</a:t>
                      </a:r>
                    </a:p>
                  </a:txBody>
                  <a:tcPr>
                    <a:solidFill>
                      <a:srgbClr val="142F47"/>
                    </a:solidFill>
                  </a:tcPr>
                </a:tc>
                <a:tc>
                  <a:txBody>
                    <a:bodyPr/>
                    <a:lstStyle/>
                    <a:p>
                      <a:r>
                        <a:rPr sz="1875" b="1">
                          <a:solidFill>
                            <a:srgbClr val="FFFFFF"/>
                          </a:solidFill>
                          <a:latin typeface="DejaVu Sans"/>
                          <a:ea typeface="DejaVu Sans"/>
                          <a:cs typeface="DejaVu Sans"/>
                        </a:rPr>
                        <a:t>Gdzie używamy</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FindKnownIssue</a:t>
                      </a:r>
                    </a:p>
                  </a:txBody>
                  <a:tcPr>
                    <a:solidFill>
                      <a:srgbClr val="FFFFFF"/>
                    </a:solidFill>
                  </a:tcPr>
                </a:tc>
                <a:tc>
                  <a:txBody>
                    <a:bodyPr/>
                    <a:lstStyle/>
                    <a:p>
                      <a:r>
                        <a:rPr sz="1800" b="0">
                          <a:solidFill>
                            <a:srgbClr val="142F47"/>
                          </a:solidFill>
                          <a:latin typeface="DejaVu Sans"/>
                          <a:ea typeface="DejaVu Sans"/>
                          <a:cs typeface="DejaVu Sans"/>
                        </a:rPr>
                        <a:t>Uczestnik, Studio Web</a:t>
                      </a:r>
                    </a:p>
                  </a:txBody>
                  <a:tcPr>
                    <a:solidFill>
                      <a:srgbClr val="FFFFFF"/>
                    </a:solidFill>
                  </a:tcPr>
                </a:tc>
                <a:tc>
                  <a:txBody>
                    <a:bodyPr/>
                    <a:lstStyle/>
                    <a:p>
                      <a:r>
                        <a:rPr sz="1800" b="0">
                          <a:solidFill>
                            <a:srgbClr val="142F47"/>
                          </a:solidFill>
                          <a:latin typeface="DejaVu Sans"/>
                          <a:ea typeface="DejaVu Sans"/>
                          <a:cs typeface="DejaVu Sans"/>
                        </a:rPr>
                        <a:t>Ćwiczenie 2, potem agent</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GetTicketStatus, GetServiceStatus</a:t>
                      </a:r>
                    </a:p>
                  </a:txBody>
                  <a:tcPr>
                    <a:solidFill>
                      <a:srgbClr val="EEF1F1"/>
                    </a:solidFill>
                  </a:tcPr>
                </a:tc>
                <a:tc>
                  <a:txBody>
                    <a:bodyPr/>
                    <a:lstStyle/>
                    <a:p>
                      <a:r>
                        <a:rPr sz="1800" b="0">
                          <a:solidFill>
                            <a:srgbClr val="142F47"/>
                          </a:solidFill>
                          <a:latin typeface="DejaVu Sans"/>
                          <a:ea typeface="DejaVu Sans"/>
                          <a:cs typeface="DejaVu Sans"/>
                        </a:rPr>
                        <a:t>Uczestnik: Desktop i Web</a:t>
                      </a:r>
                    </a:p>
                  </a:txBody>
                  <a:tcPr>
                    <a:solidFill>
                      <a:srgbClr val="EEF1F1"/>
                    </a:solidFill>
                  </a:tcPr>
                </a:tc>
                <a:tc>
                  <a:txBody>
                    <a:bodyPr/>
                    <a:lstStyle/>
                    <a:p>
                      <a:r>
                        <a:rPr sz="1800" b="0">
                          <a:solidFill>
                            <a:srgbClr val="142F47"/>
                          </a:solidFill>
                          <a:latin typeface="DejaVu Sans"/>
                          <a:ea typeface="DejaVu Sans"/>
                          <a:cs typeface="DejaVu Sans"/>
                        </a:rPr>
                        <a:t>Ćwiczenie 3A, potem agent</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FinalizeCase</a:t>
                      </a:r>
                    </a:p>
                  </a:txBody>
                  <a:tcPr>
                    <a:solidFill>
                      <a:srgbClr val="FFFFFF"/>
                    </a:solidFill>
                  </a:tcPr>
                </a:tc>
                <a:tc>
                  <a:txBody>
                    <a:bodyPr/>
                    <a:lstStyle/>
                    <a:p>
                      <a:r>
                        <a:rPr sz="1800" b="0">
                          <a:solidFill>
                            <a:srgbClr val="142F47"/>
                          </a:solidFill>
                          <a:latin typeface="DejaVu Sans"/>
                          <a:ea typeface="DejaVu Sans"/>
                          <a:cs typeface="DejaVu Sans"/>
                        </a:rPr>
                        <a:t>Wspólny import</a:t>
                      </a:r>
                    </a:p>
                  </a:txBody>
                  <a:tcPr>
                    <a:solidFill>
                      <a:srgbClr val="FFFFFF"/>
                    </a:solidFill>
                  </a:tcPr>
                </a:tc>
                <a:tc>
                  <a:txBody>
                    <a:bodyPr/>
                    <a:lstStyle/>
                    <a:p>
                      <a:r>
                        <a:rPr sz="1800" b="0">
                          <a:solidFill>
                            <a:srgbClr val="142F47"/>
                          </a:solidFill>
                          <a:latin typeface="DejaVu Sans"/>
                          <a:ea typeface="DejaVu Sans"/>
                          <a:cs typeface="DejaVu Sans"/>
                        </a:rPr>
                        <a:t>Maestro (6B)</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29</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Prompt agenta: z czego się składa</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Rola i cel</a:t>
            </a:r>
          </a:p>
        </p:txBody>
      </p:sp>
      <p:sp>
        <p:nvSpPr>
          <p:cNvPr id="18" name="TextBox 17"/>
          <p:cNvSpPr txBox="1"/>
          <p:nvPr/>
        </p:nvSpPr>
        <p:spPr>
          <a:xfrm>
            <a:off x="3355848" y="2436876"/>
            <a:ext cx="3291840"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Ton, zakres i granica odpowiedzialności</a:t>
            </a:r>
          </a:p>
        </p:txBody>
      </p:sp>
      <p:sp>
        <p:nvSpPr>
          <p:cNvPr id="19" name="TextBox 18"/>
          <p:cNvSpPr txBox="1"/>
          <p:nvPr/>
        </p:nvSpPr>
        <p:spPr>
          <a:xfrm>
            <a:off x="6830568" y="2436876"/>
            <a:ext cx="43799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„Jesteś analitykiem zgłoszeń… rola kończy się na rekomendacji”</a:t>
            </a:r>
          </a:p>
        </p:txBody>
      </p:sp>
      <p:sp>
        <p:nvSpPr>
          <p:cNvPr id="20" name="Rounded Rectangle 19"/>
          <p:cNvSpPr/>
          <p:nvPr/>
        </p:nvSpPr>
        <p:spPr>
          <a:xfrm>
            <a:off x="740664" y="3166567"/>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8" y="3285439"/>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248863"/>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Procedura decyzji</a:t>
            </a:r>
          </a:p>
        </p:txBody>
      </p:sp>
      <p:sp>
        <p:nvSpPr>
          <p:cNvPr id="23" name="TextBox 22"/>
          <p:cNvSpPr txBox="1"/>
          <p:nvPr/>
        </p:nvSpPr>
        <p:spPr>
          <a:xfrm>
            <a:off x="3355848" y="3235147"/>
            <a:ext cx="3291840"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Uporządkowane reguły, bez wypisywania pełnego CoT</a:t>
            </a:r>
          </a:p>
        </p:txBody>
      </p:sp>
      <p:sp>
        <p:nvSpPr>
          <p:cNvPr id="24" name="TextBox 23"/>
          <p:cNvSpPr txBox="1"/>
          <p:nvPr/>
        </p:nvSpPr>
        <p:spPr>
          <a:xfrm>
            <a:off x="6830568" y="3235147"/>
            <a:ext cx="43799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ZASADY 1–15; skrócone rationale</a:t>
            </a:r>
          </a:p>
        </p:txBody>
      </p:sp>
      <p:sp>
        <p:nvSpPr>
          <p:cNvPr id="25" name="Rounded Rectangle 24"/>
          <p:cNvSpPr/>
          <p:nvPr/>
        </p:nvSpPr>
        <p:spPr>
          <a:xfrm>
            <a:off x="740664" y="3964838"/>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808" y="4083710"/>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047134"/>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Narzędzia</a:t>
            </a:r>
          </a:p>
        </p:txBody>
      </p:sp>
      <p:sp>
        <p:nvSpPr>
          <p:cNvPr id="28" name="TextBox 27"/>
          <p:cNvSpPr txBox="1"/>
          <p:nvPr/>
        </p:nvSpPr>
        <p:spPr>
          <a:xfrm>
            <a:off x="3355848" y="4033418"/>
            <a:ext cx="3291840"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Kiedy którego użyć, a kiedy nie</a:t>
            </a:r>
          </a:p>
        </p:txBody>
      </p:sp>
      <p:sp>
        <p:nvSpPr>
          <p:cNvPr id="29" name="TextBox 28"/>
          <p:cNvSpPr txBox="1"/>
          <p:nvPr/>
        </p:nvSpPr>
        <p:spPr>
          <a:xfrm>
            <a:off x="6830568" y="4033418"/>
            <a:ext cx="43799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Reguły 4–5: GetTicketStatus, GetServiceStatus, FindKnownIssue</a:t>
            </a:r>
          </a:p>
        </p:txBody>
      </p:sp>
      <p:sp>
        <p:nvSpPr>
          <p:cNvPr id="30" name="Rounded Rectangle 29"/>
          <p:cNvSpPr/>
          <p:nvPr/>
        </p:nvSpPr>
        <p:spPr>
          <a:xfrm>
            <a:off x="740664" y="4763109"/>
            <a:ext cx="10680192" cy="729691"/>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4881981"/>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4845405"/>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Eskalacja i braki</a:t>
            </a:r>
          </a:p>
        </p:txBody>
      </p:sp>
      <p:sp>
        <p:nvSpPr>
          <p:cNvPr id="33" name="TextBox 32"/>
          <p:cNvSpPr txBox="1"/>
          <p:nvPr/>
        </p:nvSpPr>
        <p:spPr>
          <a:xfrm>
            <a:off x="3355848" y="4831689"/>
            <a:ext cx="3291840"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Kiedy pytać, kiedy oddać człowiekowi</a:t>
            </a:r>
          </a:p>
        </p:txBody>
      </p:sp>
      <p:sp>
        <p:nvSpPr>
          <p:cNvPr id="34" name="TextBox 33"/>
          <p:cNvSpPr txBox="1"/>
          <p:nvPr/>
        </p:nvSpPr>
        <p:spPr>
          <a:xfrm>
            <a:off x="6830568" y="4831689"/>
            <a:ext cx="43799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ASK_DETAILS, HUMAN_REVIEW, reguły 3, 8, 10</a:t>
            </a:r>
          </a:p>
        </p:txBody>
      </p:sp>
      <p:sp>
        <p:nvSpPr>
          <p:cNvPr id="35" name="Rounded Rectangle 34"/>
          <p:cNvSpPr/>
          <p:nvPr/>
        </p:nvSpPr>
        <p:spPr>
          <a:xfrm>
            <a:off x="740664" y="5561380"/>
            <a:ext cx="10680192" cy="729691"/>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9808" y="5680252"/>
            <a:ext cx="41148" cy="49194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 y="5643676"/>
            <a:ext cx="2103120" cy="610819"/>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Format wyniku</a:t>
            </a:r>
          </a:p>
        </p:txBody>
      </p:sp>
      <p:sp>
        <p:nvSpPr>
          <p:cNvPr id="38" name="TextBox 37"/>
          <p:cNvSpPr txBox="1"/>
          <p:nvPr/>
        </p:nvSpPr>
        <p:spPr>
          <a:xfrm>
            <a:off x="3355848" y="5629960"/>
            <a:ext cx="3291840" cy="638251"/>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Wynik, który proces może sprawdzić</a:t>
            </a:r>
          </a:p>
        </p:txBody>
      </p:sp>
      <p:sp>
        <p:nvSpPr>
          <p:cNvPr id="39" name="TextBox 38"/>
          <p:cNvSpPr txBox="1"/>
          <p:nvPr/>
        </p:nvSpPr>
        <p:spPr>
          <a:xfrm>
            <a:off x="6830568" y="5629960"/>
            <a:ext cx="4379976" cy="638251"/>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WYJŚCIE i schemat, przykład EX-01</a:t>
            </a:r>
          </a:p>
        </p:txBody>
      </p:sp>
      <p:sp>
        <p:nvSpPr>
          <p:cNvPr id="40" name="TextBox 39"/>
          <p:cNvSpPr txBox="1"/>
          <p:nvPr/>
        </p:nvSpPr>
        <p:spPr>
          <a:xfrm>
            <a:off x="932688" y="2194560"/>
            <a:ext cx="237744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Element</a:t>
            </a:r>
          </a:p>
        </p:txBody>
      </p:sp>
      <p:sp>
        <p:nvSpPr>
          <p:cNvPr id="41" name="TextBox 40"/>
          <p:cNvSpPr txBox="1"/>
          <p:nvPr/>
        </p:nvSpPr>
        <p:spPr>
          <a:xfrm>
            <a:off x="3355848" y="2194560"/>
            <a:ext cx="338328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Po co</a:t>
            </a:r>
          </a:p>
        </p:txBody>
      </p:sp>
      <p:sp>
        <p:nvSpPr>
          <p:cNvPr id="42" name="TextBox 41"/>
          <p:cNvSpPr txBox="1"/>
          <p:nvPr/>
        </p:nvSpPr>
        <p:spPr>
          <a:xfrm>
            <a:off x="6839712" y="2194560"/>
            <a:ext cx="347472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W prompcie SupportAgent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CC4B9C-9D95-4064-9760-CF6F33B4348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1</a:t>
            </a:r>
          </a:p>
        </p:txBody>
      </p:sp>
      <p:sp>
        <p:nvSpPr>
          <p:cNvPr id="2" name="Rectangle 1">
            <a:extLst>
              <a:ext uri="{FF2B5EF4-FFF2-40B4-BE49-F238E27FC236}">
                <a16:creationId xmlns:a16="http://schemas.microsoft.com/office/drawing/2014/main" id="{D9B47960-8723-4520-B2D5-8E5EC065E7D4}"/>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30</a:t>
            </a:r>
          </a:p>
        </p:txBody>
      </p:sp>
      <p:sp>
        <p:nvSpPr>
          <p:cNvPr id="3" name="Rectangle 2">
            <a:extLst>
              <a:ext uri="{FF2B5EF4-FFF2-40B4-BE49-F238E27FC236}">
                <a16:creationId xmlns:a16="http://schemas.microsoft.com/office/drawing/2014/main" id="{6DCB661A-4F80-40AB-9E71-B9AAA9B9F1FF}"/>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3. Agent i narzędzia</a:t>
            </a:r>
          </a:p>
        </p:txBody>
      </p:sp>
      <p:sp>
        <p:nvSpPr>
          <p:cNvPr id="4" name="Rectangle 3">
            <a:extLst>
              <a:ext uri="{FF2B5EF4-FFF2-40B4-BE49-F238E27FC236}">
                <a16:creationId xmlns:a16="http://schemas.microsoft.com/office/drawing/2014/main" id="{8DDC81B7-2737-4BF2-A255-3EA8E782509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Podłącz do SupportAgent narzędzia z Desktop i z Web.</a:t>
            </a:r>
          </a:p>
        </p:txBody>
      </p:sp>
      <p:sp>
        <p:nvSpPr>
          <p:cNvPr id="5" name="Rectangle 4">
            <a:extLst>
              <a:ext uri="{FF2B5EF4-FFF2-40B4-BE49-F238E27FC236}">
                <a16:creationId xmlns:a16="http://schemas.microsoft.com/office/drawing/2014/main" id="{92AAD6CE-A5A5-4256-9AA5-D03199622C2A}"/>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Porównaj REQ-001, REQ-002, REQ-003 i REQ-007.</a:t>
            </a:r>
          </a:p>
        </p:txBody>
      </p:sp>
      <p:sp>
        <p:nvSpPr>
          <p:cNvPr id="6" name="Rectangle 5">
            <a:extLst>
              <a:ext uri="{FF2B5EF4-FFF2-40B4-BE49-F238E27FC236}">
                <a16:creationId xmlns:a16="http://schemas.microsoft.com/office/drawing/2014/main" id="{EAC68C8F-1229-4928-A295-52479480D8AC}"/>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ślad wykonania pokazuje właściwy dobór narzędzi.</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1939670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DA87F-864A-4FB2-AA26-E98B81AF959C}"/>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043F51C0-E2CD-48A2-B7B8-619B6AB8E325}"/>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31</a:t>
            </a:r>
          </a:p>
        </p:txBody>
      </p:sp>
      <p:sp>
        <p:nvSpPr>
          <p:cNvPr id="3" name="Rectangle 2">
            <a:extLst>
              <a:ext uri="{FF2B5EF4-FFF2-40B4-BE49-F238E27FC236}">
                <a16:creationId xmlns:a16="http://schemas.microsoft.com/office/drawing/2014/main" id="{E710FE39-58FB-4AC3-90A0-F8579590BEA6}"/>
              </a:ext>
            </a:extLst>
          </p:cNvPr>
          <p:cNvSpPr>
            <a:spLocks noGrp="1"/>
          </p:cNvSpPr>
          <p:nvPr/>
        </p:nvSpPr>
        <p:spPr>
          <a:xfrm>
            <a:off x="685800" y="1524000"/>
            <a:ext cx="10572750" cy="1524000"/>
          </a:xfrm>
          <a:prstGeom prst="rect">
            <a:avLst/>
          </a:prstGeom>
          <a:noFill/>
          <a:ln w="0">
            <a:noFill/>
          </a:ln>
        </p:spPr>
        <p:txBody>
          <a:bodyPr>
            <a:noAutofit/>
          </a:bodyPr>
          <a:lstStyle/>
          <a:p>
            <a:pPr>
              <a:buNone/>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Dzień 2. Jakość i kontrola</a:t>
            </a:r>
          </a:p>
        </p:txBody>
      </p:sp>
      <p:sp>
        <p:nvSpPr>
          <p:cNvPr id="4" name="Rectangle 3">
            <a:extLst>
              <a:ext uri="{FF2B5EF4-FFF2-40B4-BE49-F238E27FC236}">
                <a16:creationId xmlns:a16="http://schemas.microsoft.com/office/drawing/2014/main" id="{2888C6B3-C138-4AD6-9E36-4C9E1F1AD93D}"/>
              </a:ext>
            </a:extLst>
          </p:cNvPr>
          <p:cNvSpPr>
            <a:spLocks noGrp="1"/>
          </p:cNvSpPr>
          <p:nvPr/>
        </p:nvSpPr>
        <p:spPr>
          <a:xfrm>
            <a:off x="723900" y="3667125"/>
            <a:ext cx="10382250" cy="809625"/>
          </a:xfrm>
          <a:prstGeom prst="rect">
            <a:avLst/>
          </a:prstGeom>
          <a:noFill/>
          <a:ln w="0">
            <a:noFill/>
          </a:ln>
        </p:spPr>
        <p:txBody>
          <a:bodyPr>
            <a:noAutofit/>
          </a:bodyPr>
          <a:lstStyle/>
          <a:p>
            <a:pPr>
              <a:buNone/>
              <a:defRPr sz="2250" b="0">
                <a:solidFill>
                  <a:srgbClr val="6AD1CE"/>
                </a:solidFill>
                <a:latin typeface="DejaVu Sans"/>
                <a:ea typeface="DejaVu Sans"/>
                <a:cs typeface="DejaVu Sans"/>
              </a:defRPr>
            </a:pPr>
            <a:r>
              <a:rPr sz="2250" b="0">
                <a:solidFill>
                  <a:srgbClr val="6AD1CE"/>
                </a:solidFill>
                <a:latin typeface="DejaVu Sans"/>
                <a:ea typeface="DejaVu Sans"/>
                <a:cs typeface="DejaVu Sans"/>
              </a:rPr>
              <a:t>Agent działa na prostych przykładach.</a:t>
            </a:r>
          </a:p>
        </p:txBody>
      </p:sp>
      <p:sp>
        <p:nvSpPr>
          <p:cNvPr id="5" name="Rectangle 4">
            <a:extLst>
              <a:ext uri="{FF2B5EF4-FFF2-40B4-BE49-F238E27FC236}">
                <a16:creationId xmlns:a16="http://schemas.microsoft.com/office/drawing/2014/main" id="{A848D3AB-5209-44CC-988F-71EB527075EC}"/>
              </a:ext>
            </a:extLst>
          </p:cNvPr>
          <p:cNvSpPr>
            <a:spLocks noGrp="1"/>
          </p:cNvSpPr>
          <p:nvPr/>
        </p:nvSpPr>
        <p:spPr>
          <a:xfrm>
            <a:off x="723900" y="4524375"/>
            <a:ext cx="10382250" cy="809625"/>
          </a:xfrm>
          <a:prstGeom prst="rect">
            <a:avLst/>
          </a:prstGeom>
          <a:noFill/>
          <a:ln w="0">
            <a:noFill/>
          </a:ln>
        </p:spPr>
        <p:txBody>
          <a:bodyPr>
            <a:noAutofit/>
          </a:bodyPr>
          <a:lstStyle/>
          <a:p>
            <a:pPr>
              <a:buNone/>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Teraz sprawdzimy źródła odpowiedzi, przypadki trudne i decyzje człowieka.</a:t>
            </a:r>
          </a:p>
        </p:txBody>
      </p:sp>
    </p:spTree>
    <p:extLst>
      <p:ext uri="{BB962C8B-B14F-4D97-AF65-F5344CB8AC3E}">
        <p14:creationId xmlns:p14="http://schemas.microsoft.com/office/powerpoint/2010/main" val="471185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7" name="Straight Arrow Connector 26"/>
          <p:cNvCxnSpPr>
            <a:stCxn id="16" idx="3"/>
            <a:endCxn id="17" idx="1"/>
          </p:cNvCxnSpPr>
          <p:nvPr/>
        </p:nvCxnSpPr>
        <p:spPr>
          <a:xfrm>
            <a:off x="8858250" y="4833938"/>
            <a:ext cx="762000" cy="0"/>
          </a:xfrm>
          <a:prstGeom prst="straightConnector1">
            <a:avLst/>
          </a:prstGeom>
          <a:ln w="28575">
            <a:solidFill>
              <a:srgbClr val="087F8C"/>
            </a:solidFill>
            <a:tailEnd type="triangle" w="sm" len="sm"/>
          </a:ln>
        </p:spPr>
      </p:cxnSp>
      <p:cxnSp>
        <p:nvCxnSpPr>
          <p:cNvPr id="28" name="Connector: Elbow 27"/>
          <p:cNvCxnSpPr>
            <a:stCxn id="11" idx="2"/>
            <a:endCxn id="16" idx="0"/>
          </p:cNvCxnSpPr>
          <p:nvPr/>
        </p:nvCxnSpPr>
        <p:spPr>
          <a:xfrm flipH="1">
            <a:off x="7239000" y="3457575"/>
            <a:ext cx="1238250" cy="981075"/>
          </a:xfrm>
          <a:prstGeom prst="bentConnector4">
            <a:avLst>
              <a:gd name="adj1" fmla="val 0"/>
              <a:gd name="adj2" fmla="val 50000"/>
            </a:avLst>
          </a:prstGeom>
          <a:ln w="28575">
            <a:solidFill>
              <a:srgbClr val="087F8C"/>
            </a:solidFill>
            <a:tailEnd type="triangle" w="sm" len="sm"/>
          </a:ln>
        </p:spPr>
      </p:cxnSp>
      <p:cxnSp>
        <p:nvCxnSpPr>
          <p:cNvPr id="29" name="Connector: Elbow 28"/>
          <p:cNvCxnSpPr>
            <a:stCxn id="15" idx="3"/>
            <a:endCxn id="11" idx="2"/>
          </p:cNvCxnSpPr>
          <p:nvPr/>
        </p:nvCxnSpPr>
        <p:spPr>
          <a:xfrm flipV="1">
            <a:off x="2905125" y="3457575"/>
            <a:ext cx="5572125" cy="1376363"/>
          </a:xfrm>
          <a:prstGeom prst="bentConnector4">
            <a:avLst>
              <a:gd name="adj1" fmla="val 4103"/>
              <a:gd name="adj2" fmla="val 39792"/>
            </a:avLst>
          </a:prstGeom>
          <a:ln w="28575">
            <a:solidFill>
              <a:srgbClr val="087F8C"/>
            </a:solidFill>
            <a:tailEnd type="triangle" w="sm" len="sm"/>
          </a:ln>
        </p:spPr>
      </p:cxnSp>
      <p:cxnSp>
        <p:nvCxnSpPr>
          <p:cNvPr id="30" name="Straight Arrow Connector 29"/>
          <p:cNvCxnSpPr>
            <a:stCxn id="10" idx="3"/>
            <a:endCxn id="11" idx="1"/>
          </p:cNvCxnSpPr>
          <p:nvPr/>
        </p:nvCxnSpPr>
        <p:spPr>
          <a:xfrm>
            <a:off x="6143625" y="3062288"/>
            <a:ext cx="952500" cy="0"/>
          </a:xfrm>
          <a:prstGeom prst="straightConnector1">
            <a:avLst/>
          </a:prstGeom>
          <a:ln w="28575">
            <a:solidFill>
              <a:srgbClr val="087F8C"/>
            </a:solidFill>
            <a:tailEnd type="triangle" w="sm" len="sm"/>
          </a:ln>
        </p:spPr>
      </p:cxnSp>
      <p:cxnSp>
        <p:nvCxnSpPr>
          <p:cNvPr id="31" name="Straight Arrow Connector 30"/>
          <p:cNvCxnSpPr>
            <a:stCxn id="9" idx="3"/>
            <a:endCxn id="10" idx="1"/>
          </p:cNvCxnSpPr>
          <p:nvPr/>
        </p:nvCxnSpPr>
        <p:spPr>
          <a:xfrm>
            <a:off x="2905125" y="3062288"/>
            <a:ext cx="809625" cy="0"/>
          </a:xfrm>
          <a:prstGeom prst="straightConnector1">
            <a:avLst/>
          </a:prstGeom>
          <a:ln w="28575">
            <a:solidFill>
              <a:srgbClr val="087F8C"/>
            </a:solidFill>
            <a:tailEnd type="triangle" w="sm" len="sm"/>
          </a:ln>
        </p:spPr>
      </p:cxnSp>
      <p:sp>
        <p:nvSpPr>
          <p:cNvPr id="7" name="Rectangle 6">
            <a:extLst>
              <a:ext uri="{FF2B5EF4-FFF2-40B4-BE49-F238E27FC236}">
                <a16:creationId xmlns:a16="http://schemas.microsoft.com/office/drawing/2014/main" id="{93A766A5-A7FA-4480-8BCC-4B6F2D9CC505}"/>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2CD37A-3D15-421E-8C11-AEB3948659B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32</a:t>
            </a:r>
          </a:p>
        </p:txBody>
      </p:sp>
      <p:sp>
        <p:nvSpPr>
          <p:cNvPr id="3" name="Rectangle 2">
            <a:extLst>
              <a:ext uri="{FF2B5EF4-FFF2-40B4-BE49-F238E27FC236}">
                <a16:creationId xmlns:a16="http://schemas.microsoft.com/office/drawing/2014/main" id="{D5AE51A4-CF2B-4E8E-BE8C-EBA5C9F552F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Grounding i RAG</a:t>
            </a:r>
          </a:p>
        </p:txBody>
      </p:sp>
      <p:sp>
        <p:nvSpPr>
          <p:cNvPr id="8" name="Rectangle 7">
            <a:extLst>
              <a:ext uri="{FF2B5EF4-FFF2-40B4-BE49-F238E27FC236}">
                <a16:creationId xmlns:a16="http://schemas.microsoft.com/office/drawing/2014/main" id="{33B5B61B-8C3D-4EEE-9EC7-8E6788F4789E}"/>
              </a:ext>
            </a:extLst>
          </p:cNvPr>
          <p:cNvSpPr>
            <a:spLocks noGrp="1"/>
          </p:cNvSpPr>
          <p:nvPr/>
        </p:nvSpPr>
        <p:spPr>
          <a:xfrm>
            <a:off x="742950" y="2105025"/>
            <a:ext cx="5238750" cy="33337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Przygotowanie wiedzy</a:t>
            </a:r>
          </a:p>
        </p:txBody>
      </p:sp>
      <p:sp>
        <p:nvSpPr>
          <p:cNvPr id="9" name="Rectangle: Rounded Corners 8">
            <a:extLst>
              <a:ext uri="{FF2B5EF4-FFF2-40B4-BE49-F238E27FC236}">
                <a16:creationId xmlns:a16="http://schemas.microsoft.com/office/drawing/2014/main" id="{3233767A-342B-4DBA-B4DA-CAE89AD1804C}"/>
              </a:ext>
            </a:extLst>
          </p:cNvPr>
          <p:cNvSpPr>
            <a:spLocks noGrp="1"/>
          </p:cNvSpPr>
          <p:nvPr/>
        </p:nvSpPr>
        <p:spPr>
          <a:xfrm>
            <a:off x="762000" y="266700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Dokumenty</a:t>
            </a:r>
          </a:p>
        </p:txBody>
      </p:sp>
      <p:sp>
        <p:nvSpPr>
          <p:cNvPr id="10" name="Rectangle: Rounded Corners 9">
            <a:extLst>
              <a:ext uri="{FF2B5EF4-FFF2-40B4-BE49-F238E27FC236}">
                <a16:creationId xmlns:a16="http://schemas.microsoft.com/office/drawing/2014/main" id="{53FA1357-8724-4DDA-B4E5-EA6A54C5C93D}"/>
              </a:ext>
            </a:extLst>
          </p:cNvPr>
          <p:cNvSpPr>
            <a:spLocks noGrp="1"/>
          </p:cNvSpPr>
          <p:nvPr/>
        </p:nvSpPr>
        <p:spPr>
          <a:xfrm>
            <a:off x="3714750" y="2667000"/>
            <a:ext cx="242887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Fragmenty</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indeks</a:t>
            </a:r>
          </a:p>
        </p:txBody>
      </p:sp>
      <p:sp>
        <p:nvSpPr>
          <p:cNvPr id="11" name="Rectangle: Rounded Corners 10">
            <a:extLst>
              <a:ext uri="{FF2B5EF4-FFF2-40B4-BE49-F238E27FC236}">
                <a16:creationId xmlns:a16="http://schemas.microsoft.com/office/drawing/2014/main" id="{6203CF95-A6E1-4054-8226-2736E741FFBC}"/>
              </a:ext>
            </a:extLst>
          </p:cNvPr>
          <p:cNvSpPr>
            <a:spLocks noGrp="1"/>
          </p:cNvSpPr>
          <p:nvPr/>
        </p:nvSpPr>
        <p:spPr>
          <a:xfrm>
            <a:off x="7096125" y="2667000"/>
            <a:ext cx="27622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Wyszukiwanie</a:t>
            </a:r>
          </a:p>
        </p:txBody>
      </p:sp>
      <p:sp>
        <p:nvSpPr>
          <p:cNvPr id="14" name="Rectangle 13">
            <a:extLst>
              <a:ext uri="{FF2B5EF4-FFF2-40B4-BE49-F238E27FC236}">
                <a16:creationId xmlns:a16="http://schemas.microsoft.com/office/drawing/2014/main" id="{DAAB9401-D17B-4C43-8180-D05389C2CA42}"/>
              </a:ext>
            </a:extLst>
          </p:cNvPr>
          <p:cNvSpPr>
            <a:spLocks noGrp="1"/>
          </p:cNvSpPr>
          <p:nvPr/>
        </p:nvSpPr>
        <p:spPr>
          <a:xfrm>
            <a:off x="742950" y="3838575"/>
            <a:ext cx="5238750" cy="33337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Odpowiedź na pytanie</a:t>
            </a:r>
          </a:p>
        </p:txBody>
      </p:sp>
      <p:sp>
        <p:nvSpPr>
          <p:cNvPr id="15" name="Rectangle: Rounded Corners 14">
            <a:extLst>
              <a:ext uri="{FF2B5EF4-FFF2-40B4-BE49-F238E27FC236}">
                <a16:creationId xmlns:a16="http://schemas.microsoft.com/office/drawing/2014/main" id="{1172069D-C46F-4947-89EE-829E8FB7E943}"/>
              </a:ext>
            </a:extLst>
          </p:cNvPr>
          <p:cNvSpPr>
            <a:spLocks noGrp="1"/>
          </p:cNvSpPr>
          <p:nvPr/>
        </p:nvSpPr>
        <p:spPr>
          <a:xfrm>
            <a:off x="762000" y="4438650"/>
            <a:ext cx="21431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Pytanie</a:t>
            </a:r>
          </a:p>
        </p:txBody>
      </p:sp>
      <p:sp>
        <p:nvSpPr>
          <p:cNvPr id="16" name="Rectangle: Rounded Corners 15">
            <a:extLst>
              <a:ext uri="{FF2B5EF4-FFF2-40B4-BE49-F238E27FC236}">
                <a16:creationId xmlns:a16="http://schemas.microsoft.com/office/drawing/2014/main" id="{BD9FAE78-D0EF-40EA-A676-851146DA605F}"/>
              </a:ext>
            </a:extLst>
          </p:cNvPr>
          <p:cNvSpPr>
            <a:spLocks noGrp="1"/>
          </p:cNvSpPr>
          <p:nvPr/>
        </p:nvSpPr>
        <p:spPr>
          <a:xfrm>
            <a:off x="5619750" y="4438650"/>
            <a:ext cx="3238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Model + znalezione</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fragmenty</a:t>
            </a:r>
          </a:p>
        </p:txBody>
      </p:sp>
      <p:sp>
        <p:nvSpPr>
          <p:cNvPr id="17" name="Rectangle: Rounded Corners 16">
            <a:extLst>
              <a:ext uri="{FF2B5EF4-FFF2-40B4-BE49-F238E27FC236}">
                <a16:creationId xmlns:a16="http://schemas.microsoft.com/office/drawing/2014/main" id="{4882D968-4930-46B3-85FC-43D0BD8D5C38}"/>
              </a:ext>
            </a:extLst>
          </p:cNvPr>
          <p:cNvSpPr>
            <a:spLocks noGrp="1"/>
          </p:cNvSpPr>
          <p:nvPr/>
        </p:nvSpPr>
        <p:spPr>
          <a:xfrm>
            <a:off x="9620250" y="4438650"/>
            <a:ext cx="19526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Odpowiedź</a:t>
            </a:r>
          </a:p>
        </p:txBody>
      </p:sp>
      <p:sp>
        <p:nvSpPr>
          <p:cNvPr id="21" name="Rectangle 20">
            <a:extLst>
              <a:ext uri="{FF2B5EF4-FFF2-40B4-BE49-F238E27FC236}">
                <a16:creationId xmlns:a16="http://schemas.microsoft.com/office/drawing/2014/main" id="{A8596FE0-7D27-4A6C-A632-06E8EF07780C}"/>
              </a:ext>
            </a:extLst>
          </p:cNvPr>
          <p:cNvSpPr>
            <a:spLocks noGrp="1"/>
          </p:cNvSpPr>
          <p:nvPr/>
        </p:nvSpPr>
        <p:spPr>
          <a:xfrm>
            <a:off x="762000" y="5905500"/>
            <a:ext cx="10810875" cy="38100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Grounding oznacza oparcie odpowiedzi na danych. RAG dodaje wyszukiwanie.</a:t>
            </a:r>
          </a:p>
        </p:txBody>
      </p:sp>
      <p:sp>
        <p:nvSpPr>
          <p:cNvPr id="32" name="Rectangle 31"/>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43952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D4C573-90D8-4CB3-814E-2813A6BFBB0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D8F237A1-8CAA-4C78-9734-13B236A4D8D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33</a:t>
            </a:r>
          </a:p>
        </p:txBody>
      </p:sp>
      <p:sp>
        <p:nvSpPr>
          <p:cNvPr id="3" name="Rectangle 2">
            <a:extLst>
              <a:ext uri="{FF2B5EF4-FFF2-40B4-BE49-F238E27FC236}">
                <a16:creationId xmlns:a16="http://schemas.microsoft.com/office/drawing/2014/main" id="{B5F53BF5-0AF0-450C-8718-3F63A7D461D1}"/>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Wiedza i dane bieżące</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Pytanie</a:t>
                      </a:r>
                    </a:p>
                  </a:txBody>
                  <a:tcPr>
                    <a:solidFill>
                      <a:srgbClr val="142F47"/>
                    </a:solidFill>
                  </a:tcPr>
                </a:tc>
                <a:tc>
                  <a:txBody>
                    <a:bodyPr/>
                    <a:lstStyle/>
                    <a:p>
                      <a:r>
                        <a:rPr sz="1875" b="1">
                          <a:solidFill>
                            <a:srgbClr val="FFFFFF"/>
                          </a:solidFill>
                          <a:latin typeface="DejaVu Sans"/>
                          <a:ea typeface="DejaVu Sans"/>
                          <a:cs typeface="DejaVu Sans"/>
                        </a:rPr>
                        <a:t>Źródło w naszym rozwiązaniu</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Jak pobrać fakturę?</a:t>
                      </a:r>
                    </a:p>
                  </a:txBody>
                  <a:tcPr>
                    <a:solidFill>
                      <a:srgbClr val="FFFFFF"/>
                    </a:solidFill>
                  </a:tcPr>
                </a:tc>
                <a:tc>
                  <a:txBody>
                    <a:bodyPr/>
                    <a:lstStyle/>
                    <a:p>
                      <a:r>
                        <a:rPr sz="1800" b="0">
                          <a:solidFill>
                            <a:srgbClr val="142F47"/>
                          </a:solidFill>
                          <a:latin typeface="DejaVu Sans"/>
                          <a:ea typeface="DejaVu Sans"/>
                          <a:cs typeface="DejaVu Sans"/>
                        </a:rPr>
                        <a:t>Dokument KB-001</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Czy portal teraz działa?</a:t>
                      </a:r>
                    </a:p>
                  </a:txBody>
                  <a:tcPr>
                    <a:solidFill>
                      <a:srgbClr val="EEF1F1"/>
                    </a:solidFill>
                  </a:tcPr>
                </a:tc>
                <a:tc>
                  <a:txBody>
                    <a:bodyPr/>
                    <a:lstStyle/>
                    <a:p>
                      <a:r>
                        <a:rPr sz="1800" b="0">
                          <a:solidFill>
                            <a:srgbClr val="142F47"/>
                          </a:solidFill>
                          <a:latin typeface="DejaVu Sans"/>
                          <a:ea typeface="DejaVu Sans"/>
                          <a:cs typeface="DejaVu Sans"/>
                        </a:rPr>
                        <a:t>GetServiceStatus</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Kiedy naprawicie błąd?</a:t>
                      </a:r>
                    </a:p>
                  </a:txBody>
                  <a:tcPr>
                    <a:solidFill>
                      <a:srgbClr val="FFFFFF"/>
                    </a:solidFill>
                  </a:tcPr>
                </a:tc>
                <a:tc>
                  <a:txBody>
                    <a:bodyPr/>
                    <a:lstStyle/>
                    <a:p>
                      <a:r>
                        <a:rPr sz="1800" b="0">
                          <a:solidFill>
                            <a:srgbClr val="142F47"/>
                          </a:solidFill>
                          <a:latin typeface="DejaVu Sans"/>
                          <a:ea typeface="DejaVu Sans"/>
                          <a:cs typeface="DejaVu Sans"/>
                        </a:rPr>
                        <a:t>Potwierdzony termin z narzędzia albo brak terminu</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14320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4FBF64-4C15-48CA-B309-3B3F43113A4E}"/>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F0AA5D7-6B63-48A9-A77A-A554FFE52AC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34</a:t>
            </a:r>
          </a:p>
        </p:txBody>
      </p:sp>
      <p:sp>
        <p:nvSpPr>
          <p:cNvPr id="3" name="Rectangle 2">
            <a:extLst>
              <a:ext uri="{FF2B5EF4-FFF2-40B4-BE49-F238E27FC236}">
                <a16:creationId xmlns:a16="http://schemas.microsoft.com/office/drawing/2014/main" id="{B5D1256D-991D-4AF0-A9DA-1F037FF6E7B0}"/>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4. Odpowiedź oparta na wiedzy</a:t>
            </a:r>
          </a:p>
        </p:txBody>
      </p:sp>
      <p:sp>
        <p:nvSpPr>
          <p:cNvPr id="4" name="Rectangle 3">
            <a:extLst>
              <a:ext uri="{FF2B5EF4-FFF2-40B4-BE49-F238E27FC236}">
                <a16:creationId xmlns:a16="http://schemas.microsoft.com/office/drawing/2014/main" id="{7940ECC0-AC26-482A-B939-4B4C7157FA2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Podłącz Portal_Northstar.txt jako kontekst.</a:t>
            </a:r>
          </a:p>
        </p:txBody>
      </p:sp>
      <p:sp>
        <p:nvSpPr>
          <p:cNvPr id="5" name="Rectangle 4">
            <a:extLst>
              <a:ext uri="{FF2B5EF4-FFF2-40B4-BE49-F238E27FC236}">
                <a16:creationId xmlns:a16="http://schemas.microsoft.com/office/drawing/2014/main" id="{EF82B68F-472B-4712-9531-2CE8931618EE}"/>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Sprawdź pytanie o faktury i pytanie bez dostępnej procedury.</a:t>
            </a:r>
          </a:p>
        </p:txBody>
      </p:sp>
      <p:sp>
        <p:nvSpPr>
          <p:cNvPr id="6" name="Rectangle 5">
            <a:extLst>
              <a:ext uri="{FF2B5EF4-FFF2-40B4-BE49-F238E27FC236}">
                <a16:creationId xmlns:a16="http://schemas.microsoft.com/office/drawing/2014/main" id="{C99109F0-DFAD-4D8F-AD52-55DFF4D52EF8}"/>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odpowiedź wskazuje rzeczywiste źródło albo kieruje sprawę dalej.</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8031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16" name="Connector: Elbow 15"/>
          <p:cNvCxnSpPr>
            <a:stCxn id="9" idx="3"/>
            <a:endCxn id="10" idx="1"/>
          </p:cNvCxnSpPr>
          <p:nvPr/>
        </p:nvCxnSpPr>
        <p:spPr>
          <a:xfrm>
            <a:off x="6096000" y="5310188"/>
            <a:ext cx="1714500" cy="47625"/>
          </a:xfrm>
          <a:prstGeom prst="bentConnector3">
            <a:avLst>
              <a:gd name="adj1" fmla="val 50000"/>
            </a:avLst>
          </a:prstGeom>
          <a:ln w="28575">
            <a:solidFill>
              <a:srgbClr val="087F8C"/>
            </a:solidFill>
            <a:tailEnd type="triangle" w="sm" len="sm"/>
          </a:ln>
        </p:spPr>
      </p:cxnSp>
      <p:sp>
        <p:nvSpPr>
          <p:cNvPr id="15" name="Rectangle 14">
            <a:extLst>
              <a:ext uri="{FF2B5EF4-FFF2-40B4-BE49-F238E27FC236}">
                <a16:creationId xmlns:a16="http://schemas.microsoft.com/office/drawing/2014/main" id="{1EFA7796-BF85-4596-BA6F-BE6D2930A45B}"/>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A1D85439-CED9-4C08-95D7-EA85C710CAB0}"/>
              </a:ext>
            </a:extLst>
          </p:cNvPr>
          <p:cNvSpPr>
            <a:spLocks noGrp="1"/>
          </p:cNvSpPr>
          <p:nvPr/>
        </p:nvSpPr>
        <p:spPr>
          <a:xfrm>
            <a:off x="685800" y="933450"/>
            <a:ext cx="10763250" cy="1066800"/>
          </a:xfrm>
          <a:prstGeom prst="rect">
            <a:avLst/>
          </a:prstGeom>
          <a:noFill/>
          <a:ln w="0">
            <a:noFill/>
          </a:ln>
        </p:spPr>
        <p:txBody>
          <a:bodyPr wrap="square">
            <a:normAutofit/>
          </a:bodyPr>
          <a:lstStyle/>
          <a:p>
            <a:pPr>
              <a:buNone/>
              <a:defRPr sz="3300" b="1">
                <a:solidFill>
                  <a:srgbClr val="142F47"/>
                </a:solidFill>
                <a:latin typeface="DejaVu Sans"/>
                <a:ea typeface="DejaVu Sans"/>
                <a:cs typeface="DejaVu Sans"/>
              </a:defRPr>
            </a:pPr>
            <a:r>
              <a:rPr sz="3100" b="1">
                <a:solidFill>
                  <a:srgbClr val="142F47"/>
                </a:solidFill>
                <a:latin typeface="DejaVu Sans"/>
              </a:rPr>
              <a:t>Rozmowa z agentem: uzupełnianie danych</a:t>
            </a:r>
          </a:p>
        </p:txBody>
      </p:sp>
      <p:sp>
        <p:nvSpPr>
          <p:cNvPr id="3" name="Rectangle 2">
            <a:extLst>
              <a:ext uri="{FF2B5EF4-FFF2-40B4-BE49-F238E27FC236}">
                <a16:creationId xmlns:a16="http://schemas.microsoft.com/office/drawing/2014/main" id="{9C3DB32C-B566-4A51-A76A-2BBE57B03032}"/>
              </a:ext>
            </a:extLst>
          </p:cNvPr>
          <p:cNvSpPr>
            <a:spLocks noGrp="1"/>
          </p:cNvSpPr>
          <p:nvPr/>
        </p:nvSpPr>
        <p:spPr>
          <a:xfrm>
            <a:off x="762000" y="2238375"/>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Użytkownik</a:t>
            </a:r>
          </a:p>
        </p:txBody>
      </p:sp>
      <p:sp>
        <p:nvSpPr>
          <p:cNvPr id="4" name="Rectangle 3">
            <a:extLst>
              <a:ext uri="{FF2B5EF4-FFF2-40B4-BE49-F238E27FC236}">
                <a16:creationId xmlns:a16="http://schemas.microsoft.com/office/drawing/2014/main" id="{2E22A109-05A7-455F-97D3-6F8DE237ABF4}"/>
              </a:ext>
            </a:extLst>
          </p:cNvPr>
          <p:cNvSpPr>
            <a:spLocks noGrp="1"/>
          </p:cNvSpPr>
          <p:nvPr/>
        </p:nvSpPr>
        <p:spPr>
          <a:xfrm>
            <a:off x="2857500" y="2238375"/>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Nie mogę pobrać raportu.</a:t>
            </a:r>
          </a:p>
        </p:txBody>
      </p:sp>
      <p:sp>
        <p:nvSpPr>
          <p:cNvPr id="5" name="Rectangle 4">
            <a:extLst>
              <a:ext uri="{FF2B5EF4-FFF2-40B4-BE49-F238E27FC236}">
                <a16:creationId xmlns:a16="http://schemas.microsoft.com/office/drawing/2014/main" id="{B9E0CB56-D363-47F6-85E8-99E01572A9E7}"/>
              </a:ext>
            </a:extLst>
          </p:cNvPr>
          <p:cNvSpPr>
            <a:spLocks noGrp="1"/>
          </p:cNvSpPr>
          <p:nvPr/>
        </p:nvSpPr>
        <p:spPr>
          <a:xfrm>
            <a:off x="762000" y="3067050"/>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Agent</a:t>
            </a:r>
          </a:p>
        </p:txBody>
      </p:sp>
      <p:sp>
        <p:nvSpPr>
          <p:cNvPr id="6" name="Rectangle 5">
            <a:extLst>
              <a:ext uri="{FF2B5EF4-FFF2-40B4-BE49-F238E27FC236}">
                <a16:creationId xmlns:a16="http://schemas.microsoft.com/office/drawing/2014/main" id="{D7CA650D-3B9F-4D0D-9B5D-A68E341A6852}"/>
              </a:ext>
            </a:extLst>
          </p:cNvPr>
          <p:cNvSpPr>
            <a:spLocks noGrp="1"/>
          </p:cNvSpPr>
          <p:nvPr/>
        </p:nvSpPr>
        <p:spPr>
          <a:xfrm>
            <a:off x="2857500" y="3067050"/>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 raport, okres i komunikat błędu?</a:t>
            </a:r>
          </a:p>
        </p:txBody>
      </p:sp>
      <p:sp>
        <p:nvSpPr>
          <p:cNvPr id="7" name="Rectangle 6">
            <a:extLst>
              <a:ext uri="{FF2B5EF4-FFF2-40B4-BE49-F238E27FC236}">
                <a16:creationId xmlns:a16="http://schemas.microsoft.com/office/drawing/2014/main" id="{2CFE161F-8A5E-4F67-BC38-80DBB72B38FD}"/>
              </a:ext>
            </a:extLst>
          </p:cNvPr>
          <p:cNvSpPr>
            <a:spLocks noGrp="1"/>
          </p:cNvSpPr>
          <p:nvPr/>
        </p:nvSpPr>
        <p:spPr>
          <a:xfrm>
            <a:off x="762000" y="3895725"/>
            <a:ext cx="1952625" cy="495300"/>
          </a:xfrm>
          <a:prstGeom prst="rect">
            <a:avLst/>
          </a:prstGeom>
          <a:noFill/>
          <a:ln w="0">
            <a:noFill/>
          </a:ln>
        </p:spPr>
        <p:txBody>
          <a:bodyPr>
            <a:noAutofit/>
          </a:bodyPr>
          <a:lstStyle/>
          <a:p>
            <a:pPr>
              <a:buNone/>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Użytkownik</a:t>
            </a:r>
          </a:p>
        </p:txBody>
      </p:sp>
      <p:sp>
        <p:nvSpPr>
          <p:cNvPr id="8" name="Rectangle 7">
            <a:extLst>
              <a:ext uri="{FF2B5EF4-FFF2-40B4-BE49-F238E27FC236}">
                <a16:creationId xmlns:a16="http://schemas.microsoft.com/office/drawing/2014/main" id="{496FD2A3-9C9B-4577-93E6-4D6B3CB6D3C9}"/>
              </a:ext>
            </a:extLst>
          </p:cNvPr>
          <p:cNvSpPr>
            <a:spLocks noGrp="1"/>
          </p:cNvSpPr>
          <p:nvPr/>
        </p:nvSpPr>
        <p:spPr>
          <a:xfrm>
            <a:off x="2857500" y="3895725"/>
            <a:ext cx="8477250" cy="59055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Sprzedaż za 60 dni. Błąd 500.</a:t>
            </a:r>
          </a:p>
        </p:txBody>
      </p:sp>
      <p:sp>
        <p:nvSpPr>
          <p:cNvPr id="9" name="Rectangle: Rounded Corners 8">
            <a:extLst>
              <a:ext uri="{FF2B5EF4-FFF2-40B4-BE49-F238E27FC236}">
                <a16:creationId xmlns:a16="http://schemas.microsoft.com/office/drawing/2014/main" id="{3C6F5EB6-FAEB-4548-873D-6C96F3A61698}"/>
              </a:ext>
            </a:extLst>
          </p:cNvPr>
          <p:cNvSpPr>
            <a:spLocks noGrp="1"/>
          </p:cNvSpPr>
          <p:nvPr/>
        </p:nvSpPr>
        <p:spPr>
          <a:xfrm>
            <a:off x="2857500" y="4953000"/>
            <a:ext cx="3238500" cy="714375"/>
          </a:xfrm>
          <a:prstGeom prst="roundRect">
            <a:avLst>
              <a:gd name="adj" fmla="val 13333"/>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FindKnownIssue</a:t>
            </a:r>
          </a:p>
        </p:txBody>
      </p:sp>
      <p:sp>
        <p:nvSpPr>
          <p:cNvPr id="10" name="Rectangle: Rounded Corners 9">
            <a:extLst>
              <a:ext uri="{FF2B5EF4-FFF2-40B4-BE49-F238E27FC236}">
                <a16:creationId xmlns:a16="http://schemas.microsoft.com/office/drawing/2014/main" id="{1848D4F0-88FC-437F-8B6B-7F864A085E2E}"/>
              </a:ext>
            </a:extLst>
          </p:cNvPr>
          <p:cNvSpPr>
            <a:spLocks noGrp="1"/>
          </p:cNvSpPr>
          <p:nvPr/>
        </p:nvSpPr>
        <p:spPr>
          <a:xfrm>
            <a:off x="7810500" y="4905375"/>
            <a:ext cx="3429000"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Szkic obejścia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na podstawie KI-001</a:t>
            </a:r>
          </a:p>
        </p:txBody>
      </p:sp>
      <p:sp>
        <p:nvSpPr>
          <p:cNvPr id="12" name="Rectangle 11">
            <a:extLst>
              <a:ext uri="{FF2B5EF4-FFF2-40B4-BE49-F238E27FC236}">
                <a16:creationId xmlns:a16="http://schemas.microsoft.com/office/drawing/2014/main" id="{C2968210-4DAB-46B4-88F2-5A4C42B3B9EF}"/>
              </a:ext>
            </a:extLst>
          </p:cNvPr>
          <p:cNvSpPr>
            <a:spLocks noGrp="1"/>
          </p:cNvSpPr>
          <p:nvPr/>
        </p:nvSpPr>
        <p:spPr>
          <a:xfrm>
            <a:off x="762000" y="6000750"/>
            <a:ext cx="10668000" cy="361950"/>
          </a:xfrm>
          <a:prstGeom prst="rect">
            <a:avLst/>
          </a:prstGeom>
          <a:noFill/>
          <a:ln w="0">
            <a:noFill/>
          </a:ln>
        </p:spPr>
        <p:txBody>
          <a:bodyPr>
            <a:noAutofit/>
          </a:bodyPr>
          <a:lstStyle/>
          <a:p>
            <a:pPr>
              <a:buNone/>
              <a:defRPr sz="1800" b="0">
                <a:solidFill>
                  <a:srgbClr val="536878"/>
                </a:solidFill>
                <a:latin typeface="DejaVu Sans"/>
                <a:ea typeface="DejaVu Sans"/>
                <a:cs typeface="DejaVu Sans"/>
              </a:defRPr>
            </a:pPr>
            <a:r>
              <a:rPr sz="1800" b="0">
                <a:solidFill>
                  <a:srgbClr val="536878"/>
                </a:solidFill>
                <a:latin typeface="DejaVu Sans"/>
                <a:ea typeface="DejaVu Sans"/>
                <a:cs typeface="DejaVu Sans"/>
              </a:rPr>
              <a:t>Rozmowa zbiera dane potrzebne do wywołania narzędzia.</a:t>
            </a:r>
          </a:p>
        </p:txBody>
      </p:sp>
      <p:sp>
        <p:nvSpPr>
          <p:cNvPr id="13" name="Rectangle 12">
            <a:extLst>
              <a:ext uri="{FF2B5EF4-FFF2-40B4-BE49-F238E27FC236}">
                <a16:creationId xmlns:a16="http://schemas.microsoft.com/office/drawing/2014/main" id="{927849B2-820D-4749-BDF4-5968305C03AF}"/>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35</a:t>
            </a:r>
          </a:p>
        </p:txBody>
      </p:sp>
      <p:sp>
        <p:nvSpPr>
          <p:cNvPr id="17" name="Rectangle 16"/>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39269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23" name="Straight Arrow Connector 22"/>
          <p:cNvCxnSpPr>
            <a:stCxn id="12" idx="0"/>
            <a:endCxn id="9" idx="2"/>
          </p:cNvCxnSpPr>
          <p:nvPr/>
        </p:nvCxnSpPr>
        <p:spPr>
          <a:xfrm flipV="1">
            <a:off x="2286000" y="3314700"/>
            <a:ext cx="0" cy="1114425"/>
          </a:xfrm>
          <a:prstGeom prst="straightConnector1">
            <a:avLst/>
          </a:prstGeom>
          <a:ln w="28575">
            <a:solidFill>
              <a:srgbClr val="087F8C"/>
            </a:solidFill>
            <a:tailEnd type="triangle" w="sm" len="sm"/>
          </a:ln>
        </p:spPr>
      </p:cxnSp>
      <p:cxnSp>
        <p:nvCxnSpPr>
          <p:cNvPr id="24" name="Straight Arrow Connector 23"/>
          <p:cNvCxnSpPr>
            <a:stCxn id="11" idx="1"/>
            <a:endCxn id="12" idx="3"/>
          </p:cNvCxnSpPr>
          <p:nvPr/>
        </p:nvCxnSpPr>
        <p:spPr>
          <a:xfrm flipH="1">
            <a:off x="3810000" y="4881563"/>
            <a:ext cx="4048125" cy="0"/>
          </a:xfrm>
          <a:prstGeom prst="straightConnector1">
            <a:avLst/>
          </a:prstGeom>
          <a:ln w="28575">
            <a:solidFill>
              <a:srgbClr val="087F8C"/>
            </a:solidFill>
            <a:tailEnd type="triangle" w="sm" len="sm"/>
          </a:ln>
        </p:spPr>
      </p:cxnSp>
      <p:cxnSp>
        <p:nvCxnSpPr>
          <p:cNvPr id="25" name="Straight Arrow Connector 24"/>
          <p:cNvCxnSpPr>
            <a:stCxn id="10" idx="2"/>
            <a:endCxn id="11" idx="0"/>
          </p:cNvCxnSpPr>
          <p:nvPr/>
        </p:nvCxnSpPr>
        <p:spPr>
          <a:xfrm>
            <a:off x="9596438" y="3314700"/>
            <a:ext cx="0" cy="1114425"/>
          </a:xfrm>
          <a:prstGeom prst="straightConnector1">
            <a:avLst/>
          </a:prstGeom>
          <a:ln w="28575">
            <a:solidFill>
              <a:srgbClr val="087F8C"/>
            </a:solidFill>
            <a:tailEnd type="triangle" w="sm" len="sm"/>
          </a:ln>
        </p:spPr>
      </p:cxnSp>
      <p:cxnSp>
        <p:nvCxnSpPr>
          <p:cNvPr id="26" name="Straight Arrow Connector 25"/>
          <p:cNvCxnSpPr>
            <a:stCxn id="9" idx="3"/>
            <a:endCxn id="10" idx="1"/>
          </p:cNvCxnSpPr>
          <p:nvPr/>
        </p:nvCxnSpPr>
        <p:spPr>
          <a:xfrm>
            <a:off x="3810000" y="2919413"/>
            <a:ext cx="4048125" cy="0"/>
          </a:xfrm>
          <a:prstGeom prst="straightConnector1">
            <a:avLst/>
          </a:prstGeom>
          <a:ln w="28575">
            <a:solidFill>
              <a:srgbClr val="087F8C"/>
            </a:solidFill>
            <a:tailEnd type="triangle" w="sm" len="sm"/>
          </a:ln>
        </p:spPr>
      </p:cxnSp>
      <p:sp>
        <p:nvSpPr>
          <p:cNvPr id="8" name="Rectangle 7">
            <a:extLst>
              <a:ext uri="{FF2B5EF4-FFF2-40B4-BE49-F238E27FC236}">
                <a16:creationId xmlns:a16="http://schemas.microsoft.com/office/drawing/2014/main" id="{49C9AEF2-499D-46A4-91A4-747EEF89E83A}"/>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BB0B9EA3-ACF9-4284-AA90-419810003A8E}"/>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36</a:t>
            </a:r>
          </a:p>
        </p:txBody>
      </p:sp>
      <p:sp>
        <p:nvSpPr>
          <p:cNvPr id="3" name="Rectangle 2">
            <a:extLst>
              <a:ext uri="{FF2B5EF4-FFF2-40B4-BE49-F238E27FC236}">
                <a16:creationId xmlns:a16="http://schemas.microsoft.com/office/drawing/2014/main" id="{7D2A62A2-D0BC-473B-9FFC-4FA3499FE60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Ewaluacja i poprawa agenta</a:t>
            </a:r>
          </a:p>
        </p:txBody>
      </p:sp>
      <p:sp>
        <p:nvSpPr>
          <p:cNvPr id="9" name="Rectangle: Rounded Corners 8">
            <a:extLst>
              <a:ext uri="{FF2B5EF4-FFF2-40B4-BE49-F238E27FC236}">
                <a16:creationId xmlns:a16="http://schemas.microsoft.com/office/drawing/2014/main" id="{589330C2-97F1-40DA-B16D-1E8F6836A444}"/>
              </a:ext>
            </a:extLst>
          </p:cNvPr>
          <p:cNvSpPr>
            <a:spLocks noGrp="1"/>
          </p:cNvSpPr>
          <p:nvPr/>
        </p:nvSpPr>
        <p:spPr>
          <a:xfrm>
            <a:off x="762000" y="2524125"/>
            <a:ext cx="30480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Evaluation set</a:t>
            </a:r>
          </a:p>
        </p:txBody>
      </p:sp>
      <p:sp>
        <p:nvSpPr>
          <p:cNvPr id="10" name="Rectangle: Rounded Corners 9">
            <a:extLst>
              <a:ext uri="{FF2B5EF4-FFF2-40B4-BE49-F238E27FC236}">
                <a16:creationId xmlns:a16="http://schemas.microsoft.com/office/drawing/2014/main" id="{2183CFBB-6E5E-4F61-9048-CA3668E45C65}"/>
              </a:ext>
            </a:extLst>
          </p:cNvPr>
          <p:cNvSpPr>
            <a:spLocks noGrp="1"/>
          </p:cNvSpPr>
          <p:nvPr/>
        </p:nvSpPr>
        <p:spPr>
          <a:xfrm>
            <a:off x="7858125" y="2524125"/>
            <a:ext cx="3476625"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Uruchomienie agenta</a:t>
            </a:r>
          </a:p>
        </p:txBody>
      </p:sp>
      <p:sp>
        <p:nvSpPr>
          <p:cNvPr id="11" name="Rectangle: Rounded Corners 10">
            <a:extLst>
              <a:ext uri="{FF2B5EF4-FFF2-40B4-BE49-F238E27FC236}">
                <a16:creationId xmlns:a16="http://schemas.microsoft.com/office/drawing/2014/main" id="{4A38192D-B2E2-4102-987D-CE3AACFBCD55}"/>
              </a:ext>
            </a:extLst>
          </p:cNvPr>
          <p:cNvSpPr>
            <a:spLocks noGrp="1"/>
          </p:cNvSpPr>
          <p:nvPr/>
        </p:nvSpPr>
        <p:spPr>
          <a:xfrm>
            <a:off x="7858125" y="4429125"/>
            <a:ext cx="3476625"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Ocena wyników</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i przebiegu</a:t>
            </a:r>
          </a:p>
        </p:txBody>
      </p:sp>
      <p:sp>
        <p:nvSpPr>
          <p:cNvPr id="12" name="Rectangle: Rounded Corners 11">
            <a:extLst>
              <a:ext uri="{FF2B5EF4-FFF2-40B4-BE49-F238E27FC236}">
                <a16:creationId xmlns:a16="http://schemas.microsoft.com/office/drawing/2014/main" id="{13FAEF02-763F-48C8-8988-1D6FA2144F2E}"/>
              </a:ext>
            </a:extLst>
          </p:cNvPr>
          <p:cNvSpPr>
            <a:spLocks noGrp="1"/>
          </p:cNvSpPr>
          <p:nvPr/>
        </p:nvSpPr>
        <p:spPr>
          <a:xfrm>
            <a:off x="762000" y="4429125"/>
            <a:ext cx="3048000" cy="904875"/>
          </a:xfrm>
          <a:prstGeom prst="roundRect">
            <a:avLst>
              <a:gd name="adj" fmla="val 10526"/>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Zmiana promptu</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lub narzędzia</a:t>
            </a:r>
          </a:p>
        </p:txBody>
      </p:sp>
      <p:sp>
        <p:nvSpPr>
          <p:cNvPr id="17" name="Rectangle 16">
            <a:extLst>
              <a:ext uri="{FF2B5EF4-FFF2-40B4-BE49-F238E27FC236}">
                <a16:creationId xmlns:a16="http://schemas.microsoft.com/office/drawing/2014/main" id="{E73F772D-4803-45B4-968F-A24675DB1476}"/>
              </a:ext>
            </a:extLst>
          </p:cNvPr>
          <p:cNvSpPr>
            <a:spLocks noGrp="1"/>
          </p:cNvSpPr>
          <p:nvPr/>
        </p:nvSpPr>
        <p:spPr>
          <a:xfrm>
            <a:off x="3905250" y="3533775"/>
            <a:ext cx="3857625" cy="809625"/>
          </a:xfrm>
          <a:prstGeom prst="rect">
            <a:avLst/>
          </a:prstGeom>
          <a:noFill/>
          <a:ln w="0">
            <a:noFill/>
          </a:ln>
        </p:spPr>
        <p:txBody>
          <a:bodyPr>
            <a:noAutofit/>
          </a:bodyPr>
          <a:lstStyle/>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Wynik i narzędzia</a:t>
            </a:r>
          </a:p>
          <a:p>
            <a:pPr>
              <a:buNone/>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Źródła, czas i błędy</a:t>
            </a:r>
          </a:p>
        </p:txBody>
      </p:sp>
      <p:sp>
        <p:nvSpPr>
          <p:cNvPr id="18" name="Rectangle 17">
            <a:extLst>
              <a:ext uri="{FF2B5EF4-FFF2-40B4-BE49-F238E27FC236}">
                <a16:creationId xmlns:a16="http://schemas.microsoft.com/office/drawing/2014/main" id="{26652696-B463-47AD-823F-6024FC9024FD}"/>
              </a:ext>
            </a:extLst>
          </p:cNvPr>
          <p:cNvSpPr>
            <a:spLocks noGrp="1"/>
          </p:cNvSpPr>
          <p:nvPr/>
        </p:nvSpPr>
        <p:spPr>
          <a:xfrm>
            <a:off x="762000" y="5924550"/>
            <a:ext cx="10763250" cy="361950"/>
          </a:xfrm>
          <a:prstGeom prst="rect">
            <a:avLst/>
          </a:prstGeom>
          <a:noFill/>
          <a:ln w="0">
            <a:noFill/>
          </a:ln>
        </p:spPr>
        <p:txBody>
          <a:bodyPr>
            <a:noAutofit/>
          </a:bodyPr>
          <a:lstStyle/>
          <a:p>
            <a:pPr>
              <a:buNone/>
              <a:defRPr sz="1725" b="0">
                <a:solidFill>
                  <a:srgbClr val="536878"/>
                </a:solidFill>
                <a:latin typeface="DejaVu Sans"/>
                <a:ea typeface="DejaVu Sans"/>
                <a:cs typeface="DejaVu Sans"/>
              </a:defRPr>
            </a:pPr>
            <a:r>
              <a:rPr sz="1725" b="0">
                <a:solidFill>
                  <a:srgbClr val="536878"/>
                </a:solidFill>
                <a:latin typeface="DejaVu Sans"/>
                <a:ea typeface="DejaVu Sans"/>
                <a:cs typeface="DejaVu Sans"/>
              </a:rPr>
              <a:t>Porównujemy wersje na tych samych danych. Odkładamy osobny test końcowy.</a:t>
            </a:r>
          </a:p>
        </p:txBody>
      </p:sp>
      <p:sp>
        <p:nvSpPr>
          <p:cNvPr id="27" name="Rectangle 26"/>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09539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37</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Ocena regułą i ocena modelem</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Metoda</a:t>
                      </a:r>
                    </a:p>
                  </a:txBody>
                  <a:tcPr>
                    <a:solidFill>
                      <a:srgbClr val="142F47"/>
                    </a:solidFill>
                  </a:tcPr>
                </a:tc>
                <a:tc>
                  <a:txBody>
                    <a:bodyPr/>
                    <a:lstStyle/>
                    <a:p>
                      <a:r>
                        <a:rPr sz="1875" b="1">
                          <a:solidFill>
                            <a:srgbClr val="FFFFFF"/>
                          </a:solidFill>
                          <a:latin typeface="DejaVu Sans"/>
                          <a:ea typeface="DejaVu Sans"/>
                          <a:cs typeface="DejaVu Sans"/>
                        </a:rPr>
                        <a:t>Dobre zastosowanie</a:t>
                      </a:r>
                    </a:p>
                  </a:txBody>
                  <a:tcPr>
                    <a:solidFill>
                      <a:srgbClr val="142F47"/>
                    </a:solidFill>
                  </a:tcPr>
                </a:tc>
                <a:tc>
                  <a:txBody>
                    <a:bodyPr/>
                    <a:lstStyle/>
                    <a:p>
                      <a:r>
                        <a:rPr sz="1875" b="1">
                          <a:solidFill>
                            <a:srgbClr val="FFFFFF"/>
                          </a:solidFill>
                          <a:latin typeface="DejaVu Sans"/>
                          <a:ea typeface="DejaVu Sans"/>
                          <a:cs typeface="DejaVu Sans"/>
                        </a:rPr>
                        <a:t>Ograniczenie</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Deterministyczna</a:t>
                      </a:r>
                    </a:p>
                  </a:txBody>
                  <a:tcPr>
                    <a:solidFill>
                      <a:srgbClr val="FFFFFF"/>
                    </a:solidFill>
                  </a:tcPr>
                </a:tc>
                <a:tc>
                  <a:txBody>
                    <a:bodyPr/>
                    <a:lstStyle/>
                    <a:p>
                      <a:r>
                        <a:rPr sz="1800" b="0">
                          <a:solidFill>
                            <a:srgbClr val="142F47"/>
                          </a:solidFill>
                          <a:latin typeface="DejaVu Sans"/>
                          <a:ea typeface="DejaVu Sans"/>
                          <a:cs typeface="DejaVu Sans"/>
                        </a:rPr>
                        <a:t>Enum, typ, zgodny requestId</a:t>
                      </a:r>
                    </a:p>
                  </a:txBody>
                  <a:tcPr>
                    <a:solidFill>
                      <a:srgbClr val="FFFFFF"/>
                    </a:solidFill>
                  </a:tcPr>
                </a:tc>
                <a:tc>
                  <a:txBody>
                    <a:bodyPr/>
                    <a:lstStyle/>
                    <a:p>
                      <a:r>
                        <a:rPr sz="1800" b="0">
                          <a:solidFill>
                            <a:srgbClr val="142F47"/>
                          </a:solidFill>
                          <a:latin typeface="DejaVu Sans"/>
                          <a:ea typeface="DejaVu Sans"/>
                          <a:cs typeface="DejaVu Sans"/>
                        </a:rPr>
                        <a:t>Nie ocenia sensu całej odpowiedzi</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LLM-as-a-judge</a:t>
                      </a:r>
                    </a:p>
                  </a:txBody>
                  <a:tcPr>
                    <a:solidFill>
                      <a:srgbClr val="EEF1F1"/>
                    </a:solidFill>
                  </a:tcPr>
                </a:tc>
                <a:tc>
                  <a:txBody>
                    <a:bodyPr/>
                    <a:lstStyle/>
                    <a:p>
                      <a:r>
                        <a:rPr sz="1800" b="0">
                          <a:solidFill>
                            <a:srgbClr val="142F47"/>
                          </a:solidFill>
                          <a:latin typeface="DejaVu Sans"/>
                          <a:ea typeface="DejaVu Sans"/>
                          <a:cs typeface="DejaVu Sans"/>
                        </a:rPr>
                        <a:t>Zgodność znaczenia i użyteczność</a:t>
                      </a:r>
                    </a:p>
                  </a:txBody>
                  <a:tcPr>
                    <a:solidFill>
                      <a:srgbClr val="EEF1F1"/>
                    </a:solidFill>
                  </a:tcPr>
                </a:tc>
                <a:tc>
                  <a:txBody>
                    <a:bodyPr/>
                    <a:lstStyle/>
                    <a:p>
                      <a:r>
                        <a:rPr sz="1800" b="0">
                          <a:solidFill>
                            <a:srgbClr val="142F47"/>
                          </a:solidFill>
                          <a:latin typeface="DejaVu Sans"/>
                          <a:ea typeface="DejaVu Sans"/>
                          <a:cs typeface="DejaVu Sans"/>
                        </a:rPr>
                        <a:t>Sam może popełniać błędy</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Przegląd eksperta</a:t>
                      </a:r>
                    </a:p>
                  </a:txBody>
                  <a:tcPr>
                    <a:solidFill>
                      <a:srgbClr val="FFFFFF"/>
                    </a:solidFill>
                  </a:tcPr>
                </a:tc>
                <a:tc>
                  <a:txBody>
                    <a:bodyPr/>
                    <a:lstStyle/>
                    <a:p>
                      <a:r>
                        <a:rPr sz="1800" b="0">
                          <a:solidFill>
                            <a:srgbClr val="142F47"/>
                          </a:solidFill>
                          <a:latin typeface="DejaVu Sans"/>
                          <a:ea typeface="DejaVu Sans"/>
                          <a:cs typeface="DejaVu Sans"/>
                        </a:rPr>
                        <a:t>Przypadki krytyczne i sporne</a:t>
                      </a:r>
                    </a:p>
                  </a:txBody>
                  <a:tcPr>
                    <a:solidFill>
                      <a:srgbClr val="FFFFFF"/>
                    </a:solidFill>
                  </a:tcPr>
                </a:tc>
                <a:tc>
                  <a:txBody>
                    <a:bodyPr/>
                    <a:lstStyle/>
                    <a:p>
                      <a:r>
                        <a:rPr sz="1800" b="0">
                          <a:solidFill>
                            <a:srgbClr val="142F47"/>
                          </a:solidFill>
                          <a:latin typeface="DejaVu Sans"/>
                          <a:ea typeface="DejaVu Sans"/>
                          <a:cs typeface="DejaVu Sans"/>
                        </a:rPr>
                        <a:t>Wymaga czasu człowieka</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40666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38</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Evaluatory w praktyce</a:t>
            </a:r>
          </a:p>
        </p:txBody>
      </p:sp>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2368296"/>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87168"/>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2450591"/>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Exact Match</a:t>
            </a:r>
          </a:p>
        </p:txBody>
      </p:sp>
      <p:sp>
        <p:nvSpPr>
          <p:cNvPr id="18" name="TextBox 17"/>
          <p:cNvSpPr txBox="1"/>
          <p:nvPr/>
        </p:nvSpPr>
        <p:spPr>
          <a:xfrm>
            <a:off x="3355848" y="2436876"/>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Jedno pole o stałej wartości</a:t>
            </a:r>
          </a:p>
        </p:txBody>
      </p:sp>
      <p:sp>
        <p:nvSpPr>
          <p:cNvPr id="19" name="TextBox 18"/>
          <p:cNvSpPr txBox="1"/>
          <p:nvPr/>
        </p:nvSpPr>
        <p:spPr>
          <a:xfrm>
            <a:off x="7287768" y="2436876"/>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category, nextAction, humanReview, matchedIssueId</a:t>
            </a:r>
          </a:p>
        </p:txBody>
      </p:sp>
      <p:sp>
        <p:nvSpPr>
          <p:cNvPr id="20" name="Rounded Rectangle 19"/>
          <p:cNvSpPr/>
          <p:nvPr/>
        </p:nvSpPr>
        <p:spPr>
          <a:xfrm>
            <a:off x="740664" y="3268979"/>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8" y="3387851"/>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351275"/>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JSON Similarity</a:t>
            </a:r>
          </a:p>
        </p:txBody>
      </p:sp>
      <p:sp>
        <p:nvSpPr>
          <p:cNvPr id="23" name="TextBox 22"/>
          <p:cNvSpPr txBox="1"/>
          <p:nvPr/>
        </p:nvSpPr>
        <p:spPr>
          <a:xfrm>
            <a:off x="3355848" y="3337560"/>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Cały obiekt wyniku</a:t>
            </a:r>
          </a:p>
        </p:txBody>
      </p:sp>
      <p:sp>
        <p:nvSpPr>
          <p:cNvPr id="24" name="TextBox 23"/>
          <p:cNvSpPr txBox="1"/>
          <p:nvPr/>
        </p:nvSpPr>
        <p:spPr>
          <a:xfrm>
            <a:off x="7287768" y="3337560"/>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Struktura i podobieństwo do oczekiwanego wyniku</a:t>
            </a:r>
          </a:p>
        </p:txBody>
      </p:sp>
      <p:sp>
        <p:nvSpPr>
          <p:cNvPr id="25" name="Rounded Rectangle 24"/>
          <p:cNvSpPr/>
          <p:nvPr/>
        </p:nvSpPr>
        <p:spPr>
          <a:xfrm>
            <a:off x="740664" y="4169663"/>
            <a:ext cx="10680192" cy="832104"/>
          </a:xfrm>
          <a:prstGeom prst="roundRect">
            <a:avLst/>
          </a:prstGeom>
          <a:solidFill>
            <a:srgbClr val="F5F8FA"/>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9808" y="4288536"/>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251959"/>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LLM-as-a-judge</a:t>
            </a:r>
          </a:p>
        </p:txBody>
      </p:sp>
      <p:sp>
        <p:nvSpPr>
          <p:cNvPr id="28" name="TextBox 27"/>
          <p:cNvSpPr txBox="1"/>
          <p:nvPr/>
        </p:nvSpPr>
        <p:spPr>
          <a:xfrm>
            <a:off x="3355848" y="4238244"/>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Sens i użyteczność tekstu</a:t>
            </a:r>
          </a:p>
        </p:txBody>
      </p:sp>
      <p:sp>
        <p:nvSpPr>
          <p:cNvPr id="29" name="TextBox 28"/>
          <p:cNvSpPr txBox="1"/>
          <p:nvPr/>
        </p:nvSpPr>
        <p:spPr>
          <a:xfrm>
            <a:off x="7287768" y="4238244"/>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draftReply według rubryki; wynik wymaga interpretacji</a:t>
            </a:r>
          </a:p>
        </p:txBody>
      </p:sp>
      <p:sp>
        <p:nvSpPr>
          <p:cNvPr id="30" name="Rounded Rectangle 29"/>
          <p:cNvSpPr/>
          <p:nvPr/>
        </p:nvSpPr>
        <p:spPr>
          <a:xfrm>
            <a:off x="740664" y="5070348"/>
            <a:ext cx="10680192" cy="832104"/>
          </a:xfrm>
          <a:prstGeom prst="roundRect">
            <a:avLst/>
          </a:prstGeom>
          <a:solidFill>
            <a:srgbClr val="FFFFFF"/>
          </a:solidFill>
          <a:ln>
            <a:solidFill>
              <a:srgbClr val="D9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5189220"/>
            <a:ext cx="41148" cy="59436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152644"/>
            <a:ext cx="2103120" cy="713232"/>
          </a:xfrm>
          <a:prstGeom prst="rect">
            <a:avLst/>
          </a:prstGeom>
          <a:noFill/>
        </p:spPr>
        <p:txBody>
          <a:bodyPr wrap="square" lIns="45720" tIns="32004" rIns="45720" bIns="0">
            <a:spAutoFit/>
          </a:bodyPr>
          <a:lstStyle/>
          <a:p>
            <a:pPr>
              <a:spcAft>
                <a:spcPts val="0"/>
              </a:spcAft>
              <a:defRPr sz="1500" b="1">
                <a:solidFill>
                  <a:srgbClr val="142F47"/>
                </a:solidFill>
                <a:latin typeface="Aptos"/>
              </a:defRPr>
            </a:pPr>
            <a:r>
              <a:t>Trajectory</a:t>
            </a:r>
          </a:p>
        </p:txBody>
      </p:sp>
      <p:sp>
        <p:nvSpPr>
          <p:cNvPr id="33" name="TextBox 32"/>
          <p:cNvSpPr txBox="1"/>
          <p:nvPr/>
        </p:nvSpPr>
        <p:spPr>
          <a:xfrm>
            <a:off x="3355848" y="5138928"/>
            <a:ext cx="3749039" cy="740664"/>
          </a:xfrm>
          <a:prstGeom prst="rect">
            <a:avLst/>
          </a:prstGeom>
          <a:noFill/>
        </p:spPr>
        <p:txBody>
          <a:bodyPr wrap="square" lIns="45720" tIns="32004" rIns="45720" bIns="0">
            <a:spAutoFit/>
          </a:bodyPr>
          <a:lstStyle/>
          <a:p>
            <a:pPr>
              <a:spcAft>
                <a:spcPts val="0"/>
              </a:spcAft>
              <a:defRPr sz="1310" b="0">
                <a:solidFill>
                  <a:srgbClr val="516877"/>
                </a:solidFill>
                <a:latin typeface="Aptos"/>
              </a:defRPr>
            </a:pPr>
            <a:r>
              <a:t>Przebieg i wywołane narzędzia</a:t>
            </a:r>
          </a:p>
        </p:txBody>
      </p:sp>
      <p:sp>
        <p:nvSpPr>
          <p:cNvPr id="34" name="TextBox 33"/>
          <p:cNvSpPr txBox="1"/>
          <p:nvPr/>
        </p:nvSpPr>
        <p:spPr>
          <a:xfrm>
            <a:off x="7287768" y="5138928"/>
            <a:ext cx="3922776" cy="740664"/>
          </a:xfrm>
          <a:prstGeom prst="rect">
            <a:avLst/>
          </a:prstGeom>
          <a:noFill/>
        </p:spPr>
        <p:txBody>
          <a:bodyPr wrap="square" lIns="45720" tIns="32004" rIns="45720" bIns="0">
            <a:spAutoFit/>
          </a:bodyPr>
          <a:lstStyle/>
          <a:p>
            <a:pPr>
              <a:spcAft>
                <a:spcPts val="0"/>
              </a:spcAft>
              <a:defRPr sz="1290" b="0">
                <a:solidFill>
                  <a:srgbClr val="087F8C"/>
                </a:solidFill>
                <a:latin typeface="Aptos"/>
              </a:defRPr>
            </a:pPr>
            <a:r>
              <a:t>Wymagane/niedozwolone wywołania narzędzi</a:t>
            </a:r>
          </a:p>
        </p:txBody>
      </p:sp>
      <p:sp>
        <p:nvSpPr>
          <p:cNvPr id="35" name="TextBox 34"/>
          <p:cNvSpPr txBox="1"/>
          <p:nvPr/>
        </p:nvSpPr>
        <p:spPr>
          <a:xfrm>
            <a:off x="932688" y="2194560"/>
            <a:ext cx="237744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Evaluator</a:t>
            </a:r>
          </a:p>
        </p:txBody>
      </p:sp>
      <p:sp>
        <p:nvSpPr>
          <p:cNvPr id="36" name="TextBox 35"/>
          <p:cNvSpPr txBox="1"/>
          <p:nvPr/>
        </p:nvSpPr>
        <p:spPr>
          <a:xfrm>
            <a:off x="3355848" y="2194560"/>
            <a:ext cx="338328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Co sprawdza</a:t>
            </a:r>
          </a:p>
        </p:txBody>
      </p:sp>
      <p:sp>
        <p:nvSpPr>
          <p:cNvPr id="37" name="TextBox 36"/>
          <p:cNvSpPr txBox="1"/>
          <p:nvPr/>
        </p:nvSpPr>
        <p:spPr>
          <a:xfrm>
            <a:off x="7269480" y="2194560"/>
            <a:ext cx="3474720" cy="192024"/>
          </a:xfrm>
          <a:prstGeom prst="rect">
            <a:avLst/>
          </a:prstGeom>
          <a:noFill/>
        </p:spPr>
        <p:txBody>
          <a:bodyPr wrap="square" lIns="45720" tIns="32004" rIns="45720" bIns="0">
            <a:spAutoFit/>
          </a:bodyPr>
          <a:lstStyle/>
          <a:p>
            <a:pPr>
              <a:spcAft>
                <a:spcPts val="0"/>
              </a:spcAft>
              <a:defRPr sz="1050" b="1">
                <a:solidFill>
                  <a:srgbClr val="516877"/>
                </a:solidFill>
                <a:latin typeface="Aptos"/>
              </a:defRPr>
            </a:pPr>
            <a:r>
              <a:t>W Northstar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897B97-167A-47B5-BBEF-69FDD501B2B2}"/>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ECB08BD1-1B1E-4B0E-ADD3-A1AF866AA03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39</a:t>
            </a:r>
          </a:p>
        </p:txBody>
      </p:sp>
      <p:sp>
        <p:nvSpPr>
          <p:cNvPr id="3" name="Rectangle 2">
            <a:extLst>
              <a:ext uri="{FF2B5EF4-FFF2-40B4-BE49-F238E27FC236}">
                <a16:creationId xmlns:a16="http://schemas.microsoft.com/office/drawing/2014/main" id="{511F25AC-D650-4136-9147-A35E9C43A5D9}"/>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Evaluation sets: DEVELOPMENT i HOLDOUT</a:t>
            </a:r>
          </a:p>
        </p:txBody>
      </p:sp>
      <p:sp>
        <p:nvSpPr>
          <p:cNvPr id="4" name="Rectangle 3">
            <a:extLst>
              <a:ext uri="{FF2B5EF4-FFF2-40B4-BE49-F238E27FC236}">
                <a16:creationId xmlns:a16="http://schemas.microsoft.com/office/drawing/2014/main" id="{AFF6FDC7-9FD4-4043-9C1E-64799E4A210B}"/>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Typowe sprawy oraz parafrazy tej samej intencji.</a:t>
            </a:r>
          </a:p>
        </p:txBody>
      </p:sp>
      <p:sp>
        <p:nvSpPr>
          <p:cNvPr id="5" name="Rectangle 4">
            <a:extLst>
              <a:ext uri="{FF2B5EF4-FFF2-40B4-BE49-F238E27FC236}">
                <a16:creationId xmlns:a16="http://schemas.microsoft.com/office/drawing/2014/main" id="{7215B629-C11F-4FDF-969D-450B4C6BBB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Brak danych, niedostępne narzędzie i odmowa dostępu.</a:t>
            </a:r>
          </a:p>
        </p:txBody>
      </p:sp>
      <p:sp>
        <p:nvSpPr>
          <p:cNvPr id="6" name="Rectangle 5">
            <a:extLst>
              <a:ext uri="{FF2B5EF4-FFF2-40B4-BE49-F238E27FC236}">
                <a16:creationId xmlns:a16="http://schemas.microsoft.com/office/drawing/2014/main" id="{DAAD5A7B-A085-4C8B-ABA0-07AE8D30E974}"/>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Podobne objawy z inną przyczyną.</a:t>
            </a:r>
          </a:p>
        </p:txBody>
      </p:sp>
      <p:sp>
        <p:nvSpPr>
          <p:cNvPr id="7" name="Rectangle 6">
            <a:extLst>
              <a:ext uri="{FF2B5EF4-FFF2-40B4-BE49-F238E27FC236}">
                <a16:creationId xmlns:a16="http://schemas.microsoft.com/office/drawing/2014/main" id="{7F5A4199-749C-4478-8DC0-55BCA450313F}"/>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Osobny evaluation set Northstar HOLDOUT: uruchamiany raz, nie do poprawiania promptu.</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55174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E195534-416D-44DE-91F2-760F8615FDF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E6071AC-9757-4068-9646-9379FA77AAD2}"/>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40</a:t>
            </a:r>
          </a:p>
        </p:txBody>
      </p:sp>
      <p:sp>
        <p:nvSpPr>
          <p:cNvPr id="3" name="Rectangle 2">
            <a:extLst>
              <a:ext uri="{FF2B5EF4-FFF2-40B4-BE49-F238E27FC236}">
                <a16:creationId xmlns:a16="http://schemas.microsoft.com/office/drawing/2014/main" id="{F2BA51A4-B999-47B9-9834-98AE435C46D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5. Pomiar i poprawa</a:t>
            </a:r>
          </a:p>
        </p:txBody>
      </p:sp>
      <p:sp>
        <p:nvSpPr>
          <p:cNvPr id="4" name="Rectangle 3">
            <a:extLst>
              <a:ext uri="{FF2B5EF4-FFF2-40B4-BE49-F238E27FC236}">
                <a16:creationId xmlns:a16="http://schemas.microsoft.com/office/drawing/2014/main" id="{3F7BC415-740E-436F-8A51-DD5BD5C81D8D}"/>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Uruchom evaluation set Northstar DEVELOPMENT dla wersji v1.</a:t>
            </a:r>
          </a:p>
        </p:txBody>
      </p:sp>
      <p:sp>
        <p:nvSpPr>
          <p:cNvPr id="5" name="Rectangle 4">
            <a:extLst>
              <a:ext uri="{FF2B5EF4-FFF2-40B4-BE49-F238E27FC236}">
                <a16:creationId xmlns:a16="http://schemas.microsoft.com/office/drawing/2014/main" id="{64A375F9-2025-4D46-8C77-56143D35370A}"/>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Popraw jedną konkretną wadę i porównaj v2.</a:t>
            </a:r>
          </a:p>
        </p:txBody>
      </p:sp>
      <p:sp>
        <p:nvSpPr>
          <p:cNvPr id="6" name="Rectangle 5">
            <a:extLst>
              <a:ext uri="{FF2B5EF4-FFF2-40B4-BE49-F238E27FC236}">
                <a16:creationId xmlns:a16="http://schemas.microsoft.com/office/drawing/2014/main" id="{90432412-4F97-4B7E-BB35-7571BCD9398C}"/>
              </a:ext>
            </a:extLst>
          </p:cNvPr>
          <p:cNvSpPr>
            <a:spLocks noGrp="1"/>
          </p:cNvSpPr>
          <p:nvPr/>
        </p:nvSpPr>
        <p:spPr>
          <a:xfrm>
            <a:off x="723900" y="4552950"/>
            <a:ext cx="10429875" cy="1047750"/>
          </a:xfrm>
          <a:prstGeom prst="rect">
            <a:avLst/>
          </a:prstGeom>
          <a:noFill/>
          <a:ln w="0">
            <a:noFill/>
          </a:ln>
        </p:spPr>
        <p:txBody>
          <a:bodyPr>
            <a:noAutofit/>
          </a:bodyPr>
          <a:lstStyle/>
          <a:p>
            <a:pPr>
              <a:buNone/>
              <a:defRPr sz="2325" b="0">
                <a:solidFill>
                  <a:srgbClr val="6AD1CE"/>
                </a:solidFill>
                <a:latin typeface="DejaVu Sans"/>
                <a:ea typeface="DejaVu Sans"/>
                <a:cs typeface="DejaVu Sans"/>
              </a:defRPr>
            </a:pPr>
            <a:r>
              <a:rPr sz="2325" b="0">
                <a:solidFill>
                  <a:srgbClr val="6AD1CE"/>
                </a:solidFill>
                <a:latin typeface="DejaVu Sans"/>
                <a:ea typeface="DejaVu Sans"/>
                <a:cs typeface="DejaVu Sans"/>
              </a:rPr>
              <a:t>Gotowe, gdy potrafisz pokazać zmianę wyniku oraz błędy, które pozostały.</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1220782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B8C23B-DE3F-4BE9-B800-FA121EE2FA0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4C923951-67C5-40AF-928B-E68EAD8FD861}"/>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41</a:t>
            </a:r>
          </a:p>
        </p:txBody>
      </p:sp>
      <p:sp>
        <p:nvSpPr>
          <p:cNvPr id="3" name="Rectangle 2">
            <a:extLst>
              <a:ext uri="{FF2B5EF4-FFF2-40B4-BE49-F238E27FC236}">
                <a16:creationId xmlns:a16="http://schemas.microsoft.com/office/drawing/2014/main" id="{210116B0-48AA-44D2-8753-6290645DEF15}"/>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Samodzielność i zatwierdzenie</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52475">
                <a:tc>
                  <a:txBody>
                    <a:bodyPr/>
                    <a:lstStyle/>
                    <a:p>
                      <a:r>
                        <a:rPr sz="1875" b="1">
                          <a:solidFill>
                            <a:srgbClr val="FFFFFF"/>
                          </a:solidFill>
                          <a:latin typeface="DejaVu Sans"/>
                          <a:ea typeface="DejaVu Sans"/>
                          <a:cs typeface="DejaVu Sans"/>
                        </a:rPr>
                        <a:t>Agent może</a:t>
                      </a:r>
                    </a:p>
                  </a:txBody>
                  <a:tcPr>
                    <a:solidFill>
                      <a:srgbClr val="142F47"/>
                    </a:solidFill>
                  </a:tcPr>
                </a:tc>
                <a:tc>
                  <a:txBody>
                    <a:bodyPr/>
                    <a:lstStyle/>
                    <a:p>
                      <a:r>
                        <a:rPr sz="1875" b="1">
                          <a:solidFill>
                            <a:srgbClr val="FFFFFF"/>
                          </a:solidFill>
                          <a:latin typeface="DejaVu Sans"/>
                          <a:ea typeface="DejaVu Sans"/>
                          <a:cs typeface="DejaVu Sans"/>
                        </a:rPr>
                        <a:t>Proces i uprawniona osoba kontrolują</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Analizować treść</a:t>
                      </a:r>
                    </a:p>
                  </a:txBody>
                  <a:tcPr>
                    <a:solidFill>
                      <a:srgbClr val="FFFFFF"/>
                    </a:solidFill>
                  </a:tcPr>
                </a:tc>
                <a:tc>
                  <a:txBody>
                    <a:bodyPr/>
                    <a:lstStyle/>
                    <a:p>
                      <a:r>
                        <a:rPr sz="1800" b="0">
                          <a:solidFill>
                            <a:srgbClr val="142F47"/>
                          </a:solidFill>
                          <a:latin typeface="DejaVu Sans"/>
                          <a:ea typeface="DejaVu Sans"/>
                          <a:cs typeface="DejaVu Sans"/>
                        </a:rPr>
                        <a:t>Dostęp do danych</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Rekomendować dalszy krok</a:t>
                      </a:r>
                    </a:p>
                  </a:txBody>
                  <a:tcPr>
                    <a:solidFill>
                      <a:srgbClr val="EEF1F1"/>
                    </a:solidFill>
                  </a:tcPr>
                </a:tc>
                <a:tc>
                  <a:txBody>
                    <a:bodyPr/>
                    <a:lstStyle/>
                    <a:p>
                      <a:r>
                        <a:rPr sz="1800" b="0">
                          <a:solidFill>
                            <a:srgbClr val="142F47"/>
                          </a:solidFill>
                          <a:latin typeface="DejaVu Sans"/>
                          <a:ea typeface="DejaVu Sans"/>
                          <a:cs typeface="DejaVu Sans"/>
                        </a:rPr>
                        <a:t>Zgodę na działanie</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Przygotować szkic</a:t>
                      </a:r>
                    </a:p>
                  </a:txBody>
                  <a:tcPr>
                    <a:solidFill>
                      <a:srgbClr val="FFFFFF"/>
                    </a:solidFill>
                  </a:tcPr>
                </a:tc>
                <a:tc>
                  <a:txBody>
                    <a:bodyPr/>
                    <a:lstStyle/>
                    <a:p>
                      <a:r>
                        <a:rPr sz="1800" b="0">
                          <a:solidFill>
                            <a:srgbClr val="142F47"/>
                          </a:solidFill>
                          <a:latin typeface="DejaVu Sans"/>
                          <a:ea typeface="DejaVu Sans"/>
                          <a:cs typeface="DejaVu Sans"/>
                        </a:rPr>
                        <a:t>Zatwierdzenie i zapis decyzji</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57194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740D79-A394-47E2-AA80-5066EA6BDF6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064AD5A-8383-436E-89D4-2116DF70D7F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42</a:t>
            </a:r>
          </a:p>
        </p:txBody>
      </p:sp>
      <p:sp>
        <p:nvSpPr>
          <p:cNvPr id="3" name="Rectangle 2">
            <a:extLst>
              <a:ext uri="{FF2B5EF4-FFF2-40B4-BE49-F238E27FC236}">
                <a16:creationId xmlns:a16="http://schemas.microsoft.com/office/drawing/2014/main" id="{5E9677AF-F8F6-4DED-9393-D0589037D29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Guardrails w kilku miejscach</a:t>
            </a:r>
          </a:p>
        </p:txBody>
      </p:sp>
      <p:sp>
        <p:nvSpPr>
          <p:cNvPr id="4" name="Rectangle 3">
            <a:extLst>
              <a:ext uri="{FF2B5EF4-FFF2-40B4-BE49-F238E27FC236}">
                <a16:creationId xmlns:a16="http://schemas.microsoft.com/office/drawing/2014/main" id="{81850FDB-5029-4B70-B3F1-014A53DF5C1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Instrukcje określają dozwolone zachowanie agenta.</a:t>
            </a:r>
          </a:p>
        </p:txBody>
      </p:sp>
      <p:sp>
        <p:nvSpPr>
          <p:cNvPr id="5" name="Rectangle 4">
            <a:extLst>
              <a:ext uri="{FF2B5EF4-FFF2-40B4-BE49-F238E27FC236}">
                <a16:creationId xmlns:a16="http://schemas.microsoft.com/office/drawing/2014/main" id="{6277DC48-A968-4E51-8D6C-B103EFC230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Narzędzie sprawdza argumenty i uprawnienia.</a:t>
            </a:r>
          </a:p>
        </p:txBody>
      </p:sp>
      <p:sp>
        <p:nvSpPr>
          <p:cNvPr id="6" name="Rectangle 5">
            <a:extLst>
              <a:ext uri="{FF2B5EF4-FFF2-40B4-BE49-F238E27FC236}">
                <a16:creationId xmlns:a16="http://schemas.microsoft.com/office/drawing/2014/main" id="{56315FF8-1D73-4F10-BB47-75A9529BDA1F}"/>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Proces wymusza zatwierdzenie wybranych działań.</a:t>
            </a:r>
          </a:p>
        </p:txBody>
      </p:sp>
      <p:sp>
        <p:nvSpPr>
          <p:cNvPr id="7" name="Rectangle 6">
            <a:extLst>
              <a:ext uri="{FF2B5EF4-FFF2-40B4-BE49-F238E27FC236}">
                <a16:creationId xmlns:a16="http://schemas.microsoft.com/office/drawing/2014/main" id="{87A65EC5-3FDC-4839-B378-3B7C2C605D6C}"/>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Log i testy pokazują, czy zabezpieczenia działają.</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58152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740D79-A394-47E2-AA80-5066EA6BDF6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064AD5A-8383-436E-89D4-2116DF70D7F3}"/>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43</a:t>
            </a:r>
          </a:p>
        </p:txBody>
      </p:sp>
      <p:sp>
        <p:nvSpPr>
          <p:cNvPr id="3" name="Rectangle 2">
            <a:extLst>
              <a:ext uri="{FF2B5EF4-FFF2-40B4-BE49-F238E27FC236}">
                <a16:creationId xmlns:a16="http://schemas.microsoft.com/office/drawing/2014/main" id="{5E9677AF-F8F6-4DED-9393-D0589037D298}"/>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Guardrails w platformie: pokaz</a:t>
            </a:r>
          </a:p>
        </p:txBody>
      </p:sp>
      <p:sp>
        <p:nvSpPr>
          <p:cNvPr id="4" name="Rectangle 3">
            <a:extLst>
              <a:ext uri="{FF2B5EF4-FFF2-40B4-BE49-F238E27FC236}">
                <a16:creationId xmlns:a16="http://schemas.microsoft.com/office/drawing/2014/main" id="{81850FDB-5029-4B70-B3F1-014A53DF5C1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Poziom agenta, wywołania modelu i narzędzia.</a:t>
            </a:r>
          </a:p>
        </p:txBody>
      </p:sp>
      <p:sp>
        <p:nvSpPr>
          <p:cNvPr id="5" name="Rectangle 4">
            <a:extLst>
              <a:ext uri="{FF2B5EF4-FFF2-40B4-BE49-F238E27FC236}">
                <a16:creationId xmlns:a16="http://schemas.microsoft.com/office/drawing/2014/main" id="{6277DC48-A968-4E51-8D6C-B103EFC230E8}"/>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Wykrywanie m.in. PII, prompt injection i treści szkodliwych.</a:t>
            </a:r>
          </a:p>
        </p:txBody>
      </p:sp>
      <p:sp>
        <p:nvSpPr>
          <p:cNvPr id="6" name="Rectangle 5">
            <a:extLst>
              <a:ext uri="{FF2B5EF4-FFF2-40B4-BE49-F238E27FC236}">
                <a16:creationId xmlns:a16="http://schemas.microsoft.com/office/drawing/2014/main" id="{56315FF8-1D73-4F10-BB47-75A9529BDA1F}"/>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Reakcja: zapis w logu, blokada albo eskalacja do człowieka.</a:t>
            </a:r>
          </a:p>
        </p:txBody>
      </p:sp>
      <p:sp>
        <p:nvSpPr>
          <p:cNvPr id="7" name="Rectangle 6">
            <a:extLst>
              <a:ext uri="{FF2B5EF4-FFF2-40B4-BE49-F238E27FC236}">
                <a16:creationId xmlns:a16="http://schemas.microsoft.com/office/drawing/2014/main" id="{87A65EC5-3FDC-4839-B378-3B7C2C605D6C}"/>
              </a:ext>
            </a:extLst>
          </p:cNvPr>
          <p:cNvSpPr>
            <a:spLocks noGrp="1"/>
          </p:cNvSpPr>
          <p:nvPr/>
        </p:nvSpPr>
        <p:spPr>
          <a:xfrm>
            <a:off x="723900" y="4953000"/>
            <a:ext cx="10429875" cy="8001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Dostępność i wykonanie guardrails zależą od uprawnień tenant/licencji.</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cxnSp>
        <p:nvCxnSpPr>
          <p:cNvPr id="32" name="Connector: Elbow 31"/>
          <p:cNvCxnSpPr>
            <a:stCxn id="14" idx="2"/>
            <a:endCxn id="21" idx="0"/>
          </p:cNvCxnSpPr>
          <p:nvPr/>
        </p:nvCxnSpPr>
        <p:spPr>
          <a:xfrm>
            <a:off x="8453438" y="4953000"/>
            <a:ext cx="1595438" cy="628650"/>
          </a:xfrm>
          <a:prstGeom prst="bentConnector4">
            <a:avLst>
              <a:gd name="adj1" fmla="val 0"/>
              <a:gd name="adj2" fmla="val 50000"/>
            </a:avLst>
          </a:prstGeom>
          <a:ln w="28575">
            <a:solidFill>
              <a:srgbClr val="087F8C"/>
            </a:solidFill>
            <a:tailEnd type="triangle" w="sm" len="sm"/>
          </a:ln>
        </p:spPr>
      </p:cxnSp>
      <p:cxnSp>
        <p:nvCxnSpPr>
          <p:cNvPr id="33" name="Connector: Elbow 32"/>
          <p:cNvCxnSpPr>
            <a:stCxn id="14" idx="2"/>
            <a:endCxn id="20" idx="0"/>
          </p:cNvCxnSpPr>
          <p:nvPr/>
        </p:nvCxnSpPr>
        <p:spPr>
          <a:xfrm flipH="1">
            <a:off x="6381750" y="4953000"/>
            <a:ext cx="2071688" cy="628650"/>
          </a:xfrm>
          <a:prstGeom prst="bentConnector4">
            <a:avLst>
              <a:gd name="adj1" fmla="val 0"/>
              <a:gd name="adj2" fmla="val 50000"/>
            </a:avLst>
          </a:prstGeom>
          <a:ln w="28575">
            <a:solidFill>
              <a:srgbClr val="087F8C"/>
            </a:solidFill>
            <a:tailEnd type="triangle" w="sm" len="sm"/>
          </a:ln>
        </p:spPr>
      </p:cxnSp>
      <p:cxnSp>
        <p:nvCxnSpPr>
          <p:cNvPr id="34" name="Connector: Elbow 33"/>
          <p:cNvCxnSpPr>
            <a:stCxn id="11" idx="2"/>
            <a:endCxn id="17" idx="0"/>
          </p:cNvCxnSpPr>
          <p:nvPr/>
        </p:nvCxnSpPr>
        <p:spPr>
          <a:xfrm flipH="1">
            <a:off x="1881188" y="3190875"/>
            <a:ext cx="6572250" cy="857250"/>
          </a:xfrm>
          <a:prstGeom prst="bentConnector4">
            <a:avLst/>
          </a:prstGeom>
          <a:ln w="28575">
            <a:solidFill>
              <a:srgbClr val="087F8C"/>
            </a:solidFill>
            <a:tailEnd type="triangle" w="sm" len="sm"/>
          </a:ln>
        </p:spPr>
      </p:cxnSp>
      <p:cxnSp>
        <p:nvCxnSpPr>
          <p:cNvPr id="35" name="Straight Arrow Connector 34"/>
          <p:cNvCxnSpPr>
            <a:stCxn id="11" idx="2"/>
            <a:endCxn id="14" idx="0"/>
          </p:cNvCxnSpPr>
          <p:nvPr/>
        </p:nvCxnSpPr>
        <p:spPr>
          <a:xfrm>
            <a:off x="8453438" y="3190875"/>
            <a:ext cx="0" cy="857250"/>
          </a:xfrm>
          <a:prstGeom prst="straightConnector1">
            <a:avLst/>
          </a:prstGeom>
          <a:ln w="28575">
            <a:solidFill>
              <a:srgbClr val="087F8C"/>
            </a:solidFill>
            <a:tailEnd type="triangle" w="sm" len="sm"/>
          </a:ln>
        </p:spPr>
      </p:cxnSp>
      <p:cxnSp>
        <p:nvCxnSpPr>
          <p:cNvPr id="36" name="Connector: Elbow 35"/>
          <p:cNvCxnSpPr>
            <a:stCxn id="10" idx="3"/>
            <a:endCxn id="11" idx="1"/>
          </p:cNvCxnSpPr>
          <p:nvPr/>
        </p:nvCxnSpPr>
        <p:spPr>
          <a:xfrm>
            <a:off x="6191250" y="2681288"/>
            <a:ext cx="1047750" cy="33338"/>
          </a:xfrm>
          <a:prstGeom prst="bentConnector3">
            <a:avLst>
              <a:gd name="adj1" fmla="val 50000"/>
            </a:avLst>
          </a:prstGeom>
          <a:ln w="28575">
            <a:solidFill>
              <a:srgbClr val="087F8C"/>
            </a:solidFill>
            <a:tailEnd type="triangle" w="sm" len="sm"/>
          </a:ln>
        </p:spPr>
      </p:cxnSp>
      <p:cxnSp>
        <p:nvCxnSpPr>
          <p:cNvPr id="37" name="Straight Arrow Connector 36"/>
          <p:cNvCxnSpPr>
            <a:stCxn id="9" idx="3"/>
            <a:endCxn id="10" idx="1"/>
          </p:cNvCxnSpPr>
          <p:nvPr/>
        </p:nvCxnSpPr>
        <p:spPr>
          <a:xfrm>
            <a:off x="2809875" y="2681288"/>
            <a:ext cx="1000125" cy="0"/>
          </a:xfrm>
          <a:prstGeom prst="straightConnector1">
            <a:avLst/>
          </a:prstGeom>
          <a:ln w="28575">
            <a:solidFill>
              <a:srgbClr val="087F8C"/>
            </a:solidFill>
            <a:tailEnd type="triangle" w="sm" len="sm"/>
          </a:ln>
        </p:spPr>
      </p:cxnSp>
      <p:sp>
        <p:nvSpPr>
          <p:cNvPr id="8" name="Rectangle 7">
            <a:extLst>
              <a:ext uri="{FF2B5EF4-FFF2-40B4-BE49-F238E27FC236}">
                <a16:creationId xmlns:a16="http://schemas.microsoft.com/office/drawing/2014/main" id="{8E121C85-A042-49FA-A952-D40A106D22DD}"/>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99E53E6-D530-4D19-A7A5-D869E936021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44</a:t>
            </a:r>
          </a:p>
        </p:txBody>
      </p:sp>
      <p:sp>
        <p:nvSpPr>
          <p:cNvPr id="3" name="Rectangle 2">
            <a:extLst>
              <a:ext uri="{FF2B5EF4-FFF2-40B4-BE49-F238E27FC236}">
                <a16:creationId xmlns:a16="http://schemas.microsoft.com/office/drawing/2014/main" id="{9A2BF097-2CC2-4AEB-B805-A319AE479B82}"/>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Maestro: analiza i decyzja człowieka</a:t>
            </a:r>
          </a:p>
        </p:txBody>
      </p:sp>
      <p:sp>
        <p:nvSpPr>
          <p:cNvPr id="9" name="Rectangle: Rounded Corners 8">
            <a:extLst>
              <a:ext uri="{FF2B5EF4-FFF2-40B4-BE49-F238E27FC236}">
                <a16:creationId xmlns:a16="http://schemas.microsoft.com/office/drawing/2014/main" id="{9A819C1E-72A0-4E0C-9EA3-710DBB913895}"/>
              </a:ext>
            </a:extLst>
          </p:cNvPr>
          <p:cNvSpPr>
            <a:spLocks noGrp="1"/>
          </p:cNvSpPr>
          <p:nvPr/>
        </p:nvSpPr>
        <p:spPr>
          <a:xfrm>
            <a:off x="714375" y="2286000"/>
            <a:ext cx="209550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Zgłoszenie</a:t>
            </a:r>
          </a:p>
        </p:txBody>
      </p:sp>
      <p:sp>
        <p:nvSpPr>
          <p:cNvPr id="10" name="Rectangle: Rounded Corners 9">
            <a:extLst>
              <a:ext uri="{FF2B5EF4-FFF2-40B4-BE49-F238E27FC236}">
                <a16:creationId xmlns:a16="http://schemas.microsoft.com/office/drawing/2014/main" id="{00AAF10A-A992-45C0-ADAA-67974221F994}"/>
              </a:ext>
            </a:extLst>
          </p:cNvPr>
          <p:cNvSpPr>
            <a:spLocks noGrp="1"/>
          </p:cNvSpPr>
          <p:nvPr/>
        </p:nvSpPr>
        <p:spPr>
          <a:xfrm>
            <a:off x="3810000" y="2286000"/>
            <a:ext cx="2381250" cy="790575"/>
          </a:xfrm>
          <a:prstGeom prst="roundRect">
            <a:avLst>
              <a:gd name="adj" fmla="val 12048"/>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Analiza agenta</a:t>
            </a:r>
          </a:p>
        </p:txBody>
      </p:sp>
      <p:sp>
        <p:nvSpPr>
          <p:cNvPr id="11" name="Rectangle: Rounded Corners 10">
            <a:extLst>
              <a:ext uri="{FF2B5EF4-FFF2-40B4-BE49-F238E27FC236}">
                <a16:creationId xmlns:a16="http://schemas.microsoft.com/office/drawing/2014/main" id="{B8177F2C-C72C-4F31-AC21-61962CEFDEFA}"/>
              </a:ext>
            </a:extLst>
          </p:cNvPr>
          <p:cNvSpPr>
            <a:spLocks noGrp="1"/>
          </p:cNvSpPr>
          <p:nvPr/>
        </p:nvSpPr>
        <p:spPr>
          <a:xfrm>
            <a:off x="7239000" y="2238375"/>
            <a:ext cx="2428875" cy="952500"/>
          </a:xfrm>
          <a:prstGeom prst="roundRect">
            <a:avLst>
              <a:gd name="adj" fmla="val 10000"/>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Wymaga</a:t>
            </a:r>
          </a:p>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przeglądu?</a:t>
            </a:r>
          </a:p>
        </p:txBody>
      </p:sp>
      <p:sp>
        <p:nvSpPr>
          <p:cNvPr id="14" name="Rectangle: Rounded Corners 13">
            <a:extLst>
              <a:ext uri="{FF2B5EF4-FFF2-40B4-BE49-F238E27FC236}">
                <a16:creationId xmlns:a16="http://schemas.microsoft.com/office/drawing/2014/main" id="{EBB3E840-651F-433B-B170-33AE881B4853}"/>
              </a:ext>
            </a:extLst>
          </p:cNvPr>
          <p:cNvSpPr>
            <a:spLocks noGrp="1"/>
          </p:cNvSpPr>
          <p:nvPr/>
        </p:nvSpPr>
        <p:spPr>
          <a:xfrm>
            <a:off x="7239000" y="4048125"/>
            <a:ext cx="2428875" cy="904875"/>
          </a:xfrm>
          <a:prstGeom prst="roundRect">
            <a:avLst>
              <a:gd name="adj" fmla="val 10526"/>
            </a:avLst>
          </a:prstGeom>
          <a:solidFill>
            <a:srgbClr val="142F47"/>
          </a:solidFill>
          <a:ln w="19050">
            <a:solidFill>
              <a:srgbClr val="087F8C"/>
            </a:solidFill>
          </a:ln>
        </p:spPr>
        <p:txBody>
          <a:bodyPr anchor="ctr">
            <a:noAutofit/>
          </a:bodyPr>
          <a:lstStyle/>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Zadanie człowieka</a:t>
            </a:r>
          </a:p>
          <a:p>
            <a:pPr algn="ctr">
              <a:buNone/>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Proces czeka</a:t>
            </a:r>
          </a:p>
        </p:txBody>
      </p:sp>
      <p:sp>
        <p:nvSpPr>
          <p:cNvPr id="16" name="Rectangle 15">
            <a:extLst>
              <a:ext uri="{FF2B5EF4-FFF2-40B4-BE49-F238E27FC236}">
                <a16:creationId xmlns:a16="http://schemas.microsoft.com/office/drawing/2014/main" id="{3B2D2323-50BC-498D-A8D8-2AFCF4B63266}"/>
              </a:ext>
            </a:extLst>
          </p:cNvPr>
          <p:cNvSpPr>
            <a:spLocks noGrp="1"/>
          </p:cNvSpPr>
          <p:nvPr/>
        </p:nvSpPr>
        <p:spPr>
          <a:xfrm>
            <a:off x="9715500" y="3390900"/>
            <a:ext cx="1428750" cy="381000"/>
          </a:xfrm>
          <a:prstGeom prst="rect">
            <a:avLst/>
          </a:prstGeom>
          <a:noFill/>
          <a:ln w="0">
            <a:noFill/>
          </a:ln>
        </p:spPr>
        <p:txBody>
          <a:bodyPr>
            <a:noAutofit/>
          </a:bodyPr>
          <a:lstStyle/>
          <a:p>
            <a:pPr>
              <a:buNone/>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TAK</a:t>
            </a:r>
          </a:p>
        </p:txBody>
      </p:sp>
      <p:sp>
        <p:nvSpPr>
          <p:cNvPr id="17" name="Rectangle: Rounded Corners 16">
            <a:extLst>
              <a:ext uri="{FF2B5EF4-FFF2-40B4-BE49-F238E27FC236}">
                <a16:creationId xmlns:a16="http://schemas.microsoft.com/office/drawing/2014/main" id="{96E768FB-279E-4A85-BB50-BDC9B1DFB09B}"/>
              </a:ext>
            </a:extLst>
          </p:cNvPr>
          <p:cNvSpPr>
            <a:spLocks noGrp="1"/>
          </p:cNvSpPr>
          <p:nvPr/>
        </p:nvSpPr>
        <p:spPr>
          <a:xfrm>
            <a:off x="714375" y="4048125"/>
            <a:ext cx="2333625" cy="857250"/>
          </a:xfrm>
          <a:prstGeom prst="roundRect">
            <a:avLst>
              <a:gd name="adj" fmla="val 11111"/>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READY_DRAFT</a:t>
            </a:r>
          </a:p>
        </p:txBody>
      </p:sp>
      <p:sp>
        <p:nvSpPr>
          <p:cNvPr id="19" name="Rectangle 18">
            <a:extLst>
              <a:ext uri="{FF2B5EF4-FFF2-40B4-BE49-F238E27FC236}">
                <a16:creationId xmlns:a16="http://schemas.microsoft.com/office/drawing/2014/main" id="{DD4BB102-B74C-4074-98B7-934F19A057B7}"/>
              </a:ext>
            </a:extLst>
          </p:cNvPr>
          <p:cNvSpPr>
            <a:spLocks noGrp="1"/>
          </p:cNvSpPr>
          <p:nvPr/>
        </p:nvSpPr>
        <p:spPr>
          <a:xfrm>
            <a:off x="3876675" y="3390900"/>
            <a:ext cx="1238250" cy="381000"/>
          </a:xfrm>
          <a:prstGeom prst="rect">
            <a:avLst/>
          </a:prstGeom>
          <a:noFill/>
          <a:ln w="0">
            <a:noFill/>
          </a:ln>
        </p:spPr>
        <p:txBody>
          <a:bodyPr>
            <a:noAutofit/>
          </a:bodyPr>
          <a:lstStyle/>
          <a:p>
            <a:pPr>
              <a:buNone/>
              <a:defRPr sz="1650" b="1">
                <a:solidFill>
                  <a:srgbClr val="087F8C"/>
                </a:solidFill>
                <a:latin typeface="DejaVu Sans"/>
                <a:ea typeface="DejaVu Sans"/>
                <a:cs typeface="DejaVu Sans"/>
              </a:defRPr>
            </a:pPr>
            <a:r>
              <a:rPr sz="1650" b="1">
                <a:solidFill>
                  <a:srgbClr val="087F8C"/>
                </a:solidFill>
                <a:latin typeface="DejaVu Sans"/>
                <a:ea typeface="DejaVu Sans"/>
                <a:cs typeface="DejaVu Sans"/>
              </a:rPr>
              <a:t>NIE</a:t>
            </a:r>
          </a:p>
        </p:txBody>
      </p:sp>
      <p:sp>
        <p:nvSpPr>
          <p:cNvPr id="20" name="Rectangle: Rounded Corners 19">
            <a:extLst>
              <a:ext uri="{FF2B5EF4-FFF2-40B4-BE49-F238E27FC236}">
                <a16:creationId xmlns:a16="http://schemas.microsoft.com/office/drawing/2014/main" id="{307CE109-9FF3-4E0F-9995-ABCFB3CDFDCF}"/>
              </a:ext>
            </a:extLst>
          </p:cNvPr>
          <p:cNvSpPr>
            <a:spLocks noGrp="1"/>
          </p:cNvSpPr>
          <p:nvPr/>
        </p:nvSpPr>
        <p:spPr>
          <a:xfrm>
            <a:off x="4857750" y="5581650"/>
            <a:ext cx="3048000" cy="609600"/>
          </a:xfrm>
          <a:prstGeom prst="roundRect">
            <a:avLst>
              <a:gd name="adj" fmla="val 15625"/>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REVIEWED_DRAFT</a:t>
            </a:r>
          </a:p>
        </p:txBody>
      </p:sp>
      <p:sp>
        <p:nvSpPr>
          <p:cNvPr id="21" name="Rectangle: Rounded Corners 20">
            <a:extLst>
              <a:ext uri="{FF2B5EF4-FFF2-40B4-BE49-F238E27FC236}">
                <a16:creationId xmlns:a16="http://schemas.microsoft.com/office/drawing/2014/main" id="{3788960D-664F-420A-8C01-75F9E871B26A}"/>
              </a:ext>
            </a:extLst>
          </p:cNvPr>
          <p:cNvSpPr>
            <a:spLocks noGrp="1"/>
          </p:cNvSpPr>
          <p:nvPr/>
        </p:nvSpPr>
        <p:spPr>
          <a:xfrm>
            <a:off x="8715375" y="5581650"/>
            <a:ext cx="2667000" cy="609600"/>
          </a:xfrm>
          <a:prstGeom prst="roundRect">
            <a:avLst>
              <a:gd name="adj" fmla="val 15625"/>
            </a:avLst>
          </a:prstGeom>
          <a:solidFill>
            <a:srgbClr val="FFFFFF"/>
          </a:solidFill>
          <a:ln w="19050">
            <a:solidFill>
              <a:srgbClr val="087F8C"/>
            </a:solidFill>
          </a:ln>
        </p:spPr>
        <p:txBody>
          <a:bodyPr anchor="ctr">
            <a:noAutofit/>
          </a:bodyPr>
          <a:lstStyle/>
          <a:p>
            <a:pPr algn="ctr">
              <a:buNone/>
              <a:defRPr sz="1875" b="1">
                <a:solidFill>
                  <a:srgbClr val="142F47"/>
                </a:solidFill>
                <a:latin typeface="DejaVu Sans"/>
                <a:ea typeface="DejaVu Sans"/>
                <a:cs typeface="DejaVu Sans"/>
              </a:defRPr>
            </a:pPr>
            <a:r>
              <a:rPr sz="1875" b="1">
                <a:solidFill>
                  <a:srgbClr val="142F47"/>
                </a:solidFill>
                <a:latin typeface="DejaVu Sans"/>
                <a:ea typeface="DejaVu Sans"/>
                <a:cs typeface="DejaVu Sans"/>
              </a:rPr>
              <a:t>REJECTED</a:t>
            </a:r>
          </a:p>
        </p:txBody>
      </p:sp>
      <p:sp>
        <p:nvSpPr>
          <p:cNvPr id="24" name="Rectangle 23">
            <a:extLst>
              <a:ext uri="{FF2B5EF4-FFF2-40B4-BE49-F238E27FC236}">
                <a16:creationId xmlns:a16="http://schemas.microsoft.com/office/drawing/2014/main" id="{8FE7A5AA-2C83-463C-AFBE-8CF145E03315}"/>
              </a:ext>
            </a:extLst>
          </p:cNvPr>
          <p:cNvSpPr>
            <a:spLocks noGrp="1"/>
          </p:cNvSpPr>
          <p:nvPr/>
        </p:nvSpPr>
        <p:spPr>
          <a:xfrm>
            <a:off x="4572000" y="5048250"/>
            <a:ext cx="2286000" cy="333375"/>
          </a:xfrm>
          <a:prstGeom prst="rect">
            <a:avLst/>
          </a:prstGeom>
          <a:noFill/>
          <a:ln w="0">
            <a:noFill/>
          </a:ln>
        </p:spPr>
        <p:txBody>
          <a:bodyPr>
            <a:noAutofit/>
          </a:bodyPr>
          <a:lstStyle/>
          <a:p>
            <a:pPr>
              <a:buNone/>
              <a:defRPr sz="1575" b="0">
                <a:solidFill>
                  <a:srgbClr val="087F8C"/>
                </a:solidFill>
                <a:latin typeface="DejaVu Sans"/>
                <a:ea typeface="DejaVu Sans"/>
                <a:cs typeface="DejaVu Sans"/>
              </a:defRPr>
            </a:pPr>
            <a:r>
              <a:rPr sz="1575" b="0">
                <a:solidFill>
                  <a:srgbClr val="087F8C"/>
                </a:solidFill>
                <a:latin typeface="DejaVu Sans"/>
                <a:ea typeface="DejaVu Sans"/>
                <a:cs typeface="DejaVu Sans"/>
              </a:rPr>
              <a:t>Approve</a:t>
            </a:r>
          </a:p>
        </p:txBody>
      </p:sp>
      <p:sp>
        <p:nvSpPr>
          <p:cNvPr id="25" name="Rectangle 24">
            <a:extLst>
              <a:ext uri="{FF2B5EF4-FFF2-40B4-BE49-F238E27FC236}">
                <a16:creationId xmlns:a16="http://schemas.microsoft.com/office/drawing/2014/main" id="{56D4E793-9544-48FD-B484-61CB9A0469A9}"/>
              </a:ext>
            </a:extLst>
          </p:cNvPr>
          <p:cNvSpPr>
            <a:spLocks noGrp="1"/>
          </p:cNvSpPr>
          <p:nvPr/>
        </p:nvSpPr>
        <p:spPr>
          <a:xfrm>
            <a:off x="10382250" y="5048250"/>
            <a:ext cx="1428750" cy="333375"/>
          </a:xfrm>
          <a:prstGeom prst="rect">
            <a:avLst/>
          </a:prstGeom>
          <a:noFill/>
          <a:ln w="0">
            <a:noFill/>
          </a:ln>
        </p:spPr>
        <p:txBody>
          <a:bodyPr>
            <a:noAutofit/>
          </a:bodyPr>
          <a:lstStyle/>
          <a:p>
            <a:pPr>
              <a:buNone/>
              <a:defRPr sz="1575" b="0">
                <a:solidFill>
                  <a:srgbClr val="087F8C"/>
                </a:solidFill>
                <a:latin typeface="DejaVu Sans"/>
                <a:ea typeface="DejaVu Sans"/>
                <a:cs typeface="DejaVu Sans"/>
              </a:defRPr>
            </a:pPr>
            <a:r>
              <a:rPr sz="1575" b="0">
                <a:solidFill>
                  <a:srgbClr val="087F8C"/>
                </a:solidFill>
                <a:latin typeface="DejaVu Sans"/>
                <a:ea typeface="DejaVu Sans"/>
                <a:cs typeface="DejaVu Sans"/>
              </a:rPr>
              <a:t>Reject</a:t>
            </a:r>
          </a:p>
        </p:txBody>
      </p:sp>
      <p:sp>
        <p:nvSpPr>
          <p:cNvPr id="38" name="Rectangle 3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97593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441BB4-E4B1-4206-A318-9474F59507C7}"/>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1EDA7F3-17E8-4B85-AB07-F9BFF45B424B}"/>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45</a:t>
            </a:r>
          </a:p>
        </p:txBody>
      </p:sp>
      <p:sp>
        <p:nvSpPr>
          <p:cNvPr id="3" name="Rectangle 2">
            <a:extLst>
              <a:ext uri="{FF2B5EF4-FFF2-40B4-BE49-F238E27FC236}">
                <a16:creationId xmlns:a16="http://schemas.microsoft.com/office/drawing/2014/main" id="{303699B6-408F-4D4F-99CF-5ACEFFA2117A}"/>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Zakończenia procesu</a:t>
            </a:r>
          </a:p>
        </p:txBody>
      </p:sp>
      <p:graphicFrame>
        <p:nvGraphicFramePr>
          <p:cNvPr id="10" name="Table 9"/>
          <p:cNvGraphicFramePr/>
          <p:nvPr/>
        </p:nvGraphicFramePr>
        <p:xfrm>
          <a:off x="723900" y="2333625"/>
          <a:ext cx="10668000" cy="3381375"/>
        </p:xfrm>
        <a:graphic>
          <a:graphicData uri="http://schemas.openxmlformats.org/drawingml/2006/table">
            <a:tbl>
              <a:tblPr/>
              <a:tblGrid>
                <a:gridCol w="4953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676275">
                <a:tc>
                  <a:txBody>
                    <a:bodyPr/>
                    <a:lstStyle/>
                    <a:p>
                      <a:r>
                        <a:rPr sz="1875" b="1">
                          <a:solidFill>
                            <a:srgbClr val="FFFFFF"/>
                          </a:solidFill>
                          <a:latin typeface="DejaVu Sans"/>
                          <a:ea typeface="DejaVu Sans"/>
                          <a:cs typeface="DejaVu Sans"/>
                        </a:rPr>
                        <a:t>Wynik obsługi</a:t>
                      </a:r>
                    </a:p>
                  </a:txBody>
                  <a:tcPr>
                    <a:solidFill>
                      <a:srgbClr val="142F47"/>
                    </a:solidFill>
                  </a:tcPr>
                </a:tc>
                <a:tc>
                  <a:txBody>
                    <a:bodyPr/>
                    <a:lstStyle/>
                    <a:p>
                      <a:r>
                        <a:rPr sz="1875" b="1">
                          <a:solidFill>
                            <a:srgbClr val="FFFFFF"/>
                          </a:solidFill>
                          <a:latin typeface="DejaVu Sans"/>
                          <a:ea typeface="DejaVu Sans"/>
                          <a:cs typeface="DejaVu Sans"/>
                        </a:rPr>
                        <a:t>Status końcowy</a:t>
                      </a:r>
                    </a:p>
                  </a:txBody>
                  <a:tcPr>
                    <a:solidFill>
                      <a:srgbClr val="142F47"/>
                    </a:solidFill>
                  </a:tcPr>
                </a:tc>
                <a:extLst>
                  <a:ext uri="{0D108BD9-81ED-4DB2-BD59-A6C34878D82A}">
                    <a16:rowId xmlns:a16="http://schemas.microsoft.com/office/drawing/2014/main" val="10000"/>
                  </a:ext>
                </a:extLst>
              </a:tr>
              <a:tr h="676275">
                <a:tc>
                  <a:txBody>
                    <a:bodyPr/>
                    <a:lstStyle/>
                    <a:p>
                      <a:r>
                        <a:rPr sz="1800" b="0">
                          <a:solidFill>
                            <a:srgbClr val="142F47"/>
                          </a:solidFill>
                          <a:latin typeface="DejaVu Sans"/>
                          <a:ea typeface="DejaVu Sans"/>
                          <a:cs typeface="DejaVu Sans"/>
                        </a:rPr>
                        <a:t>Szkic gotowy bez przeglądu</a:t>
                      </a:r>
                    </a:p>
                  </a:txBody>
                  <a:tcPr>
                    <a:solidFill>
                      <a:srgbClr val="FFFFFF"/>
                    </a:solidFill>
                  </a:tcPr>
                </a:tc>
                <a:tc>
                  <a:txBody>
                    <a:bodyPr/>
                    <a:lstStyle/>
                    <a:p>
                      <a:r>
                        <a:rPr sz="1800" b="0">
                          <a:solidFill>
                            <a:srgbClr val="142F47"/>
                          </a:solidFill>
                          <a:latin typeface="DejaVu Sans"/>
                          <a:ea typeface="DejaVu Sans"/>
                          <a:cs typeface="DejaVu Sans"/>
                        </a:rPr>
                        <a:t>READY_DRAFT</a:t>
                      </a:r>
                    </a:p>
                  </a:txBody>
                  <a:tcPr>
                    <a:solidFill>
                      <a:srgbClr val="FFFFFF"/>
                    </a:solidFill>
                  </a:tcPr>
                </a:tc>
                <a:extLst>
                  <a:ext uri="{0D108BD9-81ED-4DB2-BD59-A6C34878D82A}">
                    <a16:rowId xmlns:a16="http://schemas.microsoft.com/office/drawing/2014/main" val="10001"/>
                  </a:ext>
                </a:extLst>
              </a:tr>
              <a:tr h="676275">
                <a:tc>
                  <a:txBody>
                    <a:bodyPr/>
                    <a:lstStyle/>
                    <a:p>
                      <a:r>
                        <a:rPr sz="1800" b="0">
                          <a:solidFill>
                            <a:srgbClr val="142F47"/>
                          </a:solidFill>
                          <a:latin typeface="DejaVu Sans"/>
                          <a:ea typeface="DejaVu Sans"/>
                          <a:cs typeface="DejaVu Sans"/>
                        </a:rPr>
                        <a:t>Potrzebne dodatkowe dane</a:t>
                      </a:r>
                    </a:p>
                  </a:txBody>
                  <a:tcPr>
                    <a:solidFill>
                      <a:srgbClr val="EEF1F1"/>
                    </a:solidFill>
                  </a:tcPr>
                </a:tc>
                <a:tc>
                  <a:txBody>
                    <a:bodyPr/>
                    <a:lstStyle/>
                    <a:p>
                      <a:r>
                        <a:rPr sz="1800" b="0">
                          <a:solidFill>
                            <a:srgbClr val="142F47"/>
                          </a:solidFill>
                          <a:latin typeface="DejaVu Sans"/>
                          <a:ea typeface="DejaVu Sans"/>
                          <a:cs typeface="DejaVu Sans"/>
                        </a:rPr>
                        <a:t>NEEDS_DETAILS</a:t>
                      </a:r>
                    </a:p>
                  </a:txBody>
                  <a:tcPr>
                    <a:solidFill>
                      <a:srgbClr val="EEF1F1"/>
                    </a:solidFill>
                  </a:tcPr>
                </a:tc>
                <a:extLst>
                  <a:ext uri="{0D108BD9-81ED-4DB2-BD59-A6C34878D82A}">
                    <a16:rowId xmlns:a16="http://schemas.microsoft.com/office/drawing/2014/main" val="10002"/>
                  </a:ext>
                </a:extLst>
              </a:tr>
              <a:tr h="676275">
                <a:tc>
                  <a:txBody>
                    <a:bodyPr/>
                    <a:lstStyle/>
                    <a:p>
                      <a:r>
                        <a:rPr sz="1800" b="0">
                          <a:solidFill>
                            <a:srgbClr val="142F47"/>
                          </a:solidFill>
                          <a:latin typeface="DejaVu Sans"/>
                          <a:ea typeface="DejaVu Sans"/>
                          <a:cs typeface="DejaVu Sans"/>
                        </a:rPr>
                        <a:t>Człowiek zatwierdził szkic</a:t>
                      </a:r>
                    </a:p>
                  </a:txBody>
                  <a:tcPr>
                    <a:solidFill>
                      <a:srgbClr val="FFFFFF"/>
                    </a:solidFill>
                  </a:tcPr>
                </a:tc>
                <a:tc>
                  <a:txBody>
                    <a:bodyPr/>
                    <a:lstStyle/>
                    <a:p>
                      <a:r>
                        <a:rPr sz="1800" b="0">
                          <a:solidFill>
                            <a:srgbClr val="142F47"/>
                          </a:solidFill>
                          <a:latin typeface="DejaVu Sans"/>
                          <a:ea typeface="DejaVu Sans"/>
                          <a:cs typeface="DejaVu Sans"/>
                        </a:rPr>
                        <a:t>REVIEWED_DRAFT</a:t>
                      </a:r>
                    </a:p>
                  </a:txBody>
                  <a:tcPr>
                    <a:solidFill>
                      <a:srgbClr val="FFFFFF"/>
                    </a:solidFill>
                  </a:tcPr>
                </a:tc>
                <a:extLst>
                  <a:ext uri="{0D108BD9-81ED-4DB2-BD59-A6C34878D82A}">
                    <a16:rowId xmlns:a16="http://schemas.microsoft.com/office/drawing/2014/main" val="10003"/>
                  </a:ext>
                </a:extLst>
              </a:tr>
              <a:tr h="676275">
                <a:tc>
                  <a:txBody>
                    <a:bodyPr/>
                    <a:lstStyle/>
                    <a:p>
                      <a:r>
                        <a:rPr sz="1800" b="0">
                          <a:solidFill>
                            <a:srgbClr val="142F47"/>
                          </a:solidFill>
                          <a:latin typeface="DejaVu Sans"/>
                          <a:ea typeface="DejaVu Sans"/>
                          <a:cs typeface="DejaVu Sans"/>
                        </a:rPr>
                        <a:t>Człowiek odrzucił szkic</a:t>
                      </a:r>
                    </a:p>
                  </a:txBody>
                  <a:tcPr>
                    <a:solidFill>
                      <a:srgbClr val="EEF1F1"/>
                    </a:solidFill>
                  </a:tcPr>
                </a:tc>
                <a:tc>
                  <a:txBody>
                    <a:bodyPr/>
                    <a:lstStyle/>
                    <a:p>
                      <a:r>
                        <a:rPr sz="1800" b="0">
                          <a:solidFill>
                            <a:srgbClr val="142F47"/>
                          </a:solidFill>
                          <a:latin typeface="DejaVu Sans"/>
                          <a:ea typeface="DejaVu Sans"/>
                          <a:cs typeface="DejaVu Sans"/>
                        </a:rPr>
                        <a:t>REJECTED</a:t>
                      </a:r>
                    </a:p>
                  </a:txBody>
                  <a:tcPr>
                    <a:solidFill>
                      <a:srgbClr val="EEF1F1"/>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11180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42F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00B423-1AFA-431E-B763-ED6BA01C3490}"/>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18C0BB2-5C84-4D16-B219-A20BCF346FC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46</a:t>
            </a:r>
          </a:p>
        </p:txBody>
      </p:sp>
      <p:sp>
        <p:nvSpPr>
          <p:cNvPr id="3" name="Rectangle 2">
            <a:extLst>
              <a:ext uri="{FF2B5EF4-FFF2-40B4-BE49-F238E27FC236}">
                <a16:creationId xmlns:a16="http://schemas.microsoft.com/office/drawing/2014/main" id="{30A6D606-5CD9-416F-A630-96AC43C3D2E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6. Pełny proces</a:t>
            </a:r>
          </a:p>
        </p:txBody>
      </p:sp>
      <p:sp>
        <p:nvSpPr>
          <p:cNvPr id="4" name="Rectangle 3">
            <a:extLst>
              <a:ext uri="{FF2B5EF4-FFF2-40B4-BE49-F238E27FC236}">
                <a16:creationId xmlns:a16="http://schemas.microsoft.com/office/drawing/2014/main" id="{181C7147-861E-41E7-9A93-B60BCD54D85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Połącz SupportAgent, regułę przeglądu i Quick Form w Maestro Flow.</a:t>
            </a:r>
          </a:p>
        </p:txBody>
      </p:sp>
      <p:sp>
        <p:nvSpPr>
          <p:cNvPr id="5" name="Rectangle 4">
            <a:extLst>
              <a:ext uri="{FF2B5EF4-FFF2-40B4-BE49-F238E27FC236}">
                <a16:creationId xmlns:a16="http://schemas.microsoft.com/office/drawing/2014/main" id="{94A1BB28-5F27-4879-98E2-403B6F0F7878}"/>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Uruchom ścieżkę zwykłą, brak danych oraz Approve i Reject.</a:t>
            </a:r>
          </a:p>
        </p:txBody>
      </p:sp>
      <p:sp>
        <p:nvSpPr>
          <p:cNvPr id="6" name="Rectangle 5">
            <a:extLst>
              <a:ext uri="{FF2B5EF4-FFF2-40B4-BE49-F238E27FC236}">
                <a16:creationId xmlns:a16="http://schemas.microsoft.com/office/drawing/2014/main" id="{249CAC73-C829-4DC6-AC4D-03CADCEAAA70}"/>
              </a:ext>
            </a:extLst>
          </p:cNvPr>
          <p:cNvSpPr>
            <a:spLocks noGrp="1"/>
          </p:cNvSpPr>
          <p:nvPr/>
        </p:nvSpPr>
        <p:spPr>
          <a:xfrm>
            <a:off x="723900" y="4552950"/>
            <a:ext cx="10429875" cy="1047750"/>
          </a:xfrm>
          <a:prstGeom prst="rect">
            <a:avLst/>
          </a:prstGeom>
          <a:noFill/>
          <a:ln w="0">
            <a:noFill/>
          </a:ln>
        </p:spPr>
        <p:txBody>
          <a:bodyPr wrap="square">
            <a:normAutofit/>
          </a:bodyPr>
          <a:lstStyle/>
          <a:p>
            <a:pPr>
              <a:buNone/>
              <a:defRPr sz="2325" b="0">
                <a:solidFill>
                  <a:srgbClr val="6AD1CE"/>
                </a:solidFill>
                <a:latin typeface="DejaVu Sans"/>
                <a:ea typeface="DejaVu Sans"/>
                <a:cs typeface="DejaVu Sans"/>
              </a:defRPr>
            </a:pPr>
            <a:r>
              <a:rPr sz="2325" b="0">
                <a:solidFill>
                  <a:srgbClr val="6AD1CE"/>
                </a:solidFill>
                <a:latin typeface="DejaVu Sans"/>
              </a:rPr>
              <a:t>Gotowe, gdy proces waliduje wynik, czeka na człowieka i zapisuje decyzję.</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extLst>
      <p:ext uri="{BB962C8B-B14F-4D97-AF65-F5344CB8AC3E}">
        <p14:creationId xmlns:p14="http://schemas.microsoft.com/office/powerpoint/2010/main" val="1451787373"/>
      </p:ext>
    </p:extLst>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536878"/>
                </a:solidFill>
                <a:latin typeface="DejaVu Sans"/>
                <a:ea typeface="DejaVu Sans"/>
                <a:cs typeface="DejaVu Sans"/>
              </a:defRPr>
            </a:pPr>
            <a:r>
              <a:rPr sz="1200" b="0">
                <a:solidFill>
                  <a:srgbClr val="536878"/>
                </a:solidFill>
                <a:latin typeface="DejaVu Sans"/>
                <a:ea typeface="DejaVu Sans"/>
                <a:cs typeface="DejaVu Sans"/>
              </a:rPr>
              <a:t>47</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Robot wywołuje agenta: Run Job</a:t>
            </a:r>
          </a:p>
        </p:txBody>
      </p:sp>
      <p:graphicFrame>
        <p:nvGraphicFramePr>
          <p:cNvPr id="10" name="Table 9"/>
          <p:cNvGraphicFramePr/>
          <p:nvPr/>
        </p:nvGraphicFramePr>
        <p:xfrm>
          <a:off x="723900" y="2333625"/>
          <a:ext cx="10668000" cy="3009900"/>
        </p:xfrm>
        <a:graphic>
          <a:graphicData uri="http://schemas.openxmlformats.org/drawingml/2006/table">
            <a:tbl>
              <a:tblPr/>
              <a:tblGrid>
                <a:gridCol w="2952750">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52475">
                <a:tc>
                  <a:txBody>
                    <a:bodyPr/>
                    <a:lstStyle/>
                    <a:p>
                      <a:r>
                        <a:rPr sz="1875" b="1">
                          <a:solidFill>
                            <a:srgbClr val="FFFFFF"/>
                          </a:solidFill>
                          <a:latin typeface="DejaVu Sans"/>
                          <a:ea typeface="DejaVu Sans"/>
                          <a:cs typeface="DejaVu Sans"/>
                        </a:rPr>
                        <a:t/>
                      </a:r>
                    </a:p>
                  </a:txBody>
                  <a:tcPr>
                    <a:solidFill>
                      <a:srgbClr val="142F47"/>
                    </a:solidFill>
                  </a:tcPr>
                </a:tc>
                <a:tc>
                  <a:txBody>
                    <a:bodyPr/>
                    <a:lstStyle/>
                    <a:p>
                      <a:r>
                        <a:rPr sz="1875" b="1">
                          <a:solidFill>
                            <a:srgbClr val="FFFFFF"/>
                          </a:solidFill>
                          <a:latin typeface="DejaVu Sans"/>
                          <a:ea typeface="DejaVu Sans"/>
                          <a:cs typeface="DejaVu Sans"/>
                        </a:rPr>
                        <a:t>Robot czeka</a:t>
                      </a:r>
                    </a:p>
                  </a:txBody>
                  <a:tcPr>
                    <a:solidFill>
                      <a:srgbClr val="142F47"/>
                    </a:solidFill>
                  </a:tcPr>
                </a:tc>
                <a:tc>
                  <a:txBody>
                    <a:bodyPr/>
                    <a:lstStyle/>
                    <a:p>
                      <a:r>
                        <a:rPr sz="1875" b="1">
                          <a:solidFill>
                            <a:srgbClr val="FFFFFF"/>
                          </a:solidFill>
                          <a:latin typeface="DejaVu Sans"/>
                          <a:ea typeface="DejaVu Sans"/>
                          <a:cs typeface="DejaVu Sans"/>
                        </a:rPr>
                        <a:t>Robot się zawiesza</a:t>
                      </a:r>
                    </a:p>
                  </a:txBody>
                  <a:tcPr>
                    <a:solidFill>
                      <a:srgbClr val="142F47"/>
                    </a:solidFill>
                  </a:tcPr>
                </a:tc>
                <a:extLst>
                  <a:ext uri="{0D108BD9-81ED-4DB2-BD59-A6C34878D82A}">
                    <a16:rowId xmlns:a16="http://schemas.microsoft.com/office/drawing/2014/main" val="10000"/>
                  </a:ext>
                </a:extLst>
              </a:tr>
              <a:tr h="752475">
                <a:tc>
                  <a:txBody>
                    <a:bodyPr/>
                    <a:lstStyle/>
                    <a:p>
                      <a:r>
                        <a:rPr sz="1800" b="0">
                          <a:solidFill>
                            <a:srgbClr val="142F47"/>
                          </a:solidFill>
                          <a:latin typeface="DejaVu Sans"/>
                          <a:ea typeface="DejaVu Sans"/>
                          <a:cs typeface="DejaVu Sans"/>
                        </a:rPr>
                        <a:t>Execution mode</a:t>
                      </a:r>
                    </a:p>
                  </a:txBody>
                  <a:tcPr>
                    <a:solidFill>
                      <a:srgbClr val="FFFFFF"/>
                    </a:solidFill>
                  </a:tcPr>
                </a:tc>
                <a:tc>
                  <a:txBody>
                    <a:bodyPr/>
                    <a:lstStyle/>
                    <a:p>
                      <a:r>
                        <a:rPr sz="1800" b="0">
                          <a:solidFill>
                            <a:srgbClr val="142F47"/>
                          </a:solidFill>
                          <a:latin typeface="DejaVu Sans"/>
                          <a:ea typeface="DejaVu Sans"/>
                          <a:cs typeface="DejaVu Sans"/>
                        </a:rPr>
                        <a:t>Wait for job completion</a:t>
                      </a:r>
                    </a:p>
                  </a:txBody>
                  <a:tcPr>
                    <a:solidFill>
                      <a:srgbClr val="FFFFFF"/>
                    </a:solidFill>
                  </a:tcPr>
                </a:tc>
                <a:tc>
                  <a:txBody>
                    <a:bodyPr/>
                    <a:lstStyle/>
                    <a:p>
                      <a:r>
                        <a:rPr sz="1800" b="0">
                          <a:solidFill>
                            <a:srgbClr val="142F47"/>
                          </a:solidFill>
                          <a:latin typeface="DejaVu Sans"/>
                          <a:ea typeface="DejaVu Sans"/>
                          <a:cs typeface="DejaVu Sans"/>
                        </a:rPr>
                        <a:t>Suspend execution until job completion</a:t>
                      </a:r>
                    </a:p>
                  </a:txBody>
                  <a:tcPr>
                    <a:solidFill>
                      <a:srgbClr val="FFFFFF"/>
                    </a:solidFill>
                  </a:tcPr>
                </a:tc>
                <a:extLst>
                  <a:ext uri="{0D108BD9-81ED-4DB2-BD59-A6C34878D82A}">
                    <a16:rowId xmlns:a16="http://schemas.microsoft.com/office/drawing/2014/main" val="10001"/>
                  </a:ext>
                </a:extLst>
              </a:tr>
              <a:tr h="752475">
                <a:tc>
                  <a:txBody>
                    <a:bodyPr/>
                    <a:lstStyle/>
                    <a:p>
                      <a:r>
                        <a:rPr sz="1800" b="0">
                          <a:solidFill>
                            <a:srgbClr val="142F47"/>
                          </a:solidFill>
                          <a:latin typeface="DejaVu Sans"/>
                          <a:ea typeface="DejaVu Sans"/>
                          <a:cs typeface="DejaVu Sans"/>
                        </a:rPr>
                        <a:t>Robot w tym czasie</a:t>
                      </a:r>
                    </a:p>
                  </a:txBody>
                  <a:tcPr>
                    <a:solidFill>
                      <a:srgbClr val="EEF1F1"/>
                    </a:solidFill>
                  </a:tcPr>
                </a:tc>
                <a:tc>
                  <a:txBody>
                    <a:bodyPr/>
                    <a:lstStyle/>
                    <a:p>
                      <a:r>
                        <a:rPr sz="1800" b="0">
                          <a:solidFill>
                            <a:srgbClr val="142F47"/>
                          </a:solidFill>
                          <a:latin typeface="DejaVu Sans"/>
                          <a:ea typeface="DejaVu Sans"/>
                          <a:cs typeface="DejaVu Sans"/>
                        </a:rPr>
                        <a:t>Zajęty, czeka na wynik</a:t>
                      </a:r>
                    </a:p>
                  </a:txBody>
                  <a:tcPr>
                    <a:solidFill>
                      <a:srgbClr val="EEF1F1"/>
                    </a:solidFill>
                  </a:tcPr>
                </a:tc>
                <a:tc>
                  <a:txBody>
                    <a:bodyPr/>
                    <a:lstStyle/>
                    <a:p>
                      <a:r>
                        <a:rPr sz="1800" b="0">
                          <a:solidFill>
                            <a:srgbClr val="142F47"/>
                          </a:solidFill>
                          <a:latin typeface="DejaVu Sans"/>
                          <a:ea typeface="DejaVu Sans"/>
                          <a:cs typeface="DejaVu Sans"/>
                        </a:rPr>
                        <a:t>Wolny; job ma stan Suspended</a:t>
                      </a:r>
                    </a:p>
                  </a:txBody>
                  <a:tcPr>
                    <a:solidFill>
                      <a:srgbClr val="EEF1F1"/>
                    </a:solidFill>
                  </a:tcPr>
                </a:tc>
                <a:extLst>
                  <a:ext uri="{0D108BD9-81ED-4DB2-BD59-A6C34878D82A}">
                    <a16:rowId xmlns:a16="http://schemas.microsoft.com/office/drawing/2014/main" val="10002"/>
                  </a:ext>
                </a:extLst>
              </a:tr>
              <a:tr h="752475">
                <a:tc>
                  <a:txBody>
                    <a:bodyPr/>
                    <a:lstStyle/>
                    <a:p>
                      <a:r>
                        <a:rPr sz="1800" b="0">
                          <a:solidFill>
                            <a:srgbClr val="142F47"/>
                          </a:solidFill>
                          <a:latin typeface="DejaVu Sans"/>
                          <a:ea typeface="DejaVu Sans"/>
                          <a:cs typeface="DejaVu Sans"/>
                        </a:rPr>
                        <a:t>Kiedy</a:t>
                      </a:r>
                    </a:p>
                  </a:txBody>
                  <a:tcPr>
                    <a:solidFill>
                      <a:srgbClr val="FFFFFF"/>
                    </a:solidFill>
                  </a:tcPr>
                </a:tc>
                <a:tc>
                  <a:txBody>
                    <a:bodyPr/>
                    <a:lstStyle/>
                    <a:p>
                      <a:r>
                        <a:rPr sz="1800" b="0">
                          <a:solidFill>
                            <a:srgbClr val="142F47"/>
                          </a:solidFill>
                          <a:latin typeface="DejaVu Sans"/>
                          <a:ea typeface="DejaVu Sans"/>
                          <a:cs typeface="DejaVu Sans"/>
                        </a:rPr>
                        <a:t>Agent odpowiada w sekundy</a:t>
                      </a:r>
                    </a:p>
                  </a:txBody>
                  <a:tcPr>
                    <a:solidFill>
                      <a:srgbClr val="FFFFFF"/>
                    </a:solidFill>
                  </a:tcPr>
                </a:tc>
                <a:tc>
                  <a:txBody>
                    <a:bodyPr/>
                    <a:lstStyle/>
                    <a:p>
                      <a:r>
                        <a:rPr sz="1800" b="0">
                          <a:solidFill>
                            <a:srgbClr val="142F47"/>
                          </a:solidFill>
                          <a:latin typeface="DejaVu Sans"/>
                          <a:ea typeface="DejaVu Sans"/>
                          <a:cs typeface="DejaVu Sans"/>
                        </a:rPr>
                        <a:t>Agent lub człowiek potrzebuje minut lub dni</a:t>
                      </a:r>
                    </a:p>
                  </a:txBody>
                  <a:tcPr>
                    <a:solidFill>
                      <a:srgbClr val="FFFFFF"/>
                    </a:solidFill>
                  </a:tcPr>
                </a:tc>
                <a:extLst>
                  <a:ext uri="{0D108BD9-81ED-4DB2-BD59-A6C34878D82A}">
                    <a16:rowId xmlns:a16="http://schemas.microsoft.com/office/drawing/2014/main" val="10003"/>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F47"/>
        </a:solidFill>
        <a:effectLst/>
      </p:bgPr>
    </p:bg>
    <p:spTree>
      <p:nvGrpSpPr>
        <p:cNvPr id="1" name=""/>
        <p:cNvGrpSpPr/>
        <p:nvPr/>
      </p:nvGrpSpPr>
      <p:grpSpPr/>
      <p:sp>
        <p:nvSpPr>
          <p:cNvPr id="7" name="Rectangle 6">
            <a:extLst>
              <a:ext uri="{FF2B5EF4-FFF2-40B4-BE49-F238E27FC236}">
                <a16:creationId xmlns:a16="http://schemas.microsoft.com/office/drawing/2014/main" id="{FB00B423-1AFA-431E-B763-ED6BA01C3490}"/>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18C0BB2-5C84-4D16-B219-A20BCF346FC8}"/>
              </a:ext>
            </a:extLst>
          </p:cNvPr>
          <p:cNvSpPr>
            <a:spLocks noGrp="1"/>
          </p:cNvSpPr>
          <p:nvPr/>
        </p:nvSpPr>
        <p:spPr>
          <a:xfrm>
            <a:off x="10953750" y="6286500"/>
            <a:ext cx="571500" cy="266700"/>
          </a:xfrm>
          <a:prstGeom prst="rect">
            <a:avLst/>
          </a:prstGeom>
          <a:noFill/>
          <a:ln w="0">
            <a:noFill/>
          </a:ln>
        </p:spPr>
        <p:txBody>
          <a:bodyPr>
            <a:noAutofit/>
          </a:bodyPr>
          <a:lstStyle/>
          <a:p>
            <a:pPr>
              <a:buNone/>
              <a:defRPr sz="1200" b="0">
                <a:solidFill>
                  <a:srgbClr val="A9BCCB"/>
                </a:solidFill>
                <a:latin typeface="DejaVu Sans"/>
                <a:ea typeface="DejaVu Sans"/>
                <a:cs typeface="DejaVu Sans"/>
              </a:defRPr>
            </a:pPr>
            <a:r>
              <a:rPr sz="1200" b="0">
                <a:solidFill>
                  <a:srgbClr val="A9BCCB"/>
                </a:solidFill>
                <a:latin typeface="DejaVu Sans"/>
                <a:ea typeface="DejaVu Sans"/>
                <a:cs typeface="DejaVu Sans"/>
              </a:rPr>
              <a:t>48</a:t>
            </a:r>
          </a:p>
        </p:txBody>
      </p:sp>
      <p:sp>
        <p:nvSpPr>
          <p:cNvPr id="3" name="Rectangle 2">
            <a:extLst>
              <a:ext uri="{FF2B5EF4-FFF2-40B4-BE49-F238E27FC236}">
                <a16:creationId xmlns:a16="http://schemas.microsoft.com/office/drawing/2014/main" id="{30A6D606-5CD9-416F-A630-96AC43C3D2E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FFFFFF"/>
                </a:solidFill>
                <a:latin typeface="DejaVu Sans"/>
                <a:ea typeface="DejaVu Sans"/>
                <a:cs typeface="DejaVu Sans"/>
              </a:defRPr>
            </a:pPr>
            <a:r>
              <a:rPr sz="3100" b="1">
                <a:solidFill>
                  <a:srgbClr val="FFFFFF"/>
                </a:solidFill>
                <a:latin typeface="DejaVu Sans"/>
                <a:ea typeface="DejaVu Sans"/>
                <a:cs typeface="DejaVu Sans"/>
              </a:rPr>
              <a:t>Ćwiczenie 6C. Robot wywołuje agenta</a:t>
            </a:r>
          </a:p>
        </p:txBody>
      </p:sp>
      <p:sp>
        <p:nvSpPr>
          <p:cNvPr id="4" name="Rectangle 3">
            <a:extLst>
              <a:ext uri="{FF2B5EF4-FFF2-40B4-BE49-F238E27FC236}">
                <a16:creationId xmlns:a16="http://schemas.microsoft.com/office/drawing/2014/main" id="{181C7147-861E-41E7-9A93-B60BCD54D85E}"/>
              </a:ext>
            </a:extLst>
          </p:cNvPr>
          <p:cNvSpPr>
            <a:spLocks noGrp="1"/>
          </p:cNvSpPr>
          <p:nvPr/>
        </p:nvSpPr>
        <p:spPr>
          <a:xfrm>
            <a:off x="723900" y="2266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Zbuduj Intake_Agent w Studio Desktop z aktywnością Run Job na SupportAgent.</a:t>
            </a:r>
          </a:p>
        </p:txBody>
      </p:sp>
      <p:sp>
        <p:nvSpPr>
          <p:cNvPr id="5" name="Rectangle 4">
            <a:extLst>
              <a:ext uri="{FF2B5EF4-FFF2-40B4-BE49-F238E27FC236}">
                <a16:creationId xmlns:a16="http://schemas.microsoft.com/office/drawing/2014/main" id="{94A1BB28-5F27-4879-98E2-403B6F0F7878}"/>
              </a:ext>
            </a:extLst>
          </p:cNvPr>
          <p:cNvSpPr>
            <a:spLocks noGrp="1"/>
          </p:cNvSpPr>
          <p:nvPr/>
        </p:nvSpPr>
        <p:spPr>
          <a:xfrm>
            <a:off x="723900" y="3409950"/>
            <a:ext cx="10429875" cy="1047750"/>
          </a:xfrm>
          <a:prstGeom prst="rect">
            <a:avLst/>
          </a:prstGeom>
          <a:noFill/>
          <a:ln w="0">
            <a:noFill/>
          </a:ln>
        </p:spPr>
        <p:txBody>
          <a:bodyPr>
            <a:noAutofit/>
          </a:bodyPr>
          <a:lstStyle/>
          <a:p>
            <a:pPr>
              <a:buNone/>
              <a:defRPr sz="2325" b="0">
                <a:solidFill>
                  <a:srgbClr val="FFFFFF"/>
                </a:solidFill>
                <a:latin typeface="DejaVu Sans"/>
                <a:ea typeface="DejaVu Sans"/>
                <a:cs typeface="DejaVu Sans"/>
              </a:defRPr>
            </a:pPr>
            <a:r>
              <a:rPr sz="2325" b="0">
                <a:solidFill>
                  <a:srgbClr val="FFFFFF"/>
                </a:solidFill>
                <a:latin typeface="DejaVu Sans"/>
                <a:ea typeface="DejaVu Sans"/>
                <a:cs typeface="DejaVu Sans"/>
              </a:rPr>
              <a:t>Wariant A: robot czeka (REQ-001). Wariant B: robot się zawiesza, job w Orchestratorze (REQ-004).</a:t>
            </a:r>
          </a:p>
        </p:txBody>
      </p:sp>
      <p:sp>
        <p:nvSpPr>
          <p:cNvPr id="6" name="Rectangle 5">
            <a:extLst>
              <a:ext uri="{FF2B5EF4-FFF2-40B4-BE49-F238E27FC236}">
                <a16:creationId xmlns:a16="http://schemas.microsoft.com/office/drawing/2014/main" id="{249CAC73-C829-4DC6-AC4D-03CADCEAAA70}"/>
              </a:ext>
            </a:extLst>
          </p:cNvPr>
          <p:cNvSpPr>
            <a:spLocks noGrp="1"/>
          </p:cNvSpPr>
          <p:nvPr/>
        </p:nvSpPr>
        <p:spPr>
          <a:xfrm>
            <a:off x="723900" y="4552950"/>
            <a:ext cx="10429875" cy="1047750"/>
          </a:xfrm>
          <a:prstGeom prst="rect">
            <a:avLst/>
          </a:prstGeom>
          <a:noFill/>
          <a:ln w="0">
            <a:noFill/>
          </a:ln>
        </p:spPr>
        <p:txBody>
          <a:bodyPr wrap="square">
            <a:normAutofit/>
          </a:bodyPr>
          <a:lstStyle/>
          <a:p>
            <a:pPr>
              <a:buNone/>
              <a:defRPr sz="2325" b="0">
                <a:solidFill>
                  <a:srgbClr val="6AD1CE"/>
                </a:solidFill>
                <a:latin typeface="DejaVu Sans"/>
                <a:ea typeface="DejaVu Sans"/>
                <a:cs typeface="DejaVu Sans"/>
              </a:defRPr>
            </a:pPr>
            <a:r>
              <a:rPr sz="2325" b="0">
                <a:solidFill>
                  <a:srgbClr val="6AD1CE"/>
                </a:solidFill>
                <a:latin typeface="DejaVu Sans"/>
              </a:rPr>
              <a:t>Gotowe po sprawdzeniu uruchomienia i, jeśli wspierane, wznowienia joba.</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42F47"/>
        </a:solidFill>
        <a:effectLst/>
      </p:bgPr>
    </p:bg>
    <p:spTree>
      <p:nvGrpSpPr>
        <p:cNvPr id="1" name=""/>
        <p:cNvGrpSpPr/>
        <p:nvPr/>
      </p:nvGrpSpPr>
      <p:grpSpPr/>
      <p:sp>
        <p:nvSpPr>
          <p:cNvPr id="7" name="Rectangle 6">
            <a:extLst>
              <a:ext uri="{FF2B5EF4-FFF2-40B4-BE49-F238E27FC236}">
                <a16:creationId xmlns:a16="http://schemas.microsoft.com/office/drawing/2014/main" id="{FB00B423-1AFA-431E-B763-ED6BA01C3490}"/>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6AD1CE"/>
                </a:solidFill>
                <a:latin typeface="DejaVu Sans"/>
                <a:ea typeface="DejaVu Sans"/>
                <a:cs typeface="DejaVu Sans"/>
              </a:defRPr>
            </a:pPr>
            <a:r>
              <a:rPr sz="1350" b="1">
                <a:solidFill>
                  <a:srgbClr val="6AD1CE"/>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718C0BB2-5C84-4D16-B219-A20BCF346FC8}"/>
              </a:ext>
            </a:extLst>
          </p:cNvPr>
          <p:cNvSpPr>
            <a:spLocks noGrp="1"/>
          </p:cNvSpPr>
          <p:nvPr/>
        </p:nvSpPr>
        <p:spPr>
          <a:xfrm>
            <a:off x="10953750" y="6286500"/>
            <a:ext cx="571500" cy="266700"/>
          </a:xfrm>
          <a:prstGeom prst="rect">
            <a:avLst/>
          </a:prstGeom>
          <a:noFill/>
          <a:ln w="0">
            <a:noFill/>
          </a:ln>
        </p:spPr>
        <p:txBody>
          <a:bodyPr wrap="square">
            <a:normAutofit/>
          </a:bodyPr>
          <a:lstStyle/>
          <a:p>
            <a:pPr>
              <a:buNone/>
              <a:defRPr sz="1200" b="0">
                <a:solidFill>
                  <a:srgbClr val="A9BCCB"/>
                </a:solidFill>
                <a:latin typeface="DejaVu Sans"/>
                <a:ea typeface="DejaVu Sans"/>
                <a:cs typeface="DejaVu Sans"/>
              </a:defRPr>
            </a:pPr>
            <a:r>
              <a:rPr sz="1200" b="0">
                <a:solidFill>
                  <a:srgbClr val="A9BCCB"/>
                </a:solidFill>
                <a:latin typeface="DejaVu Sans"/>
              </a:rPr>
              <a:t>49</a:t>
            </a:r>
          </a:p>
        </p:txBody>
      </p:sp>
      <p:sp>
        <p:nvSpPr>
          <p:cNvPr id="3" name="Rectangle 2">
            <a:extLst>
              <a:ext uri="{FF2B5EF4-FFF2-40B4-BE49-F238E27FC236}">
                <a16:creationId xmlns:a16="http://schemas.microsoft.com/office/drawing/2014/main" id="{30A6D606-5CD9-416F-A630-96AC43C3D2EE}"/>
              </a:ext>
            </a:extLst>
          </p:cNvPr>
          <p:cNvSpPr>
            <a:spLocks noGrp="1"/>
          </p:cNvSpPr>
          <p:nvPr/>
        </p:nvSpPr>
        <p:spPr>
          <a:xfrm>
            <a:off x="685800" y="933450"/>
            <a:ext cx="10763250" cy="1123950"/>
          </a:xfrm>
          <a:prstGeom prst="rect">
            <a:avLst/>
          </a:prstGeom>
          <a:noFill/>
          <a:ln w="0">
            <a:noFill/>
          </a:ln>
        </p:spPr>
        <p:txBody>
          <a:bodyPr wrap="square">
            <a:normAutofit/>
          </a:bodyPr>
          <a:lstStyle/>
          <a:p>
            <a:pPr>
              <a:buNone/>
              <a:defRPr sz="3300" b="1">
                <a:solidFill>
                  <a:srgbClr val="FFFFFF"/>
                </a:solidFill>
                <a:latin typeface="DejaVu Sans"/>
                <a:ea typeface="DejaVu Sans"/>
                <a:cs typeface="DejaVu Sans"/>
              </a:defRPr>
            </a:pPr>
            <a:r>
              <a:rPr sz="3100" b="1">
                <a:solidFill>
                  <a:srgbClr val="FFFFFF"/>
                </a:solidFill>
                <a:latin typeface="DejaVu Sans"/>
              </a:rPr>
              <a:t>Ćwiczenie 7. Agent konwersacyjny</a:t>
            </a:r>
          </a:p>
        </p:txBody>
      </p:sp>
      <p:sp>
        <p:nvSpPr>
          <p:cNvPr id="4" name="Rectangle 3">
            <a:extLst>
              <a:ext uri="{FF2B5EF4-FFF2-40B4-BE49-F238E27FC236}">
                <a16:creationId xmlns:a16="http://schemas.microsoft.com/office/drawing/2014/main" id="{181C7147-861E-41E7-9A93-B60BCD54D85E}"/>
              </a:ext>
            </a:extLst>
          </p:cNvPr>
          <p:cNvSpPr>
            <a:spLocks noGrp="1"/>
          </p:cNvSpPr>
          <p:nvPr/>
        </p:nvSpPr>
        <p:spPr>
          <a:xfrm>
            <a:off x="723900" y="2266950"/>
            <a:ext cx="10429875" cy="1047750"/>
          </a:xfrm>
          <a:prstGeom prst="rect">
            <a:avLst/>
          </a:prstGeom>
          <a:noFill/>
          <a:ln w="0">
            <a:noFill/>
          </a:ln>
        </p:spPr>
        <p:txBody>
          <a:bodyPr wrap="square">
            <a:normAutofit/>
          </a:bodyPr>
          <a:lstStyle/>
          <a:p>
            <a:pPr>
              <a:buNone/>
              <a:defRPr sz="2325" b="0">
                <a:solidFill>
                  <a:srgbClr val="FFFFFF"/>
                </a:solidFill>
                <a:latin typeface="DejaVu Sans"/>
                <a:ea typeface="DejaVu Sans"/>
                <a:cs typeface="DejaVu Sans"/>
              </a:defRPr>
            </a:pPr>
            <a:r>
              <a:rPr sz="2325" b="0">
                <a:solidFill>
                  <a:srgbClr val="FFFFFF"/>
                </a:solidFill>
                <a:latin typeface="DejaVu Sans"/>
              </a:rPr>
              <a:t>Przećwicz rozmowę: brak danych → pytanie doprecyzowujące → użycie narzędzia.</a:t>
            </a:r>
          </a:p>
        </p:txBody>
      </p:sp>
      <p:sp>
        <p:nvSpPr>
          <p:cNvPr id="5" name="Rectangle 4">
            <a:extLst>
              <a:ext uri="{FF2B5EF4-FFF2-40B4-BE49-F238E27FC236}">
                <a16:creationId xmlns:a16="http://schemas.microsoft.com/office/drawing/2014/main" id="{94A1BB28-5F27-4879-98E2-403B6F0F7878}"/>
              </a:ext>
            </a:extLst>
          </p:cNvPr>
          <p:cNvSpPr>
            <a:spLocks noGrp="1"/>
          </p:cNvSpPr>
          <p:nvPr/>
        </p:nvSpPr>
        <p:spPr>
          <a:xfrm>
            <a:off x="723900" y="3409950"/>
            <a:ext cx="10429875" cy="1047750"/>
          </a:xfrm>
          <a:prstGeom prst="rect">
            <a:avLst/>
          </a:prstGeom>
          <a:noFill/>
          <a:ln w="0">
            <a:noFill/>
          </a:ln>
        </p:spPr>
        <p:txBody>
          <a:bodyPr wrap="square">
            <a:normAutofit/>
          </a:bodyPr>
          <a:lstStyle/>
          <a:p>
            <a:pPr>
              <a:buNone/>
              <a:defRPr sz="2325" b="0">
                <a:solidFill>
                  <a:srgbClr val="FFFFFF"/>
                </a:solidFill>
                <a:latin typeface="DejaVu Sans"/>
                <a:ea typeface="DejaVu Sans"/>
                <a:cs typeface="DejaVu Sans"/>
              </a:defRPr>
            </a:pPr>
            <a:r>
              <a:rPr sz="2325" b="0">
                <a:solidFill>
                  <a:srgbClr val="FFFFFF"/>
                </a:solidFill>
                <a:latin typeface="DejaVu Sans"/>
              </a:rPr>
              <a:t>Połącz odpowiedź z wiedzą i narzędziem FindKnownIssue; sprawdź trace.</a:t>
            </a:r>
          </a:p>
        </p:txBody>
      </p:sp>
      <p:sp>
        <p:nvSpPr>
          <p:cNvPr id="6" name="Rectangle 5">
            <a:extLst>
              <a:ext uri="{FF2B5EF4-FFF2-40B4-BE49-F238E27FC236}">
                <a16:creationId xmlns:a16="http://schemas.microsoft.com/office/drawing/2014/main" id="{249CAC73-C829-4DC6-AC4D-03CADCEAAA70}"/>
              </a:ext>
            </a:extLst>
          </p:cNvPr>
          <p:cNvSpPr>
            <a:spLocks noGrp="1"/>
          </p:cNvSpPr>
          <p:nvPr/>
        </p:nvSpPr>
        <p:spPr>
          <a:xfrm>
            <a:off x="723900" y="4552950"/>
            <a:ext cx="10429875" cy="1047750"/>
          </a:xfrm>
          <a:prstGeom prst="rect">
            <a:avLst/>
          </a:prstGeom>
          <a:noFill/>
          <a:ln w="0">
            <a:noFill/>
          </a:ln>
        </p:spPr>
        <p:txBody>
          <a:bodyPr wrap="square">
            <a:normAutofit/>
          </a:bodyPr>
          <a:lstStyle/>
          <a:p>
            <a:pPr>
              <a:buNone/>
              <a:defRPr sz="2325" b="0">
                <a:solidFill>
                  <a:srgbClr val="6AD1CE"/>
                </a:solidFill>
                <a:latin typeface="DejaVu Sans"/>
                <a:ea typeface="DejaVu Sans"/>
                <a:cs typeface="DejaVu Sans"/>
              </a:defRPr>
            </a:pPr>
            <a:r>
              <a:rPr sz="2325" b="0">
                <a:solidFill>
                  <a:srgbClr val="6AD1CE"/>
                </a:solidFill>
                <a:latin typeface="DejaVu Sans"/>
              </a:rPr>
              <a:t>Gotowe, gdy agent doprecyzowuje problem, używa właściwego narzędzia i nie wymyśla danych.</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61904" y="2240280"/>
            <a:ext cx="475488" cy="329184"/>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0" y="2286000"/>
            <a:ext cx="411480" cy="182880"/>
          </a:xfrm>
          <a:prstGeom prst="rect">
            <a:avLst/>
          </a:prstGeom>
          <a:noFill/>
        </p:spPr>
        <p:txBody>
          <a:bodyPr wrap="square" lIns="45720" tIns="32004" rIns="45720" bIns="0">
            <a:spAutoFit/>
          </a:bodyPr>
          <a:lstStyle/>
          <a:p>
            <a:pPr algn="ctr">
              <a:spcAft>
                <a:spcPts val="0"/>
              </a:spcAft>
              <a:defRPr sz="850" b="1">
                <a:solidFill>
                  <a:srgbClr val="087F8C"/>
                </a:solidFill>
                <a:latin typeface="Aptos"/>
              </a:defRPr>
            </a:pPr>
            <a:r>
              <a:t>LAB</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8E8B6-141F-48BC-8EB9-61D7B9FE368F}"/>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F41EE90A-9647-411D-869A-DCA3FB157646}"/>
              </a:ext>
            </a:extLst>
          </p:cNvPr>
          <p:cNvSpPr>
            <a:spLocks noGrp="1"/>
          </p:cNvSpPr>
          <p:nvPr/>
        </p:nvSpPr>
        <p:spPr>
          <a:xfrm>
            <a:off x="10953750" y="6286500"/>
            <a:ext cx="571500" cy="266700"/>
          </a:xfrm>
          <a:prstGeom prst="rect">
            <a:avLst/>
          </a:prstGeom>
          <a:noFill/>
          <a:ln w="0">
            <a:noFill/>
          </a:ln>
        </p:spPr>
        <p:txBody>
          <a:bodyPr wrap="square">
            <a:normAutofit/>
          </a:bodyPr>
          <a:lstStyle/>
          <a:p>
            <a:pPr>
              <a:buNone/>
              <a:defRPr sz="1200" b="0">
                <a:solidFill>
                  <a:srgbClr val="536878"/>
                </a:solidFill>
                <a:latin typeface="DejaVu Sans"/>
                <a:ea typeface="DejaVu Sans"/>
                <a:cs typeface="DejaVu Sans"/>
              </a:defRPr>
            </a:pPr>
            <a:r>
              <a:rPr sz="1200" b="0">
                <a:solidFill>
                  <a:srgbClr val="536878"/>
                </a:solidFill>
                <a:latin typeface="DejaVu Sans"/>
              </a:rPr>
              <a:t>50</a:t>
            </a:r>
          </a:p>
        </p:txBody>
      </p:sp>
      <p:sp>
        <p:nvSpPr>
          <p:cNvPr id="3" name="Rectangle 2">
            <a:extLst>
              <a:ext uri="{FF2B5EF4-FFF2-40B4-BE49-F238E27FC236}">
                <a16:creationId xmlns:a16="http://schemas.microsoft.com/office/drawing/2014/main" id="{A32467F6-A5BD-4847-B2D9-7ABBDA9C202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Od prototypu do produkcji</a:t>
            </a:r>
          </a:p>
        </p:txBody>
      </p:sp>
      <p:graphicFrame>
        <p:nvGraphicFramePr>
          <p:cNvPr id="10" name="Table 9"/>
          <p:cNvGraphicFramePr/>
          <p:nvPr/>
        </p:nvGraphicFramePr>
        <p:xfrm>
          <a:off x="723900" y="2333625"/>
          <a:ext cx="10668000" cy="3766374"/>
        </p:xfrm>
        <a:graphic>
          <a:graphicData uri="http://schemas.openxmlformats.org/drawingml/2006/table">
            <a:tbl>
              <a:tblPr/>
              <a:tblGrid>
                <a:gridCol w="4267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627729">
                <a:tc>
                  <a:txBody>
                    <a:bodyPr/>
                    <a:lstStyle/>
                    <a:p>
                      <a:r>
                        <a:rPr sz="1875" b="1">
                          <a:solidFill>
                            <a:srgbClr val="FFFFFF"/>
                          </a:solidFill>
                          <a:latin typeface="DejaVu Sans"/>
                          <a:ea typeface="DejaVu Sans"/>
                          <a:cs typeface="DejaVu Sans"/>
                        </a:rPr>
                        <a:t>Prototyp warsztatowy</a:t>
                      </a:r>
                    </a:p>
                  </a:txBody>
                  <a:tcPr>
                    <a:solidFill>
                      <a:srgbClr val="142F47"/>
                    </a:solidFill>
                  </a:tcPr>
                </a:tc>
                <a:tc>
                  <a:txBody>
                    <a:bodyPr/>
                    <a:lstStyle/>
                    <a:p>
                      <a:r>
                        <a:rPr sz="1875" b="1">
                          <a:solidFill>
                            <a:srgbClr val="FFFFFF"/>
                          </a:solidFill>
                          <a:latin typeface="DejaVu Sans"/>
                          <a:ea typeface="DejaVu Sans"/>
                          <a:cs typeface="DejaVu Sans"/>
                        </a:rPr>
                        <a:t>Wdrożenie produkcyjne</a:t>
                      </a:r>
                    </a:p>
                  </a:txBody>
                  <a:tcPr>
                    <a:solidFill>
                      <a:srgbClr val="142F47"/>
                    </a:solidFill>
                  </a:tcPr>
                </a:tc>
                <a:extLst>
                  <a:ext uri="{0D108BD9-81ED-4DB2-BD59-A6C34878D82A}">
                    <a16:rowId xmlns:a16="http://schemas.microsoft.com/office/drawing/2014/main" val="10000"/>
                  </a:ext>
                </a:extLst>
              </a:tr>
              <a:tr h="627729">
                <a:tc>
                  <a:txBody>
                    <a:bodyPr/>
                    <a:lstStyle/>
                    <a:p>
                      <a:r>
                        <a:rPr sz="1800" b="0">
                          <a:solidFill>
                            <a:srgbClr val="142F47"/>
                          </a:solidFill>
                          <a:latin typeface="DejaVu Sans"/>
                          <a:ea typeface="DejaVu Sans"/>
                          <a:cs typeface="DejaVu Sans"/>
                        </a:rPr>
                        <a:t>Administrator własnej organizacji</a:t>
                      </a:r>
                    </a:p>
                  </a:txBody>
                  <a:tcPr>
                    <a:solidFill>
                      <a:srgbClr val="FFFFFF"/>
                    </a:solidFill>
                  </a:tcPr>
                </a:tc>
                <a:tc>
                  <a:txBody>
                    <a:bodyPr/>
                    <a:lstStyle/>
                    <a:p>
                      <a:r>
                        <a:rPr sz="1800" b="0">
                          <a:solidFill>
                            <a:srgbClr val="142F47"/>
                          </a:solidFill>
                          <a:latin typeface="DejaVu Sans"/>
                          <a:ea typeface="DejaVu Sans"/>
                          <a:cs typeface="DejaVu Sans"/>
                        </a:rPr>
                        <a:t>Zarządzane tożsamości, role, rozdział obowiązków</a:t>
                      </a:r>
                    </a:p>
                  </a:txBody>
                  <a:tcPr>
                    <a:solidFill>
                      <a:srgbClr val="FFFFFF"/>
                    </a:solidFill>
                  </a:tcPr>
                </a:tc>
                <a:extLst>
                  <a:ext uri="{0D108BD9-81ED-4DB2-BD59-A6C34878D82A}">
                    <a16:rowId xmlns:a16="http://schemas.microsoft.com/office/drawing/2014/main" val="10001"/>
                  </a:ext>
                </a:extLst>
              </a:tr>
              <a:tr h="627729">
                <a:tc>
                  <a:txBody>
                    <a:bodyPr/>
                    <a:lstStyle/>
                    <a:p>
                      <a:r>
                        <a:rPr sz="1800" b="0">
                          <a:solidFill>
                            <a:srgbClr val="142F47"/>
                          </a:solidFill>
                          <a:latin typeface="DejaVu Sans"/>
                          <a:ea typeface="DejaVu Sans"/>
                          <a:cs typeface="DejaVu Sans"/>
                        </a:rPr>
                        <a:t>Dane syntetyczne</a:t>
                      </a:r>
                    </a:p>
                  </a:txBody>
                  <a:tcPr>
                    <a:solidFill>
                      <a:srgbClr val="EEF1F1"/>
                    </a:solidFill>
                  </a:tcPr>
                </a:tc>
                <a:tc>
                  <a:txBody>
                    <a:bodyPr/>
                    <a:lstStyle/>
                    <a:p>
                      <a:r>
                        <a:rPr sz="1800" b="0">
                          <a:solidFill>
                            <a:srgbClr val="142F47"/>
                          </a:solidFill>
                          <a:latin typeface="DejaVu Sans"/>
                          <a:ea typeface="DejaVu Sans"/>
                          <a:cs typeface="DejaVu Sans"/>
                        </a:rPr>
                        <a:t>Klasyfikacja danych, zatwierdzone przetwarzanie</a:t>
                      </a:r>
                    </a:p>
                  </a:txBody>
                  <a:tcPr>
                    <a:solidFill>
                      <a:srgbClr val="EEF1F1"/>
                    </a:solidFill>
                  </a:tcPr>
                </a:tc>
                <a:extLst>
                  <a:ext uri="{0D108BD9-81ED-4DB2-BD59-A6C34878D82A}">
                    <a16:rowId xmlns:a16="http://schemas.microsoft.com/office/drawing/2014/main" val="10002"/>
                  </a:ext>
                </a:extLst>
              </a:tr>
              <a:tr h="627729">
                <a:tc>
                  <a:txBody>
                    <a:bodyPr/>
                    <a:lstStyle/>
                    <a:p>
                      <a:r>
                        <a:rPr sz="1800" b="0">
                          <a:solidFill>
                            <a:srgbClr val="142F47"/>
                          </a:solidFill>
                          <a:latin typeface="DejaVu Sans"/>
                          <a:ea typeface="DejaVu Sans"/>
                          <a:cs typeface="DejaVu Sans"/>
                        </a:rPr>
                        <a:t>Ręczny przegląd trace</a:t>
                      </a:r>
                    </a:p>
                  </a:txBody>
                  <a:tcPr>
                    <a:solidFill>
                      <a:srgbClr val="FFFFFF"/>
                    </a:solidFill>
                  </a:tcPr>
                </a:tc>
                <a:tc>
                  <a:txBody>
                    <a:bodyPr/>
                    <a:lstStyle/>
                    <a:p>
                      <a:r>
                        <a:rPr sz="1800" b="0">
                          <a:solidFill>
                            <a:srgbClr val="142F47"/>
                          </a:solidFill>
                          <a:latin typeface="DejaVu Sans"/>
                          <a:ea typeface="DejaVu Sans"/>
                          <a:cs typeface="DejaVu Sans"/>
                        </a:rPr>
                        <a:t>Monitoring, alerty, retencja audytu</a:t>
                      </a:r>
                    </a:p>
                  </a:txBody>
                  <a:tcPr>
                    <a:solidFill>
                      <a:srgbClr val="FFFFFF"/>
                    </a:solidFill>
                  </a:tcPr>
                </a:tc>
                <a:extLst>
                  <a:ext uri="{0D108BD9-81ED-4DB2-BD59-A6C34878D82A}">
                    <a16:rowId xmlns:a16="http://schemas.microsoft.com/office/drawing/2014/main" val="10003"/>
                  </a:ext>
                </a:extLst>
              </a:tr>
              <a:tr h="627729">
                <a:tc>
                  <a:txBody>
                    <a:bodyPr/>
                    <a:lstStyle/>
                    <a:p>
                      <a:r>
                        <a:rPr sz="1800" b="0">
                          <a:solidFill>
                            <a:srgbClr val="142F47"/>
                          </a:solidFill>
                          <a:latin typeface="DejaVu Sans"/>
                          <a:ea typeface="DejaVu Sans"/>
                          <a:cs typeface="DejaVu Sans"/>
                        </a:rPr>
                        <a:t>18 przypadków testowych</a:t>
                      </a:r>
                    </a:p>
                  </a:txBody>
                  <a:tcPr>
                    <a:solidFill>
                      <a:srgbClr val="FFFFFF"/>
                    </a:solidFill>
                  </a:tcPr>
                </a:tc>
                <a:tc>
                  <a:txBody>
                    <a:bodyPr/>
                    <a:lstStyle/>
                    <a:p>
                      <a:r>
                        <a:rPr sz="1800" b="0">
                          <a:solidFill>
                            <a:srgbClr val="142F47"/>
                          </a:solidFill>
                          <a:latin typeface="DejaVu Sans"/>
                          <a:ea typeface="DejaVu Sans"/>
                          <a:cs typeface="DejaVu Sans"/>
                        </a:rPr>
                        <a:t>Zestawy regresyjne, progi jakości, kontrola zmian</a:t>
                      </a:r>
                    </a:p>
                  </a:txBody>
                  <a:tcPr>
                    <a:solidFill>
                      <a:srgbClr val="FFFFFF"/>
                    </a:solidFill>
                  </a:tcPr>
                </a:tc>
                <a:extLst>
                  <a:ext uri="{0D108BD9-81ED-4DB2-BD59-A6C34878D82A}">
                    <a16:rowId xmlns:a16="http://schemas.microsoft.com/office/drawing/2014/main" val="10004"/>
                  </a:ext>
                </a:extLst>
              </a:tr>
              <a:tr h="627729">
                <a:tc>
                  <a:txBody>
                    <a:bodyPr/>
                    <a:lstStyle/>
                    <a:p>
                      <a:r>
                        <a:rPr sz="1800" b="0">
                          <a:solidFill>
                            <a:srgbClr val="142F47"/>
                          </a:solidFill>
                          <a:latin typeface="DejaVu Sans"/>
                          <a:ea typeface="DejaVu Sans"/>
                          <a:cs typeface="DejaVu Sans"/>
                        </a:rPr>
                        <a:t>Mocki narzędzi</a:t>
                      </a:r>
                    </a:p>
                  </a:txBody>
                  <a:tcPr>
                    <a:solidFill>
                      <a:srgbClr val="FFFFFF"/>
                    </a:solidFill>
                  </a:tcPr>
                </a:tc>
                <a:tc>
                  <a:txBody>
                    <a:bodyPr/>
                    <a:lstStyle/>
                    <a:p>
                      <a:r>
                        <a:rPr sz="1800" b="0">
                          <a:solidFill>
                            <a:srgbClr val="142F47"/>
                          </a:solidFill>
                          <a:latin typeface="DejaVu Sans"/>
                          <a:ea typeface="DejaVu Sans"/>
                          <a:cs typeface="DejaVu Sans"/>
                        </a:rPr>
                        <a:t>Najmniejsze uprawnienia, poświadczenia, środowiska</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Rectangle 10"/>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CAB585-734C-4AD8-A3E8-7A8D932BE471}"/>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BCA8332C-2E23-40A6-B847-BB2E608A1BDD}"/>
              </a:ext>
            </a:extLst>
          </p:cNvPr>
          <p:cNvSpPr>
            <a:spLocks noGrp="1"/>
          </p:cNvSpPr>
          <p:nvPr/>
        </p:nvSpPr>
        <p:spPr>
          <a:xfrm>
            <a:off x="10953750" y="6286500"/>
            <a:ext cx="571500" cy="266700"/>
          </a:xfrm>
          <a:prstGeom prst="rect">
            <a:avLst/>
          </a:prstGeom>
          <a:noFill/>
          <a:ln w="0">
            <a:noFill/>
          </a:ln>
        </p:spPr>
        <p:txBody>
          <a:bodyPr wrap="square">
            <a:normAutofit/>
          </a:bodyPr>
          <a:lstStyle/>
          <a:p>
            <a:pPr>
              <a:buNone/>
              <a:defRPr sz="1200" b="0">
                <a:solidFill>
                  <a:srgbClr val="536878"/>
                </a:solidFill>
                <a:latin typeface="DejaVu Sans"/>
                <a:ea typeface="DejaVu Sans"/>
                <a:cs typeface="DejaVu Sans"/>
              </a:defRPr>
            </a:pPr>
            <a:r>
              <a:rPr sz="1200" b="0">
                <a:solidFill>
                  <a:srgbClr val="536878"/>
                </a:solidFill>
                <a:latin typeface="DejaVu Sans"/>
              </a:rPr>
              <a:t>51</a:t>
            </a:r>
          </a:p>
        </p:txBody>
      </p:sp>
      <p:sp>
        <p:nvSpPr>
          <p:cNvPr id="3" name="Rectangle 2">
            <a:extLst>
              <a:ext uri="{FF2B5EF4-FFF2-40B4-BE49-F238E27FC236}">
                <a16:creationId xmlns:a16="http://schemas.microsoft.com/office/drawing/2014/main" id="{5ECDB89C-99BB-4360-BFFF-DE2790C37DD7}"/>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Pomysł na pilotaż w Państwa organizacji</a:t>
            </a:r>
          </a:p>
        </p:txBody>
      </p:sp>
      <p:sp>
        <p:nvSpPr>
          <p:cNvPr id="4" name="Rectangle 3">
            <a:extLst>
              <a:ext uri="{FF2B5EF4-FFF2-40B4-BE49-F238E27FC236}">
                <a16:creationId xmlns:a16="http://schemas.microsoft.com/office/drawing/2014/main" id="{5C397589-3E7B-4C99-9ACF-FD85B203217D}"/>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 krok dziś wymaga czytania i interpretacji tekstu?</a:t>
            </a:r>
          </a:p>
        </p:txBody>
      </p:sp>
      <p:sp>
        <p:nvSpPr>
          <p:cNvPr id="5" name="Rectangle 4">
            <a:extLst>
              <a:ext uri="{FF2B5EF4-FFF2-40B4-BE49-F238E27FC236}">
                <a16:creationId xmlns:a16="http://schemas.microsoft.com/office/drawing/2014/main" id="{9D902BFB-940E-4DB7-957C-F01076840351}"/>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Jakie źródła i narzędzia są potrzebne?</a:t>
            </a:r>
          </a:p>
        </p:txBody>
      </p:sp>
      <p:sp>
        <p:nvSpPr>
          <p:cNvPr id="6" name="Rectangle 5">
            <a:extLst>
              <a:ext uri="{FF2B5EF4-FFF2-40B4-BE49-F238E27FC236}">
                <a16:creationId xmlns:a16="http://schemas.microsoft.com/office/drawing/2014/main" id="{3B692396-04F6-491A-B5FC-3B7E696459E0}"/>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Która decyzja wymaga zatwierdzenia?</a:t>
            </a:r>
          </a:p>
        </p:txBody>
      </p:sp>
      <p:sp>
        <p:nvSpPr>
          <p:cNvPr id="7" name="Rectangle 6">
            <a:extLst>
              <a:ext uri="{FF2B5EF4-FFF2-40B4-BE49-F238E27FC236}">
                <a16:creationId xmlns:a16="http://schemas.microsoft.com/office/drawing/2014/main" id="{BAEE7D13-BDFE-433A-AB29-8F186BB98F1A}"/>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Jak zmierzymy jakość i czas obsługi względem obecnego procesu?</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50645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2CCEC2-8C35-40AC-800B-94C547E508D8}"/>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DZIEŃ 2</a:t>
            </a:r>
          </a:p>
        </p:txBody>
      </p:sp>
      <p:sp>
        <p:nvSpPr>
          <p:cNvPr id="2" name="Rectangle 1">
            <a:extLst>
              <a:ext uri="{FF2B5EF4-FFF2-40B4-BE49-F238E27FC236}">
                <a16:creationId xmlns:a16="http://schemas.microsoft.com/office/drawing/2014/main" id="{8378774D-6F20-4491-86CB-4BD1158884BC}"/>
              </a:ext>
            </a:extLst>
          </p:cNvPr>
          <p:cNvSpPr>
            <a:spLocks noGrp="1"/>
          </p:cNvSpPr>
          <p:nvPr/>
        </p:nvSpPr>
        <p:spPr>
          <a:xfrm>
            <a:off x="10953750" y="6286500"/>
            <a:ext cx="571500" cy="266700"/>
          </a:xfrm>
          <a:prstGeom prst="rect">
            <a:avLst/>
          </a:prstGeom>
          <a:noFill/>
          <a:ln w="0">
            <a:noFill/>
          </a:ln>
        </p:spPr>
        <p:txBody>
          <a:bodyPr wrap="square">
            <a:normAutofit/>
          </a:bodyPr>
          <a:lstStyle/>
          <a:p>
            <a:pPr>
              <a:buNone/>
              <a:defRPr sz="1200" b="0">
                <a:solidFill>
                  <a:srgbClr val="536878"/>
                </a:solidFill>
                <a:latin typeface="DejaVu Sans"/>
                <a:ea typeface="DejaVu Sans"/>
                <a:cs typeface="DejaVu Sans"/>
              </a:defRPr>
            </a:pPr>
            <a:r>
              <a:rPr sz="1200" b="0">
                <a:solidFill>
                  <a:srgbClr val="536878"/>
                </a:solidFill>
                <a:latin typeface="DejaVu Sans"/>
              </a:rPr>
              <a:t>52</a:t>
            </a:r>
          </a:p>
        </p:txBody>
      </p:sp>
      <p:sp>
        <p:nvSpPr>
          <p:cNvPr id="3" name="Rectangle 2">
            <a:extLst>
              <a:ext uri="{FF2B5EF4-FFF2-40B4-BE49-F238E27FC236}">
                <a16:creationId xmlns:a16="http://schemas.microsoft.com/office/drawing/2014/main" id="{1DCDA99D-BF74-41F3-9B80-0520773231CE}"/>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Najważniejsze decyzje projektowe</a:t>
            </a:r>
          </a:p>
        </p:txBody>
      </p:sp>
      <p:sp>
        <p:nvSpPr>
          <p:cNvPr id="4" name="Rectangle 3">
            <a:extLst>
              <a:ext uri="{FF2B5EF4-FFF2-40B4-BE49-F238E27FC236}">
                <a16:creationId xmlns:a16="http://schemas.microsoft.com/office/drawing/2014/main" id="{F084D345-2762-4B8F-B0A0-A36969691014}"/>
              </a:ext>
            </a:extLst>
          </p:cNvPr>
          <p:cNvSpPr>
            <a:spLocks noGrp="1"/>
          </p:cNvSpPr>
          <p:nvPr/>
        </p:nvSpPr>
        <p:spPr>
          <a:xfrm>
            <a:off x="723900" y="22669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Zakres AI wynika z problemu biznesowego.</a:t>
            </a:r>
          </a:p>
        </p:txBody>
      </p:sp>
      <p:sp>
        <p:nvSpPr>
          <p:cNvPr id="5" name="Rectangle 4">
            <a:extLst>
              <a:ext uri="{FF2B5EF4-FFF2-40B4-BE49-F238E27FC236}">
                <a16:creationId xmlns:a16="http://schemas.microsoft.com/office/drawing/2014/main" id="{EEBEC015-DDE2-48AD-8FA3-35169429E2E3}"/>
              </a:ext>
            </a:extLst>
          </p:cNvPr>
          <p:cNvSpPr>
            <a:spLocks noGrp="1"/>
          </p:cNvSpPr>
          <p:nvPr/>
        </p:nvSpPr>
        <p:spPr>
          <a:xfrm>
            <a:off x="723900" y="31623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Kontrakty danych i narzędzi ułatwiają kontrolę.</a:t>
            </a:r>
          </a:p>
        </p:txBody>
      </p:sp>
      <p:sp>
        <p:nvSpPr>
          <p:cNvPr id="6" name="Rectangle 5">
            <a:extLst>
              <a:ext uri="{FF2B5EF4-FFF2-40B4-BE49-F238E27FC236}">
                <a16:creationId xmlns:a16="http://schemas.microsoft.com/office/drawing/2014/main" id="{F0CAAF96-547E-4171-B024-91FD8C3149AB}"/>
              </a:ext>
            </a:extLst>
          </p:cNvPr>
          <p:cNvSpPr>
            <a:spLocks noGrp="1"/>
          </p:cNvSpPr>
          <p:nvPr/>
        </p:nvSpPr>
        <p:spPr>
          <a:xfrm>
            <a:off x="723900" y="405765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Wiedza wymaga sprawdzenia źródeł, a jakość pomiaru.</a:t>
            </a:r>
          </a:p>
        </p:txBody>
      </p:sp>
      <p:sp>
        <p:nvSpPr>
          <p:cNvPr id="7" name="Rectangle 6">
            <a:extLst>
              <a:ext uri="{FF2B5EF4-FFF2-40B4-BE49-F238E27FC236}">
                <a16:creationId xmlns:a16="http://schemas.microsoft.com/office/drawing/2014/main" id="{425EA7FA-A02F-4E72-A1D0-440E3F61259D}"/>
              </a:ext>
            </a:extLst>
          </p:cNvPr>
          <p:cNvSpPr>
            <a:spLocks noGrp="1"/>
          </p:cNvSpPr>
          <p:nvPr/>
        </p:nvSpPr>
        <p:spPr>
          <a:xfrm>
            <a:off x="723900" y="4953000"/>
            <a:ext cx="10429875" cy="8001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Proces określa, co agent może zrobić samodzielnie.</a:t>
            </a:r>
          </a:p>
        </p:txBody>
      </p:sp>
      <p:sp>
        <p:nvSpPr>
          <p:cNvPr id="9" name="Rectangle 8"/>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09172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F2F0D0-40C1-4C9B-81F1-35CE796448E4}"/>
              </a:ext>
            </a:extLst>
          </p:cNvPr>
          <p:cNvSpPr>
            <a:spLocks noGrp="1"/>
          </p:cNvSpPr>
          <p:nvPr/>
        </p:nvSpPr>
        <p:spPr>
          <a:xfrm>
            <a:off x="685800" y="333375"/>
            <a:ext cx="7620000" cy="285750"/>
          </a:xfrm>
          <a:prstGeom prst="rect">
            <a:avLst/>
          </a:prstGeom>
          <a:noFill/>
          <a:ln w="0">
            <a:noFill/>
          </a:ln>
        </p:spPr>
        <p:txBody>
          <a:bodyPr>
            <a:noAutofit/>
          </a:bodyPr>
          <a:lstStyle/>
          <a:p>
            <a:pPr>
              <a:buNone/>
              <a:defRPr sz="1350" b="1">
                <a:solidFill>
                  <a:srgbClr val="087F8C"/>
                </a:solidFill>
                <a:latin typeface="DejaVu Sans"/>
                <a:ea typeface="DejaVu Sans"/>
                <a:cs typeface="DejaVu Sans"/>
              </a:defRPr>
            </a:pPr>
            <a:r>
              <a:rPr sz="1350" b="1">
                <a:solidFill>
                  <a:srgbClr val="087F8C"/>
                </a:solidFill>
                <a:latin typeface="DejaVu Sans"/>
                <a:ea typeface="DejaVu Sans"/>
                <a:cs typeface="DejaVu Sans"/>
              </a:rPr>
              <a:t>MATERIAŁY</a:t>
            </a:r>
          </a:p>
        </p:txBody>
      </p:sp>
      <p:sp>
        <p:nvSpPr>
          <p:cNvPr id="2" name="Rectangle 1">
            <a:extLst>
              <a:ext uri="{FF2B5EF4-FFF2-40B4-BE49-F238E27FC236}">
                <a16:creationId xmlns:a16="http://schemas.microsoft.com/office/drawing/2014/main" id="{2C21F224-FFDB-4C6B-91C8-24CAE07369A1}"/>
              </a:ext>
            </a:extLst>
          </p:cNvPr>
          <p:cNvSpPr>
            <a:spLocks noGrp="1"/>
          </p:cNvSpPr>
          <p:nvPr/>
        </p:nvSpPr>
        <p:spPr>
          <a:xfrm>
            <a:off x="10953750" y="6286500"/>
            <a:ext cx="571500" cy="266700"/>
          </a:xfrm>
          <a:prstGeom prst="rect">
            <a:avLst/>
          </a:prstGeom>
          <a:noFill/>
          <a:ln w="0">
            <a:noFill/>
          </a:ln>
        </p:spPr>
        <p:txBody>
          <a:bodyPr wrap="square">
            <a:normAutofit/>
          </a:bodyPr>
          <a:lstStyle/>
          <a:p>
            <a:pPr>
              <a:buNone/>
              <a:defRPr sz="1200" b="0">
                <a:solidFill>
                  <a:srgbClr val="536878"/>
                </a:solidFill>
                <a:latin typeface="DejaVu Sans"/>
                <a:ea typeface="DejaVu Sans"/>
                <a:cs typeface="DejaVu Sans"/>
              </a:defRPr>
            </a:pPr>
            <a:r>
              <a:rPr sz="1200" b="0">
                <a:solidFill>
                  <a:srgbClr val="536878"/>
                </a:solidFill>
                <a:latin typeface="DejaVu Sans"/>
              </a:rPr>
              <a:t>53</a:t>
            </a:r>
          </a:p>
        </p:txBody>
      </p:sp>
      <p:sp>
        <p:nvSpPr>
          <p:cNvPr id="3" name="Rectangle 2">
            <a:extLst>
              <a:ext uri="{FF2B5EF4-FFF2-40B4-BE49-F238E27FC236}">
                <a16:creationId xmlns:a16="http://schemas.microsoft.com/office/drawing/2014/main" id="{FA1C60D6-0158-43E6-BFE8-F5C50CA83BFD}"/>
              </a:ext>
            </a:extLst>
          </p:cNvPr>
          <p:cNvSpPr>
            <a:spLocks noGrp="1"/>
          </p:cNvSpPr>
          <p:nvPr/>
        </p:nvSpPr>
        <p:spPr>
          <a:xfrm>
            <a:off x="685800" y="933450"/>
            <a:ext cx="10763250" cy="1123950"/>
          </a:xfrm>
          <a:prstGeom prst="rect">
            <a:avLst/>
          </a:prstGeom>
          <a:noFill/>
          <a:ln w="0">
            <a:noFill/>
          </a:ln>
        </p:spPr>
        <p:txBody>
          <a:bodyPr>
            <a:noAutofit/>
          </a:bodyPr>
          <a:lstStyle/>
          <a:p>
            <a:pPr>
              <a:buNone/>
              <a:defRPr sz="3300" b="1">
                <a:solidFill>
                  <a:srgbClr val="142F47"/>
                </a:solidFill>
                <a:latin typeface="DejaVu Sans"/>
                <a:ea typeface="DejaVu Sans"/>
                <a:cs typeface="DejaVu Sans"/>
              </a:defRPr>
            </a:pPr>
            <a:r>
              <a:rPr sz="3100" b="1">
                <a:solidFill>
                  <a:srgbClr val="142F47"/>
                </a:solidFill>
                <a:latin typeface="DejaVu Sans"/>
                <a:ea typeface="DejaVu Sans"/>
                <a:cs typeface="DejaVu Sans"/>
              </a:rPr>
              <a:t>Materiały do dalszej pracy</a:t>
            </a:r>
          </a:p>
        </p:txBody>
      </p:sp>
      <p:sp>
        <p:nvSpPr>
          <p:cNvPr id="4" name="Rectangle 3">
            <a:extLst>
              <a:ext uri="{FF2B5EF4-FFF2-40B4-BE49-F238E27FC236}">
                <a16:creationId xmlns:a16="http://schemas.microsoft.com/office/drawing/2014/main" id="{0787F2CF-4270-4763-AE35-CC4C7E2E2969}"/>
              </a:ext>
            </a:extLst>
          </p:cNvPr>
          <p:cNvSpPr>
            <a:spLocks noGrp="1"/>
          </p:cNvSpPr>
          <p:nvPr/>
        </p:nvSpPr>
        <p:spPr>
          <a:xfrm>
            <a:off x="723900" y="22669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Instrukcja warsztatowa: kroki, punkty kontrolne i diagnostyka.</a:t>
            </a:r>
          </a:p>
        </p:txBody>
      </p:sp>
      <p:sp>
        <p:nvSpPr>
          <p:cNvPr id="5" name="Rectangle 4">
            <a:extLst>
              <a:ext uri="{FF2B5EF4-FFF2-40B4-BE49-F238E27FC236}">
                <a16:creationId xmlns:a16="http://schemas.microsoft.com/office/drawing/2014/main" id="{59228D87-F28F-4CAD-AC01-76A77EC7DA50}"/>
              </a:ext>
            </a:extLst>
          </p:cNvPr>
          <p:cNvSpPr>
            <a:spLocks noGrp="1"/>
          </p:cNvSpPr>
          <p:nvPr/>
        </p:nvSpPr>
        <p:spPr>
          <a:xfrm>
            <a:off x="723900" y="3390900"/>
            <a:ext cx="10429875" cy="1028700"/>
          </a:xfrm>
          <a:prstGeom prst="rect">
            <a:avLst/>
          </a:prstGeom>
          <a:noFill/>
          <a:ln w="0">
            <a:noFill/>
          </a:ln>
        </p:spPr>
        <p:txBody>
          <a:bodyPr wrap="square">
            <a:normAutofit/>
          </a:bodyPr>
          <a:lstStyle/>
          <a:p>
            <a:pPr>
              <a:buNone/>
              <a:defRPr sz="2250" b="0">
                <a:solidFill>
                  <a:srgbClr val="142F47"/>
                </a:solidFill>
                <a:latin typeface="DejaVu Sans"/>
                <a:ea typeface="DejaVu Sans"/>
                <a:cs typeface="DejaVu Sans"/>
              </a:defRPr>
            </a:pPr>
            <a:r>
              <a:rPr sz="2250" b="0">
                <a:solidFill>
                  <a:srgbClr val="142F47"/>
                </a:solidFill>
                <a:latin typeface="DejaVu Sans"/>
              </a:rPr>
              <a:t>Załączniki: przykłady promptów, dane Northstar, prompty, wiedza i testy.</a:t>
            </a:r>
          </a:p>
        </p:txBody>
      </p:sp>
      <p:sp>
        <p:nvSpPr>
          <p:cNvPr id="6" name="Rectangle 5">
            <a:extLst>
              <a:ext uri="{FF2B5EF4-FFF2-40B4-BE49-F238E27FC236}">
                <a16:creationId xmlns:a16="http://schemas.microsoft.com/office/drawing/2014/main" id="{A92772A7-C934-4BCC-948A-0322F98C9910}"/>
              </a:ext>
            </a:extLst>
          </p:cNvPr>
          <p:cNvSpPr>
            <a:spLocks noGrp="1"/>
          </p:cNvSpPr>
          <p:nvPr/>
        </p:nvSpPr>
        <p:spPr>
          <a:xfrm>
            <a:off x="723900" y="4514850"/>
            <a:ext cx="10429875" cy="1028700"/>
          </a:xfrm>
          <a:prstGeom prst="rect">
            <a:avLst/>
          </a:prstGeom>
          <a:noFill/>
          <a:ln w="0">
            <a:noFill/>
          </a:ln>
        </p:spPr>
        <p:txBody>
          <a:bodyPr>
            <a:noAutofit/>
          </a:bodyPr>
          <a:lstStyle/>
          <a:p>
            <a:pPr>
              <a:buNone/>
              <a:defRPr sz="2250" b="0">
                <a:solidFill>
                  <a:srgbClr val="142F47"/>
                </a:solidFill>
                <a:latin typeface="DejaVu Sans"/>
                <a:ea typeface="DejaVu Sans"/>
                <a:cs typeface="DejaVu Sans"/>
              </a:defRPr>
            </a:pPr>
            <a:r>
              <a:rPr sz="2250" b="0">
                <a:solidFill>
                  <a:srgbClr val="142F47"/>
                </a:solidFill>
                <a:latin typeface="DejaVu Sans"/>
                <a:ea typeface="DejaVu Sans"/>
                <a:cs typeface="DejaVu Sans"/>
              </a:rPr>
              <a:t>Dokumentacja UiPath: GenAI Activities, Agents i Maestro.</a:t>
            </a:r>
          </a:p>
        </p:txBody>
      </p:sp>
      <p:sp>
        <p:nvSpPr>
          <p:cNvPr id="8" name="Rectangle 7"/>
          <p:cNvSpPr/>
          <p:nvPr/>
        </p:nvSpPr>
        <p:spPr>
          <a:xfrm>
            <a:off x="0" y="0"/>
            <a:ext cx="96012"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 y="2089404"/>
            <a:ext cx="603504" cy="4754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6249924"/>
            <a:ext cx="10058400" cy="12801"/>
          </a:xfrm>
          <a:prstGeom prst="rect">
            <a:avLst/>
          </a:prstGeom>
          <a:solidFill>
            <a:srgbClr val="D9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00232" y="365760"/>
            <a:ext cx="384048"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384280" y="1024128"/>
            <a:ext cx="82296" cy="676656"/>
          </a:xfrm>
          <a:prstGeom prst="roundRect">
            <a:avLst/>
          </a:prstGeom>
          <a:solidFill>
            <a:srgbClr val="EE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545894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7495</Words>
  <Application>Microsoft Office PowerPoint</Application>
  <DocSecurity>0</DocSecurity>
  <PresentationFormat>Widescreen</PresentationFormat>
  <Paragraphs>615</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Kamil Miśko</cp:lastModifiedBy>
  <cp:revision>1</cp:revision>
  <dcterms:created xsi:type="dcterms:W3CDTF">2026-10-07T18:42:31Z</dcterms:created>
  <dcterms:modified xsi:type="dcterms:W3CDTF">2026-10-09T12:17:14Z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a7ed875-cb67-40d7-9ea6-a804b08b1148_Enabled">
    <vt:lpwstr>true</vt:lpwstr>
  </property>
  <property fmtid="{D5CDD505-2E9C-101B-9397-08002B2CF9AE}" pid="3" name="MSIP_Label_9a7ed875-cb67-40d7-9ea6-a804b08b1148_SetDate">
    <vt:lpwstr>2026-10-08T13:00:00Z</vt:lpwstr>
  </property>
  <property fmtid="{D5CDD505-2E9C-101B-9397-08002B2CF9AE}" pid="4" name="MSIP_Label_9a7ed875-cb67-40d7-9ea6-a804b08b1148_Method">
    <vt:lpwstr>Privileged</vt:lpwstr>
  </property>
  <property fmtid="{D5CDD505-2E9C-101B-9397-08002B2CF9AE}" pid="5" name="MSIP_Label_9a7ed875-cb67-40d7-9ea6-a804b08b1148_Name">
    <vt:lpwstr>9a7ed875-cb67-40d7-9ea6-a804b08b1148</vt:lpwstr>
  </property>
  <property fmtid="{D5CDD505-2E9C-101B-9397-08002B2CF9AE}" pid="6" name="MSIP_Label_9a7ed875-cb67-40d7-9ea6-a804b08b1148_SiteId">
    <vt:lpwstr>473672ba-cd07-4371-a2ae-788b4c61840e</vt:lpwstr>
  </property>
  <property fmtid="{D5CDD505-2E9C-101B-9397-08002B2CF9AE}" pid="7" name="MSIP_Label_9a7ed875-cb67-40d7-9ea6-a804b08b1148_ActionId">
    <vt:lpwstr>f80bbf35-fe5c-493e-a6db-44cea0ac2c58</vt:lpwstr>
  </property>
  <property fmtid="{D5CDD505-2E9C-101B-9397-08002B2CF9AE}" pid="8" name="MSIP_Label_9a7ed875-cb67-40d7-9ea6-a804b08b1148_ContentBits">
    <vt:lpwstr>0</vt:lpwstr>
  </property>
  <property fmtid="{D5CDD505-2E9C-101B-9397-08002B2CF9AE}" pid="9" name="MSIP_Label_9a7ed875-cb67-40d7-9ea6-a804b08b1148_Tag">
    <vt:lpwstr>10, 0, 1, 1</vt:lpwstr>
  </property>
</Properties>
</file>